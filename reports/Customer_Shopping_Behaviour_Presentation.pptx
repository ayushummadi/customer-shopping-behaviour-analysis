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8.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Average purchase</c:v>
                </c:pt>
              </c:strCache>
            </c:strRef>
          </c:tx>
          <c:spPr>
            <a:solidFill>
              <a:srgbClr val="12239E"/>
            </a:solidFill>
            <a:effectLst/>
          </c:spPr>
          <c:invertIfNegative val="0"/>
          <c:dLbls>
            <c:numFmt formatCode="$0.00" sourceLinked="0"/>
            <c:txPr>
              <a:bodyPr/>
              <a:lstStyle/>
              <a:p>
                <a:pPr>
                  <a:defRPr b="0" i="0" strike="noStrike" sz="1100" u="none">
                    <a:solidFill>
                      <a:srgbClr val="2B2B2B"/>
                    </a:solidFill>
                    <a:latin typeface="Calibri"/>
                  </a:defRPr>
                </a:pPr>
              </a:p>
            </c:txPr>
            <c:showLegendKey val="0"/>
            <c:showVal val="1"/>
            <c:showCatName val="0"/>
            <c:showSerName val="0"/>
            <c:showPercent val="0"/>
            <c:showBubbleSize val="0"/>
            <c:showLeaderLines val="0"/>
          </c:dLbls>
          <c:dPt>
            <c:idx val="0"/>
            <c:invertIfNegative val="0"/>
            <c:bubble3D val="0"/>
            <c:spPr>
              <a:solidFill>
                <a:srgbClr val="12239E"/>
              </a:solidFill>
              <a:effectLst/>
            </c:spPr>
          </c:dPt>
          <c:dPt>
            <c:idx val="1"/>
            <c:invertIfNegative val="0"/>
            <c:bubble3D val="0"/>
            <c:spPr>
              <a:solidFill>
                <a:srgbClr val="12239E"/>
              </a:solidFill>
              <a:effectLst/>
            </c:spPr>
          </c:dPt>
          <c:dPt>
            <c:idx val="2"/>
            <c:invertIfNegative val="0"/>
            <c:bubble3D val="0"/>
            <c:spPr>
              <a:solidFill>
                <a:srgbClr val="893395"/>
              </a:solidFill>
              <a:effectLst/>
            </c:spPr>
          </c:dPt>
          <c:dPt>
            <c:idx val="3"/>
            <c:invertIfNegative val="0"/>
            <c:bubble3D val="0"/>
            <c:spPr>
              <a:solidFill>
                <a:srgbClr val="893395"/>
              </a:solidFill>
              <a:effectLst/>
            </c:spPr>
          </c:dPt>
          <c:dPt>
            <c:idx val="4"/>
            <c:invertIfNegative val="0"/>
            <c:bubble3D val="0"/>
            <c:spPr>
              <a:solidFill>
                <a:srgbClr val="893395"/>
              </a:solidFill>
              <a:effectLst/>
            </c:spPr>
          </c:dPt>
          <c:dPt>
            <c:idx val="5"/>
            <c:invertIfNegative val="0"/>
            <c:bubble3D val="0"/>
            <c:spPr>
              <a:solidFill>
                <a:srgbClr val="893395"/>
              </a:solidFill>
              <a:effectLst/>
            </c:spPr>
          </c:dPt>
          <c:dPt>
            <c:idx val="6"/>
            <c:invertIfNegative val="0"/>
            <c:bubble3D val="0"/>
            <c:spPr>
              <a:solidFill>
                <a:srgbClr val="E669B9"/>
              </a:solidFill>
              <a:effectLst/>
            </c:spPr>
          </c:dPt>
          <c:dPt>
            <c:idx val="7"/>
            <c:invertIfNegative val="0"/>
            <c:bubble3D val="0"/>
            <c:spPr>
              <a:solidFill>
                <a:srgbClr val="E669B9"/>
              </a:solidFill>
              <a:effectLst/>
            </c:spPr>
          </c:dPt>
          <c:dPt>
            <c:idx val="8"/>
            <c:invertIfNegative val="0"/>
            <c:bubble3D val="0"/>
            <c:spPr>
              <a:solidFill>
                <a:srgbClr val="E669B9"/>
              </a:solidFill>
              <a:effectLst/>
            </c:spPr>
          </c:dPt>
          <c:dPt>
            <c:idx val="9"/>
            <c:invertIfNegative val="0"/>
            <c:bubble3D val="0"/>
            <c:spPr>
              <a:solidFill>
                <a:srgbClr val="E669B9"/>
              </a:solidFill>
              <a:effectLst/>
            </c:spPr>
          </c:dPt>
          <c:dPt>
            <c:idx val="10"/>
            <c:invertIfNegative val="0"/>
            <c:bubble3D val="0"/>
            <c:spPr>
              <a:solidFill>
                <a:srgbClr val="12239E"/>
              </a:solidFill>
              <a:effectLst/>
            </c:spPr>
          </c:dPt>
          <c:dPt>
            <c:idx val="11"/>
            <c:invertIfNegative val="0"/>
            <c:bubble3D val="0"/>
            <c:spPr>
              <a:solidFill>
                <a:srgbClr val="12239E"/>
              </a:solidFill>
              <a:effectLst/>
            </c:spPr>
          </c:dPt>
          <c:cat>
            <c:multiLvlStrRef>
              <c:f>Sheet1!$A$2:$A$13</c:f>
              <c:multiLvlStrCache>
                <c:ptCount val="12"/>
                <c:lvl>
                  <c:pt idx="0">
                    <c:v>Male</c:v>
                  </c:pt>
                  <c:pt idx="1">
                    <c:v>Female</c:v>
                  </c:pt>
                  <c:pt idx="2">
                    <c:v>Young Adult</c:v>
                  </c:pt>
                  <c:pt idx="3">
                    <c:v>Adult</c:v>
                  </c:pt>
                  <c:pt idx="4">
                    <c:v>Middle-aged</c:v>
                  </c:pt>
                  <c:pt idx="5">
                    <c:v>Senior</c:v>
                  </c:pt>
                  <c:pt idx="6">
                    <c:v>Clothing</c:v>
                  </c:pt>
                  <c:pt idx="7">
                    <c:v>Accessories</c:v>
                  </c:pt>
                  <c:pt idx="8">
                    <c:v>Footwear</c:v>
                  </c:pt>
                  <c:pt idx="9">
                    <c:v>Outerwear</c:v>
                  </c:pt>
                  <c:pt idx="10">
                    <c:v>Subscribers</c:v>
                  </c:pt>
                  <c:pt idx="11">
                    <c:v>Non-subscribers</c:v>
                  </c:pt>
                </c:lvl>
              </c:multiLvlStrCache>
            </c:multiLvlStrRef>
          </c:cat>
          <c:val>
            <c:numRef>
              <c:f>Sheet1!$B$2:$B$13</c:f>
              <c:numCache>
                <c:formatCode>General</c:formatCode>
                <c:ptCount val="12"/>
                <c:pt idx="0">
                  <c:v>59.54</c:v>
                </c:pt>
                <c:pt idx="1">
                  <c:v>60.25</c:v>
                </c:pt>
                <c:pt idx="2">
                  <c:v>60.45</c:v>
                </c:pt>
                <c:pt idx="3">
                  <c:v>59.42</c:v>
                </c:pt>
                <c:pt idx="4">
                  <c:v>60.04</c:v>
                </c:pt>
                <c:pt idx="5">
                  <c:v>59.07</c:v>
                </c:pt>
                <c:pt idx="6">
                  <c:v>60.03</c:v>
                </c:pt>
                <c:pt idx="7">
                  <c:v>59.84</c:v>
                </c:pt>
                <c:pt idx="8">
                  <c:v>60.26</c:v>
                </c:pt>
                <c:pt idx="9">
                  <c:v>57.17</c:v>
                </c:pt>
                <c:pt idx="10">
                  <c:v>59.49</c:v>
                </c:pt>
                <c:pt idx="11">
                  <c:v>59.87</c:v>
                </c:pt>
              </c:numCache>
            </c:numRef>
          </c:val>
        </c:ser>
        <c:dLbls>
          <c:numFmt formatCode="$0.00" sourceLinked="0"/>
          <c:txPr>
            <a:bodyPr/>
            <a:lstStyle/>
            <a:p>
              <a:pPr>
                <a:defRPr b="0" i="0" strike="noStrike" sz="1100" u="none">
                  <a:solidFill>
                    <a:srgbClr val="2B2B2B"/>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E6DDE8"/>
            </a:solidFill>
            <a:prstDash val="solid"/>
            <a:round/>
          </a:ln>
        </c:spPr>
        <c:txPr>
          <a:bodyPr/>
          <a:lstStyle/>
          <a:p>
            <a:pPr>
              <a:defRPr sz="1100" b="0" i="0" u="none" strike="noStrike">
                <a:solidFill>
                  <a:srgbClr val="2B2B2B"/>
                </a:solidFill>
                <a:latin typeface="Calibri"/>
              </a:defRPr>
            </a:pPr>
            <a:endParaRPr lang="en-US"/>
          </a:p>
        </c:txPr>
        <c:crossAx val="2094734552"/>
        <c:crosses val="autoZero"/>
        <c:auto val="1"/>
        <c:lblAlgn val="ctr"/>
        <c:noMultiLvlLbl val="1"/>
      </c:catAx>
      <c:valAx>
        <c:axId val="2094734552"/>
        <c:scaling>
          <c:orientation val="minMax"/>
          <c:max val="70"/>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B6B6B"/>
                </a:solidFill>
                <a:latin typeface="Calibr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Revenue</c:v>
                </c:pt>
              </c:strCache>
            </c:strRef>
          </c:tx>
          <c:spPr>
            <a:solidFill>
              <a:schemeClr val="accent1"/>
            </a:solidFill>
            <a:ln w="9525" cap="flat">
              <a:solidFill>
                <a:srgbClr val="F9F9F9"/>
              </a:solidFill>
              <a:prstDash val="solid"/>
              <a:round/>
            </a:ln>
            <a:effectLst/>
          </c:spPr>
          <c:dPt>
            <c:idx val="0"/>
            <c:bubble3D val="0"/>
            <c:spPr>
              <a:solidFill>
                <a:srgbClr val="12239E"/>
              </a:solidFill>
              <a:effectLst/>
            </c:spPr>
          </c:dPt>
          <c:dPt>
            <c:idx val="1"/>
            <c:bubble3D val="0"/>
            <c:spPr>
              <a:solidFill>
                <a:srgbClr val="E669B9"/>
              </a:solidFill>
              <a:effectLst/>
            </c:spPr>
          </c:dPt>
          <c:dLbls>
            <c:dLbl>
              <c:idx val="0"/>
              <c:numFmt formatCode="0%" sourceLinked="0"/>
              <c:spPr/>
              <c:txPr>
                <a:bodyPr/>
                <a:lstStyle/>
                <a:p>
                  <a:pPr>
                    <a:defRPr sz="1300" b="1" i="0" u="none" strike="noStrike">
                      <a:solidFill>
                        <a:srgbClr val="FFFFFF"/>
                      </a:solidFill>
                      <a:latin typeface="Calibri"/>
                    </a:defRPr>
                  </a:pPr>
                </a:p>
              </c:txPr>
              <c:showLegendKey val="0"/>
              <c:showVal val="0"/>
              <c:showCatName val="0"/>
              <c:showSerName val="0"/>
              <c:showPercent val="1"/>
              <c:showBubbleSize val="0"/>
            </c:dLbl>
            <c:dLbl>
              <c:idx val="1"/>
              <c:numFmt formatCode="0%" sourceLinked="0"/>
              <c:spPr/>
              <c:txPr>
                <a:bodyPr/>
                <a:lstStyle/>
                <a:p>
                  <a:pPr>
                    <a:defRPr sz="1300" b="1" i="0" u="none" strike="noStrike">
                      <a:solidFill>
                        <a:srgbClr val="FFFFFF"/>
                      </a:solidFill>
                      <a:latin typeface="Calibri"/>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Male</c:v>
                </c:pt>
                <c:pt idx="1">
                  <c:v>Female</c:v>
                </c:pt>
              </c:strCache>
            </c:strRef>
          </c:cat>
          <c:val>
            <c:numRef>
              <c:f>Sheet1!$B$2:$B$3</c:f>
              <c:numCache>
                <c:ptCount val="2"/>
                <c:pt idx="0">
                  <c:v>157890</c:v>
                </c:pt>
                <c:pt idx="1">
                  <c:v>75191</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c:v>
                </c:pt>
              </c:strCache>
            </c:strRef>
          </c:tx>
          <c:spPr>
            <a:solidFill>
              <a:srgbClr val="893395"/>
            </a:solidFill>
            <a:effectLst/>
          </c:spPr>
          <c:invertIfNegative val="0"/>
          <c:dLbls>
            <c:numFmt formatCode="$#,##0" sourceLinked="0"/>
            <c:txPr>
              <a:bodyPr/>
              <a:lstStyle/>
              <a:p>
                <a:pPr>
                  <a:defRPr b="0" i="0" strike="noStrike" sz="1100" u="none">
                    <a:solidFill>
                      <a:srgbClr val="2B2B2B"/>
                    </a:solidFill>
                    <a:latin typeface="Calibri"/>
                  </a:defRPr>
                </a:pPr>
              </a:p>
            </c:txPr>
            <c:showLegendKey val="0"/>
            <c:showVal val="1"/>
            <c:showCatName val="0"/>
            <c:showSerName val="0"/>
            <c:showPercent val="0"/>
            <c:showBubbleSize val="0"/>
            <c:showLeaderLines val="0"/>
          </c:dLbls>
          <c:dPt>
            <c:idx val="0"/>
            <c:invertIfNegative val="0"/>
            <c:bubble3D val="0"/>
            <c:spPr>
              <a:solidFill>
                <a:srgbClr val="893395"/>
              </a:solidFill>
              <a:effectLst/>
            </c:spPr>
          </c:dPt>
          <c:dPt>
            <c:idx val="1"/>
            <c:invertIfNegative val="0"/>
            <c:bubble3D val="0"/>
            <c:spPr>
              <a:solidFill>
                <a:srgbClr val="893395"/>
              </a:solidFill>
              <a:effectLst/>
            </c:spPr>
          </c:dPt>
          <c:dPt>
            <c:idx val="2"/>
            <c:invertIfNegative val="0"/>
            <c:bubble3D val="0"/>
            <c:spPr>
              <a:solidFill>
                <a:srgbClr val="893395"/>
              </a:solidFill>
              <a:effectLst/>
            </c:spPr>
          </c:dPt>
          <c:dPt>
            <c:idx val="3"/>
            <c:invertIfNegative val="0"/>
            <c:bubble3D val="0"/>
            <c:spPr>
              <a:solidFill>
                <a:srgbClr val="893395"/>
              </a:solidFill>
              <a:effectLst/>
            </c:spPr>
          </c:dPt>
          <c:cat>
            <c:multiLvlStrRef>
              <c:f>Sheet1!$A$2:$A$5</c:f>
              <c:multiLvlStrCache>
                <c:ptCount val="4"/>
                <c:lvl>
                  <c:pt idx="0">
                    <c:v>Young Adult (18–31)</c:v>
                  </c:pt>
                  <c:pt idx="1">
                    <c:v>Adult (32–44)</c:v>
                  </c:pt>
                  <c:pt idx="2">
                    <c:v>Middle-aged (45–57)</c:v>
                  </c:pt>
                  <c:pt idx="3">
                    <c:v>Senior (58–70)</c:v>
                  </c:pt>
                </c:lvl>
              </c:multiLvlStrCache>
            </c:multiLvlStrRef>
          </c:cat>
          <c:val>
            <c:numRef>
              <c:f>Sheet1!$B$2:$B$5</c:f>
              <c:numCache>
                <c:formatCode>General</c:formatCode>
                <c:ptCount val="4"/>
                <c:pt idx="0">
                  <c:v>62143</c:v>
                </c:pt>
                <c:pt idx="1">
                  <c:v>55978</c:v>
                </c:pt>
                <c:pt idx="2">
                  <c:v>59197</c:v>
                </c:pt>
                <c:pt idx="3">
                  <c:v>55763</c:v>
                </c:pt>
              </c:numCache>
            </c:numRef>
          </c:val>
        </c:ser>
        <c:dLbls>
          <c:numFmt formatCode="$#,##0" sourceLinked="0"/>
          <c:txPr>
            <a:bodyPr/>
            <a:lstStyle/>
            <a:p>
              <a:pPr>
                <a:defRPr b="0" i="0" strike="noStrike" sz="1100" u="none">
                  <a:solidFill>
                    <a:srgbClr val="2B2B2B"/>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E6DDE8"/>
            </a:solidFill>
            <a:prstDash val="solid"/>
            <a:round/>
          </a:ln>
        </c:spPr>
        <c:txPr>
          <a:bodyPr/>
          <a:lstStyle/>
          <a:p>
            <a:pPr>
              <a:defRPr sz="1200" b="0" i="0" u="none" strike="noStrike">
                <a:solidFill>
                  <a:srgbClr val="2B2B2B"/>
                </a:solidFill>
                <a:latin typeface="Calibri"/>
              </a:defRPr>
            </a:pPr>
            <a:endParaRPr lang="en-US"/>
          </a:p>
        </c:txPr>
        <c:crossAx val="2094734552"/>
        <c:crosses val="autoZero"/>
        <c:auto val="1"/>
        <c:lblAlgn val="ctr"/>
        <c:noMultiLvlLbl val="1"/>
      </c:catAx>
      <c:valAx>
        <c:axId val="2094734552"/>
        <c:scaling>
          <c:orientation val="minMax"/>
          <c:max val="75000"/>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B6B6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12239E"/>
            </a:solidFill>
            <a:effectLst/>
          </c:spPr>
          <c:invertIfNegative val="0"/>
          <c:dLbls>
            <c:numFmt formatCode="$#,##0" sourceLinked="0"/>
            <c:txPr>
              <a:bodyPr/>
              <a:lstStyle/>
              <a:p>
                <a:pPr>
                  <a:defRPr b="0" i="0" strike="noStrike" sz="1100" u="none">
                    <a:solidFill>
                      <a:srgbClr val="2B2B2B"/>
                    </a:solidFill>
                    <a:latin typeface="Calibri"/>
                  </a:defRPr>
                </a:pPr>
              </a:p>
            </c:txPr>
            <c:showLegendKey val="0"/>
            <c:showVal val="1"/>
            <c:showCatName val="0"/>
            <c:showSerName val="0"/>
            <c:showPercent val="0"/>
            <c:showBubbleSize val="0"/>
            <c:showLeaderLines val="0"/>
          </c:dLbls>
          <c:dPt>
            <c:idx val="0"/>
            <c:invertIfNegative val="0"/>
            <c:bubble3D val="0"/>
            <c:spPr>
              <a:solidFill>
                <a:srgbClr val="12239E"/>
              </a:solidFill>
              <a:effectLst/>
            </c:spPr>
          </c:dPt>
          <c:dPt>
            <c:idx val="1"/>
            <c:invertIfNegative val="0"/>
            <c:bubble3D val="0"/>
            <c:spPr>
              <a:solidFill>
                <a:srgbClr val="12239E"/>
              </a:solidFill>
              <a:effectLst/>
            </c:spPr>
          </c:dPt>
          <c:dPt>
            <c:idx val="2"/>
            <c:invertIfNegative val="0"/>
            <c:bubble3D val="0"/>
            <c:spPr>
              <a:solidFill>
                <a:srgbClr val="F6C9E6"/>
              </a:solidFill>
              <a:effectLst/>
            </c:spPr>
          </c:dPt>
          <c:dPt>
            <c:idx val="3"/>
            <c:invertIfNegative val="0"/>
            <c:bubble3D val="0"/>
            <c:spPr>
              <a:solidFill>
                <a:srgbClr val="F6C9E6"/>
              </a:solidFill>
              <a:effectLst/>
            </c:spPr>
          </c:dPt>
          <c:cat>
            <c:multiLvlStrRef>
              <c:f>Sheet1!$A$2:$A$5</c:f>
              <c:multiLvlStrCache>
                <c:ptCount val="4"/>
                <c:lvl>
                  <c:pt idx="0">
                    <c:v>Clothing</c:v>
                  </c:pt>
                  <c:pt idx="1">
                    <c:v>Accessories</c:v>
                  </c:pt>
                  <c:pt idx="2">
                    <c:v>Footwear</c:v>
                  </c:pt>
                  <c:pt idx="3">
                    <c:v>Outerwear</c:v>
                  </c:pt>
                </c:lvl>
              </c:multiLvlStrCache>
            </c:multiLvlStrRef>
          </c:cat>
          <c:val>
            <c:numRef>
              <c:f>Sheet1!$B$2:$B$5</c:f>
              <c:numCache>
                <c:formatCode>General</c:formatCode>
                <c:ptCount val="4"/>
                <c:pt idx="0">
                  <c:v>104264</c:v>
                </c:pt>
                <c:pt idx="1">
                  <c:v>74200</c:v>
                </c:pt>
                <c:pt idx="2">
                  <c:v>36093</c:v>
                </c:pt>
                <c:pt idx="3">
                  <c:v>18524</c:v>
                </c:pt>
              </c:numCache>
            </c:numRef>
          </c:val>
        </c:ser>
        <c:dLbls>
          <c:numFmt formatCode="$#,##0" sourceLinked="0"/>
          <c:txPr>
            <a:bodyPr/>
            <a:lstStyle/>
            <a:p>
              <a:pPr>
                <a:defRPr b="0" i="0" strike="noStrike" sz="1100" u="none">
                  <a:solidFill>
                    <a:srgbClr val="2B2B2B"/>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6DDE8"/>
            </a:solidFill>
            <a:prstDash val="solid"/>
            <a:round/>
          </a:ln>
        </c:spPr>
        <c:txPr>
          <a:bodyPr/>
          <a:lstStyle/>
          <a:p>
            <a:pPr>
              <a:defRPr sz="1200" b="0" i="0" u="none" strike="noStrike">
                <a:solidFill>
                  <a:srgbClr val="2B2B2B"/>
                </a:solidFill>
                <a:latin typeface="Calibri"/>
              </a:defRPr>
            </a:pPr>
            <a:endParaRPr lang="en-US"/>
          </a:p>
        </c:txPr>
        <c:crossAx val="2094734552"/>
        <c:crosses val="autoZero"/>
        <c:auto val="1"/>
        <c:lblAlgn val="ctr"/>
        <c:noMultiLvlLbl val="1"/>
      </c:catAx>
      <c:valAx>
        <c:axId val="2094734552"/>
        <c:scaling>
          <c:orientation val="minMax"/>
          <c:max val="120000"/>
          <c:min val="0"/>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6B6B6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Customers</c:v>
                </c:pt>
              </c:strCache>
            </c:strRef>
          </c:tx>
          <c:spPr>
            <a:solidFill>
              <a:srgbClr val="893395"/>
            </a:solidFill>
            <a:effectLst/>
          </c:spPr>
          <c:invertIfNegative val="0"/>
          <c:dLbls>
            <c:numFmt formatCode="#,##0" sourceLinked="0"/>
            <c:txPr>
              <a:bodyPr/>
              <a:lstStyle/>
              <a:p>
                <a:pPr>
                  <a:defRPr b="0" i="0" strike="noStrike" sz="1400" u="none">
                    <a:solidFill>
                      <a:srgbClr val="2B2B2B"/>
                    </a:solidFill>
                    <a:latin typeface="Calibri"/>
                  </a:defRPr>
                </a:pPr>
              </a:p>
            </c:txPr>
            <c:showLegendKey val="0"/>
            <c:showVal val="1"/>
            <c:showCatName val="0"/>
            <c:showSerName val="0"/>
            <c:showPercent val="0"/>
            <c:showBubbleSize val="0"/>
            <c:showLeaderLines val="0"/>
          </c:dLbls>
          <c:dPt>
            <c:idx val="0"/>
            <c:invertIfNegative val="0"/>
            <c:bubble3D val="0"/>
            <c:spPr>
              <a:solidFill>
                <a:srgbClr val="893395"/>
              </a:solidFill>
              <a:effectLst/>
            </c:spPr>
          </c:dPt>
          <c:dPt>
            <c:idx val="1"/>
            <c:invertIfNegative val="0"/>
            <c:bubble3D val="0"/>
            <c:spPr>
              <a:solidFill>
                <a:srgbClr val="E669B9"/>
              </a:solidFill>
              <a:effectLst/>
            </c:spPr>
          </c:dPt>
          <c:dPt>
            <c:idx val="2"/>
            <c:invertIfNegative val="0"/>
            <c:bubble3D val="0"/>
            <c:spPr>
              <a:solidFill>
                <a:srgbClr val="F6C9E6"/>
              </a:solidFill>
              <a:effectLst/>
            </c:spPr>
          </c:dPt>
          <c:cat>
            <c:multiLvlStrRef>
              <c:f>Sheet1!$A$2:$A$4</c:f>
              <c:multiLvlStrCache>
                <c:ptCount val="3"/>
                <c:lvl>
                  <c:pt idx="0">
                    <c:v>Loyal (more than 10 purchases)</c:v>
                  </c:pt>
                  <c:pt idx="1">
                    <c:v>Returning (2 to 10)</c:v>
                  </c:pt>
                  <c:pt idx="2">
                    <c:v>New (1 purchase)</c:v>
                  </c:pt>
                </c:lvl>
              </c:multiLvlStrCache>
            </c:multiLvlStrRef>
          </c:cat>
          <c:val>
            <c:numRef>
              <c:f>Sheet1!$B$2:$B$4</c:f>
              <c:numCache>
                <c:formatCode>General</c:formatCode>
                <c:ptCount val="3"/>
                <c:pt idx="0">
                  <c:v>3116</c:v>
                </c:pt>
                <c:pt idx="1">
                  <c:v>701</c:v>
                </c:pt>
                <c:pt idx="2">
                  <c:v>83</c:v>
                </c:pt>
              </c:numCache>
            </c:numRef>
          </c:val>
        </c:ser>
        <c:dLbls>
          <c:numFmt formatCode="#,##0" sourceLinked="0"/>
          <c:txPr>
            <a:bodyPr/>
            <a:lstStyle/>
            <a:p>
              <a:pPr>
                <a:defRPr b="0" i="0" strike="noStrike" sz="1400" u="none">
                  <a:solidFill>
                    <a:srgbClr val="2B2B2B"/>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E6DDE8"/>
            </a:solidFill>
            <a:prstDash val="solid"/>
            <a:round/>
          </a:ln>
        </c:spPr>
        <c:txPr>
          <a:bodyPr/>
          <a:lstStyle/>
          <a:p>
            <a:pPr>
              <a:defRPr sz="1400" b="0" i="0" u="none" strike="noStrike">
                <a:solidFill>
                  <a:srgbClr val="2B2B2B"/>
                </a:solidFill>
                <a:latin typeface="Calibri"/>
              </a:defRPr>
            </a:pPr>
            <a:endParaRPr lang="en-US"/>
          </a:p>
        </c:txPr>
        <c:crossAx val="2094734552"/>
        <c:crosses val="autoZero"/>
        <c:auto val="1"/>
        <c:lblAlgn val="ctr"/>
        <c:noMultiLvlLbl val="1"/>
      </c:catAx>
      <c:valAx>
        <c:axId val="2094734552"/>
        <c:scaling>
          <c:orientation val="minMax"/>
          <c:max val="3600"/>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B6B6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Customers</c:v>
                </c:pt>
              </c:strCache>
            </c:strRef>
          </c:tx>
          <c:spPr>
            <a:solidFill>
              <a:schemeClr val="accent1"/>
            </a:solidFill>
            <a:ln w="9525" cap="flat">
              <a:solidFill>
                <a:srgbClr val="F9F9F9"/>
              </a:solidFill>
              <a:prstDash val="solid"/>
              <a:round/>
            </a:ln>
            <a:effectLst/>
          </c:spPr>
          <c:dPt>
            <c:idx val="0"/>
            <c:bubble3D val="0"/>
            <c:spPr>
              <a:solidFill>
                <a:srgbClr val="E669B9"/>
              </a:solidFill>
              <a:effectLst/>
            </c:spPr>
          </c:dPt>
          <c:dPt>
            <c:idx val="1"/>
            <c:bubble3D val="0"/>
            <c:spPr>
              <a:solidFill>
                <a:srgbClr val="12239E"/>
              </a:solidFill>
              <a:effectLst/>
            </c:spPr>
          </c:dPt>
          <c:dLbls>
            <c:dLbl>
              <c:idx val="0"/>
              <c:numFmt formatCode="0%" sourceLinked="0"/>
              <c:spPr/>
              <c:txPr>
                <a:bodyPr/>
                <a:lstStyle/>
                <a:p>
                  <a:pPr>
                    <a:defRPr sz="1300" b="1" i="0" u="none" strike="noStrike">
                      <a:solidFill>
                        <a:srgbClr val="FFFFFF"/>
                      </a:solidFill>
                      <a:latin typeface="Calibri"/>
                    </a:defRPr>
                  </a:pPr>
                </a:p>
              </c:txPr>
              <c:showLegendKey val="0"/>
              <c:showVal val="0"/>
              <c:showCatName val="0"/>
              <c:showSerName val="0"/>
              <c:showPercent val="1"/>
              <c:showBubbleSize val="0"/>
            </c:dLbl>
            <c:dLbl>
              <c:idx val="1"/>
              <c:numFmt formatCode="0%" sourceLinked="0"/>
              <c:spPr/>
              <c:txPr>
                <a:bodyPr/>
                <a:lstStyle/>
                <a:p>
                  <a:pPr>
                    <a:defRPr sz="1300" b="1" i="0" u="none" strike="noStrike">
                      <a:solidFill>
                        <a:srgbClr val="FFFFFF"/>
                      </a:solidFill>
                      <a:latin typeface="Calibri"/>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Subscribed</c:v>
                </c:pt>
                <c:pt idx="1">
                  <c:v>Not subscribed</c:v>
                </c:pt>
              </c:strCache>
            </c:strRef>
          </c:cat>
          <c:val>
            <c:numRef>
              <c:f>Sheet1!$B$2:$B$3</c:f>
              <c:numCache>
                <c:ptCount val="2"/>
                <c:pt idx="0">
                  <c:v>1053</c:v>
                </c:pt>
                <c:pt idx="1">
                  <c:v>2847</c:v>
                </c:pt>
              </c:numCache>
            </c:numRef>
          </c:val>
        </c:ser>
        <c:firstSliceAng val="0"/>
        <c:holeSize val="60"/>
      </c:doughnutChart>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Discount rate</c:v>
                </c:pt>
              </c:strCache>
            </c:strRef>
          </c:tx>
          <c:spPr>
            <a:solidFill>
              <a:srgbClr val="893395"/>
            </a:solidFill>
            <a:effectLst/>
          </c:spPr>
          <c:invertIfNegative val="0"/>
          <c:dLbls>
            <c:numFmt formatCode="0.0&quot;%&quot;" sourceLinked="0"/>
            <c:txPr>
              <a:bodyPr/>
              <a:lstStyle/>
              <a:p>
                <a:pPr>
                  <a:defRPr b="0" i="0" strike="noStrike" sz="1300" u="none">
                    <a:solidFill>
                      <a:srgbClr val="2B2B2B"/>
                    </a:solidFill>
                    <a:latin typeface="Calibri"/>
                  </a:defRPr>
                </a:pPr>
              </a:p>
            </c:txPr>
            <c:showLegendKey val="0"/>
            <c:showVal val="1"/>
            <c:showCatName val="0"/>
            <c:showSerName val="0"/>
            <c:showPercent val="0"/>
            <c:showBubbleSize val="0"/>
            <c:showLeaderLines val="0"/>
          </c:dLbls>
          <c:dPt>
            <c:idx val="0"/>
            <c:invertIfNegative val="0"/>
            <c:bubble3D val="0"/>
            <c:spPr>
              <a:solidFill>
                <a:srgbClr val="893395"/>
              </a:solidFill>
              <a:effectLst/>
            </c:spPr>
          </c:dPt>
          <c:dPt>
            <c:idx val="1"/>
            <c:invertIfNegative val="0"/>
            <c:bubble3D val="0"/>
            <c:spPr>
              <a:solidFill>
                <a:srgbClr val="893395"/>
              </a:solidFill>
              <a:effectLst/>
            </c:spPr>
          </c:dPt>
          <c:dPt>
            <c:idx val="2"/>
            <c:invertIfNegative val="0"/>
            <c:bubble3D val="0"/>
            <c:spPr>
              <a:solidFill>
                <a:srgbClr val="893395"/>
              </a:solidFill>
              <a:effectLst/>
            </c:spPr>
          </c:dPt>
          <c:dPt>
            <c:idx val="3"/>
            <c:invertIfNegative val="0"/>
            <c:bubble3D val="0"/>
            <c:spPr>
              <a:solidFill>
                <a:srgbClr val="893395"/>
              </a:solidFill>
              <a:effectLst/>
            </c:spPr>
          </c:dPt>
          <c:dPt>
            <c:idx val="4"/>
            <c:invertIfNegative val="0"/>
            <c:bubble3D val="0"/>
            <c:spPr>
              <a:solidFill>
                <a:srgbClr val="893395"/>
              </a:solidFill>
              <a:effectLst/>
            </c:spPr>
          </c:dPt>
          <c:dPt>
            <c:idx val="5"/>
            <c:invertIfNegative val="0"/>
            <c:bubble3D val="0"/>
            <c:spPr>
              <a:solidFill>
                <a:srgbClr val="B9B9B9"/>
              </a:solidFill>
              <a:effectLst/>
            </c:spPr>
          </c:dPt>
          <c:cat>
            <c:multiLvlStrRef>
              <c:f>Sheet1!$A$2:$A$7</c:f>
              <c:multiLvlStrCache>
                <c:ptCount val="6"/>
                <c:lvl>
                  <c:pt idx="0">
                    <c:v>Hat</c:v>
                  </c:pt>
                  <c:pt idx="1">
                    <c:v>Sneakers</c:v>
                  </c:pt>
                  <c:pt idx="2">
                    <c:v>Coat</c:v>
                  </c:pt>
                  <c:pt idx="3">
                    <c:v>Sweater</c:v>
                  </c:pt>
                  <c:pt idx="4">
                    <c:v>Pants</c:v>
                  </c:pt>
                  <c:pt idx="5">
                    <c:v>All products</c:v>
                  </c:pt>
                </c:lvl>
              </c:multiLvlStrCache>
            </c:multiLvlStrRef>
          </c:cat>
          <c:val>
            <c:numRef>
              <c:f>Sheet1!$B$2:$B$7</c:f>
              <c:numCache>
                <c:formatCode>General</c:formatCode>
                <c:ptCount val="6"/>
                <c:pt idx="0">
                  <c:v>50</c:v>
                </c:pt>
                <c:pt idx="1">
                  <c:v>49.66</c:v>
                </c:pt>
                <c:pt idx="2">
                  <c:v>49.07</c:v>
                </c:pt>
                <c:pt idx="3">
                  <c:v>48.17</c:v>
                </c:pt>
                <c:pt idx="4">
                  <c:v>47.37</c:v>
                </c:pt>
                <c:pt idx="5">
                  <c:v>43</c:v>
                </c:pt>
              </c:numCache>
            </c:numRef>
          </c:val>
        </c:ser>
        <c:dLbls>
          <c:numFmt formatCode="0.0&quot;%&quot;" sourceLinked="0"/>
          <c:txPr>
            <a:bodyPr/>
            <a:lstStyle/>
            <a:p>
              <a:pPr>
                <a:defRPr b="0" i="0" strike="noStrike" sz="1300" u="none">
                  <a:solidFill>
                    <a:srgbClr val="2B2B2B"/>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E6DDE8"/>
            </a:solidFill>
            <a:prstDash val="solid"/>
            <a:round/>
          </a:ln>
        </c:spPr>
        <c:txPr>
          <a:bodyPr/>
          <a:lstStyle/>
          <a:p>
            <a:pPr>
              <a:defRPr sz="1400" b="0" i="0" u="none" strike="noStrike">
                <a:solidFill>
                  <a:srgbClr val="2B2B2B"/>
                </a:solidFill>
                <a:latin typeface="Calibri"/>
              </a:defRPr>
            </a:pPr>
            <a:endParaRPr lang="en-US"/>
          </a:p>
        </c:txPr>
        <c:crossAx val="2094734552"/>
        <c:crosses val="autoZero"/>
        <c:auto val="1"/>
        <c:lblAlgn val="ctr"/>
        <c:noMultiLvlLbl val="1"/>
      </c:catAx>
      <c:valAx>
        <c:axId val="2094734552"/>
        <c:scaling>
          <c:orientation val="minMax"/>
          <c:max val="60"/>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B6B6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Rating</c:v>
                </c:pt>
              </c:strCache>
            </c:strRef>
          </c:tx>
          <c:spPr>
            <a:solidFill>
              <a:srgbClr val="12239E"/>
            </a:solidFill>
            <a:effectLst/>
          </c:spPr>
          <c:invertIfNegative val="0"/>
          <c:dLbls>
            <c:numFmt formatCode="0.00" sourceLinked="0"/>
            <c:txPr>
              <a:bodyPr/>
              <a:lstStyle/>
              <a:p>
                <a:pPr>
                  <a:defRPr b="0" i="0" strike="noStrike" sz="1100" u="none">
                    <a:solidFill>
                      <a:srgbClr val="2B2B2B"/>
                    </a:solidFill>
                    <a:latin typeface="Calibri"/>
                  </a:defRPr>
                </a:pPr>
              </a:p>
            </c:txPr>
            <c:showLegendKey val="0"/>
            <c:showVal val="1"/>
            <c:showCatName val="0"/>
            <c:showSerName val="0"/>
            <c:showPercent val="0"/>
            <c:showBubbleSize val="0"/>
            <c:showLeaderLines val="0"/>
          </c:dLbls>
          <c:cat>
            <c:multiLvlStrRef>
              <c:f>Sheet1!$A$2:$A$6</c:f>
              <c:multiLvlStrCache>
                <c:ptCount val="5"/>
                <c:lvl>
                  <c:pt idx="0">
                    <c:v>Gloves</c:v>
                  </c:pt>
                  <c:pt idx="1">
                    <c:v>Sandals</c:v>
                  </c:pt>
                  <c:pt idx="2">
                    <c:v>Boots</c:v>
                  </c:pt>
                  <c:pt idx="3">
                    <c:v>Hat</c:v>
                  </c:pt>
                  <c:pt idx="4">
                    <c:v>Skirt</c:v>
                  </c:pt>
                </c:lvl>
              </c:multiLvlStrCache>
            </c:multiLvlStrRef>
          </c:cat>
          <c:val>
            <c:numRef>
              <c:f>Sheet1!$B$2:$B$6</c:f>
              <c:numCache>
                <c:formatCode>General</c:formatCode>
                <c:ptCount val="5"/>
                <c:pt idx="0">
                  <c:v>3.86</c:v>
                </c:pt>
                <c:pt idx="1">
                  <c:v>3.84</c:v>
                </c:pt>
                <c:pt idx="2">
                  <c:v>3.82</c:v>
                </c:pt>
                <c:pt idx="3">
                  <c:v>3.8</c:v>
                </c:pt>
                <c:pt idx="4">
                  <c:v>3.78</c:v>
                </c:pt>
              </c:numCache>
            </c:numRef>
          </c:val>
        </c:ser>
        <c:dLbls>
          <c:numFmt formatCode="0.00" sourceLinked="0"/>
          <c:txPr>
            <a:bodyPr/>
            <a:lstStyle/>
            <a:p>
              <a:pPr>
                <a:defRPr b="0" i="0" strike="noStrike" sz="1100" u="none">
                  <a:solidFill>
                    <a:srgbClr val="2B2B2B"/>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E6DDE8"/>
            </a:solidFill>
            <a:prstDash val="solid"/>
            <a:round/>
          </a:ln>
        </c:spPr>
        <c:txPr>
          <a:bodyPr/>
          <a:lstStyle/>
          <a:p>
            <a:pPr>
              <a:defRPr sz="1300" b="0" i="0" u="none" strike="noStrike">
                <a:solidFill>
                  <a:srgbClr val="2B2B2B"/>
                </a:solidFill>
                <a:latin typeface="Calibri"/>
              </a:defRPr>
            </a:pPr>
            <a:endParaRPr lang="en-US"/>
          </a:p>
        </c:txPr>
        <c:crossAx val="2094734552"/>
        <c:crosses val="autoZero"/>
        <c:auto val="1"/>
        <c:lblAlgn val="ctr"/>
        <c:noMultiLvlLbl val="1"/>
      </c:catAx>
      <c:valAx>
        <c:axId val="2094734552"/>
        <c:scaling>
          <c:orientation val="minMax"/>
          <c:max val="5"/>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B6B6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end-to-end analysis of 3,900 customer records using Python for cleaning, PostgreSQL for analysis and Power BI for the dashboard. The goal is to turn shopping data into clear marketing and product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Management has noticed changes in purchasing patterns and wants to know which factors drive purchases and repeat purchases. The analysis is organised around four questions: who drives revenue, what sells best, what influences spending, and what builds loyalty.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one row per customer describing their latest purchase. Data quality was good: only 37 review ratings were missing and there were no duplicates. The workflow moves from Python to PostgreSQL to Power BI, and ends with this deck and a written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cleaning and feature steps were applied in the notebook. Missing ratings were filled with category medians rather than dropping rows. Two new columns, age_group and purchase_frequency_days, make segment analysis easier. The duplicate promo code column was removed before loading the table into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finding. Average spend per purchase is almost identical everywhere, around 60 dollars, whether we split by gender, age, category or subscription. So revenue differences come from how many customers or orders a group has, not from how much each one spends.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 generate 67.7 percent of revenue because they make up 68 percent of customers; women actually spend slightly more per order. By age, Young Adults contribute the most at 26.7 percent, but the gap between the highest and lowest group is only about 6,400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Clothing is the largest category with 104 thousand dollars in revenue, followed by Accessories. Together they generate 76.5 percent of revenue. Within each category, order counts are close, so no single product dominates. Outerwear only has two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were segmented by previous purchases: New has exactly one, Returning has two to ten, and Loyal has more than ten. Four out of five customers are Loyal, and the average customer has 25 previous purchases. Only 83 customers are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percent of customers subscribe and they bring in 26.9 percent of revenue, but they spend slightly less per order than non-subscribers. Repeat buyers are a bit more likely to subscribe, 27.6 versus 22.4 percent, yet 2,518 repeat buyers still have not subscribed.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 percent of purchases use a discount. Half of those customers, 839 people, still spend above the average, so discounts are not just attracting bargain hunters. Hat, Sneakers, Coat, Sweater and Pants have the highest share of discounted purchases, about half of their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Ratings are tightly grouped around the overall average of 3.75. Gloves, Sandals and Boots are the best rated, while Shirt, Jeans and Blouse are the lowest. Express customers spend about two dollars, or 3.5 percent, more per order than Standard customers, but this is a relationship, not proof of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 BI dashboard connects directly to the PostgreSQL table. Stakeholders can filter by subscription status, gender, category and shipping type to explore the patterns covered in this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recommendations follow from the findings. The first three have the biggest reach: improving subscription benefits, rewarding the large loyal base, and making discounts more selective. The rest focus on basket size, core categories, product quality and age-based targeting.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a single snapshot per customer without dates, and several columns are almost evenly distributed, which suggests a synthetic dataset. The next steps would be to add transaction dates, run A/B tests on discounts, and build a model to predict subscription likelihood.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the business already has a loyal customer base and consistent spend per order. The biggest opportunities are to make subscriptions more rewarding, grow basket size, and use discounts more selectively.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image" Target="../media/image-6-1.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0B4A"/>
        </a:solidFill>
      </p:bgPr>
    </p:bg>
    <p:spTree>
      <p:nvGrpSpPr>
        <p:cNvPr id="1" name=""/>
        <p:cNvGrpSpPr/>
        <p:nvPr/>
      </p:nvGrpSpPr>
      <p:grpSpPr>
        <a:xfrm>
          <a:off x="0" y="0"/>
          <a:ext cx="0" cy="0"/>
          <a:chOff x="0" y="0"/>
          <a:chExt cx="0" cy="0"/>
        </a:xfrm>
      </p:grpSpPr>
      <p:sp>
        <p:nvSpPr>
          <p:cNvPr id="2" name="Text 0"/>
          <p:cNvSpPr txBox="1"/>
          <p:nvPr/>
        </p:nvSpPr>
        <p:spPr>
          <a:xfrm>
            <a:off x="822960" y="1417320"/>
            <a:ext cx="7315200" cy="320040"/>
          </a:xfrm>
          <a:prstGeom prst="rect">
            <a:avLst/>
          </a:prstGeom>
          <a:noFill/>
          <a:ln/>
        </p:spPr>
        <p:txBody>
          <a:bodyPr wrap="square" lIns="0" tIns="0" rIns="0" bIns="0" rtlCol="0" anchor="ctr"/>
          <a:lstStyle/>
          <a:p>
            <a:pPr indent="0" marL="0">
              <a:buNone/>
            </a:pPr>
            <a:r>
              <a:rPr lang="en-US" sz="1400" b="1" spc="300" kern="0" dirty="0">
                <a:solidFill>
                  <a:srgbClr val="E669B9"/>
                </a:solidFill>
                <a:latin typeface="Calibri" pitchFamily="34" charset="0"/>
                <a:ea typeface="Calibri" pitchFamily="34" charset="-122"/>
                <a:cs typeface="Calibri" pitchFamily="34" charset="-120"/>
              </a:rPr>
              <a:t>PORTFOLIO PROJECT  ·  DATA ANALYTICS</a:t>
            </a:r>
            <a:endParaRPr lang="en-US" sz="1400" dirty="0"/>
          </a:p>
        </p:txBody>
      </p:sp>
      <p:sp>
        <p:nvSpPr>
          <p:cNvPr id="3" name="Text 1"/>
          <p:cNvSpPr txBox="1"/>
          <p:nvPr/>
        </p:nvSpPr>
        <p:spPr>
          <a:xfrm>
            <a:off x="822960" y="1828800"/>
            <a:ext cx="7772400" cy="1920240"/>
          </a:xfrm>
          <a:prstGeom prst="rect">
            <a:avLst/>
          </a:prstGeom>
          <a:noFill/>
          <a:ln/>
        </p:spPr>
        <p:txBody>
          <a:bodyPr wrap="square" lIns="0" tIns="0" rIns="0" bIns="0" rtlCol="0" anchor="t"/>
          <a:lstStyle/>
          <a:p>
            <a:pPr indent="0" marL="0">
              <a:lnSpc>
                <a:spcPct val="95000"/>
              </a:lnSpc>
              <a:buNone/>
            </a:pPr>
            <a:r>
              <a:rPr lang="en-US" sz="5400" b="1" dirty="0">
                <a:solidFill>
                  <a:srgbClr val="FFFFFF"/>
                </a:solidFill>
                <a:latin typeface="Calibri" pitchFamily="34" charset="0"/>
                <a:ea typeface="Calibri" pitchFamily="34" charset="-122"/>
                <a:cs typeface="Calibri" pitchFamily="34" charset="-120"/>
              </a:rPr>
              <a:t>Customer Shopping</a:t>
            </a:r>
            <a:endParaRPr lang="en-US" sz="5400" dirty="0"/>
          </a:p>
          <a:p>
            <a:pPr indent="0" marL="0">
              <a:lnSpc>
                <a:spcPct val="95000"/>
              </a:lnSpc>
              <a:buNone/>
            </a:pPr>
            <a:r>
              <a:rPr lang="en-US" sz="5400" b="1" dirty="0">
                <a:solidFill>
                  <a:srgbClr val="FFFFFF"/>
                </a:solidFill>
                <a:latin typeface="Calibri" pitchFamily="34" charset="0"/>
                <a:ea typeface="Calibri" pitchFamily="34" charset="-122"/>
                <a:cs typeface="Calibri" pitchFamily="34" charset="-120"/>
              </a:rPr>
              <a:t>Behaviour Analysis</a:t>
            </a:r>
            <a:endParaRPr lang="en-US" sz="5400" dirty="0"/>
          </a:p>
        </p:txBody>
      </p:sp>
      <p:sp>
        <p:nvSpPr>
          <p:cNvPr id="4" name="Text 2"/>
          <p:cNvSpPr txBox="1"/>
          <p:nvPr/>
        </p:nvSpPr>
        <p:spPr>
          <a:xfrm>
            <a:off x="822960" y="3886200"/>
            <a:ext cx="7315200" cy="457200"/>
          </a:xfrm>
          <a:prstGeom prst="rect">
            <a:avLst/>
          </a:prstGeom>
          <a:noFill/>
          <a:ln/>
        </p:spPr>
        <p:txBody>
          <a:bodyPr wrap="square" lIns="0" tIns="0" rIns="0" bIns="0" rtlCol="0" anchor="ctr"/>
          <a:lstStyle/>
          <a:p>
            <a:pPr indent="0" marL="0">
              <a:buNone/>
            </a:pPr>
            <a:r>
              <a:rPr lang="en-US" sz="2000" dirty="0">
                <a:solidFill>
                  <a:srgbClr val="F6C9E6"/>
                </a:solidFill>
                <a:latin typeface="Calibri" pitchFamily="34" charset="0"/>
                <a:ea typeface="Calibri" pitchFamily="34" charset="-122"/>
                <a:cs typeface="Calibri" pitchFamily="34" charset="-120"/>
              </a:rPr>
              <a:t>Turning 3,900 customer records into marketing and product decisions</a:t>
            </a:r>
            <a:endParaRPr lang="en-US" sz="2000" dirty="0"/>
          </a:p>
        </p:txBody>
      </p:sp>
      <p:sp>
        <p:nvSpPr>
          <p:cNvPr id="5" name="Text 3"/>
          <p:cNvSpPr txBox="1"/>
          <p:nvPr/>
        </p:nvSpPr>
        <p:spPr>
          <a:xfrm>
            <a:off x="822960" y="5074920"/>
            <a:ext cx="54864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Ayush Ummadi</a:t>
            </a:r>
            <a:endParaRPr lang="en-US" sz="1800" dirty="0"/>
          </a:p>
        </p:txBody>
      </p:sp>
      <p:sp>
        <p:nvSpPr>
          <p:cNvPr id="6" name="Text 4"/>
          <p:cNvSpPr txBox="1"/>
          <p:nvPr/>
        </p:nvSpPr>
        <p:spPr>
          <a:xfrm>
            <a:off x="822960" y="5440680"/>
            <a:ext cx="5486400" cy="320040"/>
          </a:xfrm>
          <a:prstGeom prst="rect">
            <a:avLst/>
          </a:prstGeom>
          <a:noFill/>
          <a:ln/>
        </p:spPr>
        <p:txBody>
          <a:bodyPr wrap="square" lIns="0" tIns="0" rIns="0" bIns="0" rtlCol="0" anchor="ctr"/>
          <a:lstStyle/>
          <a:p>
            <a:pPr indent="0" marL="0">
              <a:buNone/>
            </a:pPr>
            <a:r>
              <a:rPr lang="en-US" sz="1400" dirty="0">
                <a:solidFill>
                  <a:srgbClr val="F6C9E6"/>
                </a:solidFill>
                <a:latin typeface="Calibri" pitchFamily="34" charset="0"/>
                <a:ea typeface="Calibri" pitchFamily="34" charset="-122"/>
                <a:cs typeface="Calibri" pitchFamily="34" charset="-120"/>
              </a:rPr>
              <a:t>Python  ·  SQL (PostgreSQL)  ·  Power BI</a:t>
            </a:r>
            <a:endParaRPr lang="en-US" sz="1400" dirty="0"/>
          </a:p>
        </p:txBody>
      </p:sp>
      <p:sp>
        <p:nvSpPr>
          <p:cNvPr id="7" name="Shape 5"/>
          <p:cNvSpPr/>
          <p:nvPr/>
        </p:nvSpPr>
        <p:spPr>
          <a:xfrm>
            <a:off x="8732520" y="1874520"/>
            <a:ext cx="2834640" cy="960120"/>
          </a:xfrm>
          <a:prstGeom prst="roundRect">
            <a:avLst>
              <a:gd name="adj" fmla="val 9524"/>
            </a:avLst>
          </a:prstGeom>
          <a:solidFill>
            <a:srgbClr val="54195F"/>
          </a:solidFill>
          <a:ln w="12700">
            <a:solidFill>
              <a:srgbClr val="54195F"/>
            </a:solidFill>
            <a:prstDash val="solid"/>
          </a:ln>
        </p:spPr>
      </p:sp>
      <p:sp>
        <p:nvSpPr>
          <p:cNvPr id="8" name="Shape 6"/>
          <p:cNvSpPr/>
          <p:nvPr/>
        </p:nvSpPr>
        <p:spPr>
          <a:xfrm>
            <a:off x="8915400" y="2057400"/>
            <a:ext cx="594360" cy="594360"/>
          </a:xfrm>
          <a:prstGeom prst="ellipse">
            <a:avLst/>
          </a:prstGeom>
          <a:solidFill>
            <a:srgbClr val="E669B9"/>
          </a:solidFill>
          <a:ln w="12700">
            <a:solidFill>
              <a:srgbClr val="E669B9"/>
            </a:solidFill>
            <a:prstDash val="solid"/>
          </a:ln>
        </p:spPr>
      </p:sp>
      <p:pic>
        <p:nvPicPr>
          <p:cNvPr id="9" name="Image 0" descr="preencoded.png">    </p:cNvPr>
          <p:cNvPicPr>
            <a:picLocks noChangeAspect="1"/>
          </p:cNvPicPr>
          <p:nvPr/>
        </p:nvPicPr>
        <p:blipFill>
          <a:blip r:embed="rId1"/>
          <a:stretch>
            <a:fillRect/>
          </a:stretch>
        </p:blipFill>
        <p:spPr>
          <a:xfrm>
            <a:off x="9069934" y="2211934"/>
            <a:ext cx="285293" cy="285293"/>
          </a:xfrm>
          <a:prstGeom prst="rect">
            <a:avLst/>
          </a:prstGeom>
        </p:spPr>
      </p:pic>
      <p:sp>
        <p:nvSpPr>
          <p:cNvPr id="10" name="Text 7"/>
          <p:cNvSpPr txBox="1"/>
          <p:nvPr/>
        </p:nvSpPr>
        <p:spPr>
          <a:xfrm>
            <a:off x="9692640" y="2057400"/>
            <a:ext cx="178308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Python</a:t>
            </a:r>
            <a:endParaRPr lang="en-US" sz="1600" dirty="0"/>
          </a:p>
        </p:txBody>
      </p:sp>
      <p:sp>
        <p:nvSpPr>
          <p:cNvPr id="11" name="Text 8"/>
          <p:cNvSpPr txBox="1"/>
          <p:nvPr/>
        </p:nvSpPr>
        <p:spPr>
          <a:xfrm>
            <a:off x="9692640" y="2377440"/>
            <a:ext cx="1783080" cy="274320"/>
          </a:xfrm>
          <a:prstGeom prst="rect">
            <a:avLst/>
          </a:prstGeom>
          <a:noFill/>
          <a:ln/>
        </p:spPr>
        <p:txBody>
          <a:bodyPr wrap="square" lIns="0" tIns="0" rIns="0" bIns="0" rtlCol="0" anchor="ctr"/>
          <a:lstStyle/>
          <a:p>
            <a:pPr indent="0" marL="0">
              <a:buNone/>
            </a:pPr>
            <a:r>
              <a:rPr lang="en-US" sz="1200" dirty="0">
                <a:solidFill>
                  <a:srgbClr val="F6C9E6"/>
                </a:solidFill>
                <a:latin typeface="Calibri" pitchFamily="34" charset="0"/>
                <a:ea typeface="Calibri" pitchFamily="34" charset="-122"/>
                <a:cs typeface="Calibri" pitchFamily="34" charset="-120"/>
              </a:rPr>
              <a:t>Data preparation</a:t>
            </a:r>
            <a:endParaRPr lang="en-US" sz="1200" dirty="0"/>
          </a:p>
        </p:txBody>
      </p:sp>
      <p:sp>
        <p:nvSpPr>
          <p:cNvPr id="12" name="Shape 9"/>
          <p:cNvSpPr/>
          <p:nvPr/>
        </p:nvSpPr>
        <p:spPr>
          <a:xfrm>
            <a:off x="8732520" y="3063240"/>
            <a:ext cx="2834640" cy="960120"/>
          </a:xfrm>
          <a:prstGeom prst="roundRect">
            <a:avLst>
              <a:gd name="adj" fmla="val 9524"/>
            </a:avLst>
          </a:prstGeom>
          <a:solidFill>
            <a:srgbClr val="54195F"/>
          </a:solidFill>
          <a:ln w="12700">
            <a:solidFill>
              <a:srgbClr val="54195F"/>
            </a:solidFill>
            <a:prstDash val="solid"/>
          </a:ln>
        </p:spPr>
      </p:sp>
      <p:sp>
        <p:nvSpPr>
          <p:cNvPr id="13" name="Shape 10"/>
          <p:cNvSpPr/>
          <p:nvPr/>
        </p:nvSpPr>
        <p:spPr>
          <a:xfrm>
            <a:off x="8915400" y="3246120"/>
            <a:ext cx="594360" cy="594360"/>
          </a:xfrm>
          <a:prstGeom prst="ellipse">
            <a:avLst/>
          </a:prstGeom>
          <a:solidFill>
            <a:srgbClr val="E669B9"/>
          </a:solidFill>
          <a:ln w="12700">
            <a:solidFill>
              <a:srgbClr val="E669B9"/>
            </a:solidFill>
            <a:prstDash val="solid"/>
          </a:ln>
        </p:spPr>
      </p:sp>
      <p:pic>
        <p:nvPicPr>
          <p:cNvPr id="14" name="Image 1" descr="preencoded.png">    </p:cNvPr>
          <p:cNvPicPr>
            <a:picLocks noChangeAspect="1"/>
          </p:cNvPicPr>
          <p:nvPr/>
        </p:nvPicPr>
        <p:blipFill>
          <a:blip r:embed="rId2"/>
          <a:stretch>
            <a:fillRect/>
          </a:stretch>
        </p:blipFill>
        <p:spPr>
          <a:xfrm>
            <a:off x="9069934" y="3400654"/>
            <a:ext cx="285293" cy="285293"/>
          </a:xfrm>
          <a:prstGeom prst="rect">
            <a:avLst/>
          </a:prstGeom>
        </p:spPr>
      </p:pic>
      <p:sp>
        <p:nvSpPr>
          <p:cNvPr id="15" name="Text 11"/>
          <p:cNvSpPr txBox="1"/>
          <p:nvPr/>
        </p:nvSpPr>
        <p:spPr>
          <a:xfrm>
            <a:off x="9692640" y="3246120"/>
            <a:ext cx="178308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PostgreSQL</a:t>
            </a:r>
            <a:endParaRPr lang="en-US" sz="1600" dirty="0"/>
          </a:p>
        </p:txBody>
      </p:sp>
      <p:sp>
        <p:nvSpPr>
          <p:cNvPr id="16" name="Text 12"/>
          <p:cNvSpPr txBox="1"/>
          <p:nvPr/>
        </p:nvSpPr>
        <p:spPr>
          <a:xfrm>
            <a:off x="9692640" y="3566160"/>
            <a:ext cx="1783080" cy="274320"/>
          </a:xfrm>
          <a:prstGeom prst="rect">
            <a:avLst/>
          </a:prstGeom>
          <a:noFill/>
          <a:ln/>
        </p:spPr>
        <p:txBody>
          <a:bodyPr wrap="square" lIns="0" tIns="0" rIns="0" bIns="0" rtlCol="0" anchor="ctr"/>
          <a:lstStyle/>
          <a:p>
            <a:pPr indent="0" marL="0">
              <a:buNone/>
            </a:pPr>
            <a:r>
              <a:rPr lang="en-US" sz="1200" dirty="0">
                <a:solidFill>
                  <a:srgbClr val="F6C9E6"/>
                </a:solidFill>
                <a:latin typeface="Calibri" pitchFamily="34" charset="0"/>
                <a:ea typeface="Calibri" pitchFamily="34" charset="-122"/>
                <a:cs typeface="Calibri" pitchFamily="34" charset="-120"/>
              </a:rPr>
              <a:t>Business questions</a:t>
            </a:r>
            <a:endParaRPr lang="en-US" sz="1200" dirty="0"/>
          </a:p>
        </p:txBody>
      </p:sp>
      <p:sp>
        <p:nvSpPr>
          <p:cNvPr id="17" name="Shape 13"/>
          <p:cNvSpPr/>
          <p:nvPr/>
        </p:nvSpPr>
        <p:spPr>
          <a:xfrm>
            <a:off x="8732520" y="4251960"/>
            <a:ext cx="2834640" cy="960120"/>
          </a:xfrm>
          <a:prstGeom prst="roundRect">
            <a:avLst>
              <a:gd name="adj" fmla="val 9524"/>
            </a:avLst>
          </a:prstGeom>
          <a:solidFill>
            <a:srgbClr val="54195F"/>
          </a:solidFill>
          <a:ln w="12700">
            <a:solidFill>
              <a:srgbClr val="54195F"/>
            </a:solidFill>
            <a:prstDash val="solid"/>
          </a:ln>
        </p:spPr>
      </p:sp>
      <p:sp>
        <p:nvSpPr>
          <p:cNvPr id="18" name="Shape 14"/>
          <p:cNvSpPr/>
          <p:nvPr/>
        </p:nvSpPr>
        <p:spPr>
          <a:xfrm>
            <a:off x="8915400" y="4434840"/>
            <a:ext cx="594360" cy="594360"/>
          </a:xfrm>
          <a:prstGeom prst="ellipse">
            <a:avLst/>
          </a:prstGeom>
          <a:solidFill>
            <a:srgbClr val="E669B9"/>
          </a:solidFill>
          <a:ln w="12700">
            <a:solidFill>
              <a:srgbClr val="E669B9"/>
            </a:solidFill>
            <a:prstDash val="solid"/>
          </a:ln>
        </p:spPr>
      </p:sp>
      <p:pic>
        <p:nvPicPr>
          <p:cNvPr id="19" name="Image 2" descr="preencoded.png">    </p:cNvPr>
          <p:cNvPicPr>
            <a:picLocks noChangeAspect="1"/>
          </p:cNvPicPr>
          <p:nvPr/>
        </p:nvPicPr>
        <p:blipFill>
          <a:blip r:embed="rId3"/>
          <a:stretch>
            <a:fillRect/>
          </a:stretch>
        </p:blipFill>
        <p:spPr>
          <a:xfrm>
            <a:off x="9069934" y="4589374"/>
            <a:ext cx="285293" cy="285293"/>
          </a:xfrm>
          <a:prstGeom prst="rect">
            <a:avLst/>
          </a:prstGeom>
        </p:spPr>
      </p:pic>
      <p:sp>
        <p:nvSpPr>
          <p:cNvPr id="20" name="Text 15"/>
          <p:cNvSpPr txBox="1"/>
          <p:nvPr/>
        </p:nvSpPr>
        <p:spPr>
          <a:xfrm>
            <a:off x="9692640" y="4434840"/>
            <a:ext cx="178308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Power BI</a:t>
            </a:r>
            <a:endParaRPr lang="en-US" sz="1600" dirty="0"/>
          </a:p>
        </p:txBody>
      </p:sp>
      <p:sp>
        <p:nvSpPr>
          <p:cNvPr id="21" name="Text 16"/>
          <p:cNvSpPr txBox="1"/>
          <p:nvPr/>
        </p:nvSpPr>
        <p:spPr>
          <a:xfrm>
            <a:off x="9692640" y="4754880"/>
            <a:ext cx="1783080" cy="274320"/>
          </a:xfrm>
          <a:prstGeom prst="rect">
            <a:avLst/>
          </a:prstGeom>
          <a:noFill/>
          <a:ln/>
        </p:spPr>
        <p:txBody>
          <a:bodyPr wrap="square" lIns="0" tIns="0" rIns="0" bIns="0" rtlCol="0" anchor="ctr"/>
          <a:lstStyle/>
          <a:p>
            <a:pPr indent="0" marL="0">
              <a:buNone/>
            </a:pPr>
            <a:r>
              <a:rPr lang="en-US" sz="1200" dirty="0">
                <a:solidFill>
                  <a:srgbClr val="F6C9E6"/>
                </a:solidFill>
                <a:latin typeface="Calibri" pitchFamily="34" charset="0"/>
                <a:ea typeface="Calibri" pitchFamily="34" charset="-122"/>
                <a:cs typeface="Calibri" pitchFamily="34" charset="-120"/>
              </a:rPr>
              <a:t>Interactive dashboard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E669B9"/>
                </a:solidFill>
                <a:latin typeface="Calibri" pitchFamily="34" charset="0"/>
                <a:ea typeface="Calibri" pitchFamily="34" charset="-122"/>
                <a:cs typeface="Calibri" pitchFamily="34" charset="-120"/>
              </a:rPr>
              <a:t>THE CHALLENGE</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3000" b="1" dirty="0">
                <a:solidFill>
                  <a:srgbClr val="6B007B"/>
                </a:solidFill>
                <a:latin typeface="Calibri" pitchFamily="34" charset="0"/>
                <a:ea typeface="Calibri" pitchFamily="34" charset="-122"/>
                <a:cs typeface="Calibri" pitchFamily="34" charset="-120"/>
              </a:rPr>
              <a:t>What the business wants to know</a:t>
            </a:r>
            <a:endParaRPr lang="en-US" sz="3000" dirty="0"/>
          </a:p>
        </p:txBody>
      </p:sp>
      <p:sp>
        <p:nvSpPr>
          <p:cNvPr id="4" name="Shape 2"/>
          <p:cNvSpPr/>
          <p:nvPr/>
        </p:nvSpPr>
        <p:spPr>
          <a:xfrm>
            <a:off x="548640" y="1600200"/>
            <a:ext cx="5120640" cy="4206240"/>
          </a:xfrm>
          <a:prstGeom prst="roundRect">
            <a:avLst>
              <a:gd name="adj" fmla="val 1739"/>
            </a:avLst>
          </a:prstGeom>
          <a:solidFill>
            <a:srgbClr val="3D0B4A"/>
          </a:solidFill>
          <a:ln w="12700">
            <a:solidFill>
              <a:srgbClr val="3D0B4A"/>
            </a:solidFill>
            <a:prstDash val="solid"/>
          </a:ln>
        </p:spPr>
      </p:sp>
      <p:sp>
        <p:nvSpPr>
          <p:cNvPr id="5" name="Text 3"/>
          <p:cNvSpPr txBox="1"/>
          <p:nvPr/>
        </p:nvSpPr>
        <p:spPr>
          <a:xfrm>
            <a:off x="868680" y="1691640"/>
            <a:ext cx="914400" cy="914400"/>
          </a:xfrm>
          <a:prstGeom prst="rect">
            <a:avLst/>
          </a:prstGeom>
          <a:noFill/>
          <a:ln/>
        </p:spPr>
        <p:txBody>
          <a:bodyPr wrap="square" lIns="0" tIns="0" rIns="0" bIns="0" rtlCol="0" anchor="ctr"/>
          <a:lstStyle/>
          <a:p>
            <a:pPr indent="0" marL="0">
              <a:buNone/>
            </a:pPr>
            <a:r>
              <a:rPr lang="en-US" sz="8000" b="1" dirty="0">
                <a:solidFill>
                  <a:srgbClr val="E669B9"/>
                </a:solidFill>
                <a:latin typeface="Calibri" pitchFamily="34" charset="0"/>
                <a:ea typeface="Calibri" pitchFamily="34" charset="-122"/>
                <a:cs typeface="Calibri" pitchFamily="34" charset="-120"/>
              </a:rPr>
              <a:t>“</a:t>
            </a:r>
            <a:endParaRPr lang="en-US" sz="8000" dirty="0"/>
          </a:p>
        </p:txBody>
      </p:sp>
      <p:sp>
        <p:nvSpPr>
          <p:cNvPr id="6" name="Text 4"/>
          <p:cNvSpPr txBox="1"/>
          <p:nvPr/>
        </p:nvSpPr>
        <p:spPr>
          <a:xfrm>
            <a:off x="960120" y="2514600"/>
            <a:ext cx="4343400" cy="2194560"/>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How can the company leverage consumer shopping data to identify trends, improve customer engagement, and optimize marketing and product strategies?</a:t>
            </a:r>
            <a:endParaRPr lang="en-US" sz="2200" dirty="0"/>
          </a:p>
        </p:txBody>
      </p:sp>
      <p:sp>
        <p:nvSpPr>
          <p:cNvPr id="7" name="Text 5"/>
          <p:cNvSpPr txBox="1"/>
          <p:nvPr/>
        </p:nvSpPr>
        <p:spPr>
          <a:xfrm>
            <a:off x="960120" y="5166360"/>
            <a:ext cx="4343400" cy="320040"/>
          </a:xfrm>
          <a:prstGeom prst="rect">
            <a:avLst/>
          </a:prstGeom>
          <a:noFill/>
          <a:ln/>
        </p:spPr>
        <p:txBody>
          <a:bodyPr wrap="square" lIns="0" tIns="0" rIns="0" bIns="0" rtlCol="0" anchor="ctr"/>
          <a:lstStyle/>
          <a:p>
            <a:pPr indent="0" marL="0">
              <a:buNone/>
            </a:pPr>
            <a:r>
              <a:rPr lang="en-US" sz="1200" dirty="0">
                <a:solidFill>
                  <a:srgbClr val="F6C9E6"/>
                </a:solidFill>
                <a:latin typeface="Calibri" pitchFamily="34" charset="0"/>
                <a:ea typeface="Calibri" pitchFamily="34" charset="-122"/>
                <a:cs typeface="Calibri" pitchFamily="34" charset="-120"/>
              </a:rPr>
              <a:t>Business question from the project brief</a:t>
            </a:r>
            <a:endParaRPr lang="en-US" sz="1200" dirty="0"/>
          </a:p>
        </p:txBody>
      </p:sp>
      <p:sp>
        <p:nvSpPr>
          <p:cNvPr id="8" name="Shape 6"/>
          <p:cNvSpPr/>
          <p:nvPr/>
        </p:nvSpPr>
        <p:spPr>
          <a:xfrm>
            <a:off x="6263640" y="1645920"/>
            <a:ext cx="685800" cy="685800"/>
          </a:xfrm>
          <a:prstGeom prst="ellipse">
            <a:avLst/>
          </a:prstGeom>
          <a:solidFill>
            <a:srgbClr val="893395"/>
          </a:solidFill>
          <a:ln w="12700">
            <a:solidFill>
              <a:srgbClr val="893395"/>
            </a:solidFill>
            <a:prstDash val="solid"/>
          </a:ln>
        </p:spPr>
      </p:sp>
      <p:pic>
        <p:nvPicPr>
          <p:cNvPr id="9" name="Image 0" descr="preencoded.png">    </p:cNvPr>
          <p:cNvPicPr>
            <a:picLocks noChangeAspect="1"/>
          </p:cNvPicPr>
          <p:nvPr/>
        </p:nvPicPr>
        <p:blipFill>
          <a:blip r:embed="rId1"/>
          <a:stretch>
            <a:fillRect/>
          </a:stretch>
        </p:blipFill>
        <p:spPr>
          <a:xfrm>
            <a:off x="6441948" y="1824228"/>
            <a:ext cx="329184" cy="329184"/>
          </a:xfrm>
          <a:prstGeom prst="rect">
            <a:avLst/>
          </a:prstGeom>
        </p:spPr>
      </p:pic>
      <p:sp>
        <p:nvSpPr>
          <p:cNvPr id="10" name="Text 7"/>
          <p:cNvSpPr txBox="1"/>
          <p:nvPr/>
        </p:nvSpPr>
        <p:spPr>
          <a:xfrm>
            <a:off x="7178040" y="1627632"/>
            <a:ext cx="4480560" cy="365760"/>
          </a:xfrm>
          <a:prstGeom prst="rect">
            <a:avLst/>
          </a:prstGeom>
          <a:noFill/>
          <a:ln/>
        </p:spPr>
        <p:txBody>
          <a:bodyPr wrap="square" lIns="0" tIns="0" rIns="0" bIns="0" rtlCol="0" anchor="ctr"/>
          <a:lstStyle/>
          <a:p>
            <a:pPr indent="0" marL="0">
              <a:buNone/>
            </a:pPr>
            <a:r>
              <a:rPr lang="en-US" sz="1900" b="1" dirty="0">
                <a:solidFill>
                  <a:srgbClr val="6B007B"/>
                </a:solidFill>
                <a:latin typeface="Calibri" pitchFamily="34" charset="0"/>
                <a:ea typeface="Calibri" pitchFamily="34" charset="-122"/>
                <a:cs typeface="Calibri" pitchFamily="34" charset="-120"/>
              </a:rPr>
              <a:t>Who drives revenue?</a:t>
            </a:r>
            <a:endParaRPr lang="en-US" sz="1900" dirty="0"/>
          </a:p>
        </p:txBody>
      </p:sp>
      <p:sp>
        <p:nvSpPr>
          <p:cNvPr id="11" name="Text 8"/>
          <p:cNvSpPr txBox="1"/>
          <p:nvPr/>
        </p:nvSpPr>
        <p:spPr>
          <a:xfrm>
            <a:off x="7178040" y="1993392"/>
            <a:ext cx="4480560" cy="320040"/>
          </a:xfrm>
          <a:prstGeom prst="rect">
            <a:avLst/>
          </a:prstGeom>
          <a:noFill/>
          <a:ln/>
        </p:spPr>
        <p:txBody>
          <a:bodyPr wrap="square" lIns="0" tIns="0" rIns="0" bIns="0" rtlCol="0" anchor="ctr"/>
          <a:lstStyle/>
          <a:p>
            <a:pPr indent="0" marL="0">
              <a:buNone/>
            </a:pPr>
            <a:r>
              <a:rPr lang="en-US" sz="1500" dirty="0">
                <a:solidFill>
                  <a:srgbClr val="6B6B6B"/>
                </a:solidFill>
                <a:latin typeface="Calibri" pitchFamily="34" charset="0"/>
                <a:ea typeface="Calibri" pitchFamily="34" charset="-122"/>
                <a:cs typeface="Calibri" pitchFamily="34" charset="-120"/>
              </a:rPr>
              <a:t>How spending differs by gender and age group</a:t>
            </a:r>
            <a:endParaRPr lang="en-US" sz="1500" dirty="0"/>
          </a:p>
        </p:txBody>
      </p:sp>
      <p:sp>
        <p:nvSpPr>
          <p:cNvPr id="12" name="Shape 9"/>
          <p:cNvSpPr/>
          <p:nvPr/>
        </p:nvSpPr>
        <p:spPr>
          <a:xfrm>
            <a:off x="6263640" y="2697480"/>
            <a:ext cx="685800" cy="685800"/>
          </a:xfrm>
          <a:prstGeom prst="ellipse">
            <a:avLst/>
          </a:prstGeom>
          <a:solidFill>
            <a:srgbClr val="893395"/>
          </a:solidFill>
          <a:ln w="12700">
            <a:solidFill>
              <a:srgbClr val="893395"/>
            </a:solidFill>
            <a:prstDash val="solid"/>
          </a:ln>
        </p:spPr>
      </p:sp>
      <p:pic>
        <p:nvPicPr>
          <p:cNvPr id="13" name="Image 1" descr="preencoded.png">    </p:cNvPr>
          <p:cNvPicPr>
            <a:picLocks noChangeAspect="1"/>
          </p:cNvPicPr>
          <p:nvPr/>
        </p:nvPicPr>
        <p:blipFill>
          <a:blip r:embed="rId2"/>
          <a:stretch>
            <a:fillRect/>
          </a:stretch>
        </p:blipFill>
        <p:spPr>
          <a:xfrm>
            <a:off x="6441948" y="2875788"/>
            <a:ext cx="329184" cy="329184"/>
          </a:xfrm>
          <a:prstGeom prst="rect">
            <a:avLst/>
          </a:prstGeom>
        </p:spPr>
      </p:pic>
      <p:sp>
        <p:nvSpPr>
          <p:cNvPr id="14" name="Text 10"/>
          <p:cNvSpPr txBox="1"/>
          <p:nvPr/>
        </p:nvSpPr>
        <p:spPr>
          <a:xfrm>
            <a:off x="7178040" y="2679192"/>
            <a:ext cx="4480560" cy="365760"/>
          </a:xfrm>
          <a:prstGeom prst="rect">
            <a:avLst/>
          </a:prstGeom>
          <a:noFill/>
          <a:ln/>
        </p:spPr>
        <p:txBody>
          <a:bodyPr wrap="square" lIns="0" tIns="0" rIns="0" bIns="0" rtlCol="0" anchor="ctr"/>
          <a:lstStyle/>
          <a:p>
            <a:pPr indent="0" marL="0">
              <a:buNone/>
            </a:pPr>
            <a:r>
              <a:rPr lang="en-US" sz="1900" b="1" dirty="0">
                <a:solidFill>
                  <a:srgbClr val="6B007B"/>
                </a:solidFill>
                <a:latin typeface="Calibri" pitchFamily="34" charset="0"/>
                <a:ea typeface="Calibri" pitchFamily="34" charset="-122"/>
                <a:cs typeface="Calibri" pitchFamily="34" charset="-120"/>
              </a:rPr>
              <a:t>What sells best?</a:t>
            </a:r>
            <a:endParaRPr lang="en-US" sz="1900" dirty="0"/>
          </a:p>
        </p:txBody>
      </p:sp>
      <p:sp>
        <p:nvSpPr>
          <p:cNvPr id="15" name="Text 11"/>
          <p:cNvSpPr txBox="1"/>
          <p:nvPr/>
        </p:nvSpPr>
        <p:spPr>
          <a:xfrm>
            <a:off x="7178040" y="3044952"/>
            <a:ext cx="4480560" cy="320040"/>
          </a:xfrm>
          <a:prstGeom prst="rect">
            <a:avLst/>
          </a:prstGeom>
          <a:noFill/>
          <a:ln/>
        </p:spPr>
        <p:txBody>
          <a:bodyPr wrap="square" lIns="0" tIns="0" rIns="0" bIns="0" rtlCol="0" anchor="ctr"/>
          <a:lstStyle/>
          <a:p>
            <a:pPr indent="0" marL="0">
              <a:buNone/>
            </a:pPr>
            <a:r>
              <a:rPr lang="en-US" sz="1500" dirty="0">
                <a:solidFill>
                  <a:srgbClr val="6B6B6B"/>
                </a:solidFill>
                <a:latin typeface="Calibri" pitchFamily="34" charset="0"/>
                <a:ea typeface="Calibri" pitchFamily="34" charset="-122"/>
                <a:cs typeface="Calibri" pitchFamily="34" charset="-120"/>
              </a:rPr>
              <a:t>Top categories, products and customer ratings</a:t>
            </a:r>
            <a:endParaRPr lang="en-US" sz="1500" dirty="0"/>
          </a:p>
        </p:txBody>
      </p:sp>
      <p:sp>
        <p:nvSpPr>
          <p:cNvPr id="16" name="Shape 12"/>
          <p:cNvSpPr/>
          <p:nvPr/>
        </p:nvSpPr>
        <p:spPr>
          <a:xfrm>
            <a:off x="6263640" y="3749040"/>
            <a:ext cx="685800" cy="685800"/>
          </a:xfrm>
          <a:prstGeom prst="ellipse">
            <a:avLst/>
          </a:prstGeom>
          <a:solidFill>
            <a:srgbClr val="893395"/>
          </a:solidFill>
          <a:ln w="12700">
            <a:solidFill>
              <a:srgbClr val="893395"/>
            </a:solidFill>
            <a:prstDash val="solid"/>
          </a:ln>
        </p:spPr>
      </p:sp>
      <p:pic>
        <p:nvPicPr>
          <p:cNvPr id="17" name="Image 2" descr="preencoded.png">    </p:cNvPr>
          <p:cNvPicPr>
            <a:picLocks noChangeAspect="1"/>
          </p:cNvPicPr>
          <p:nvPr/>
        </p:nvPicPr>
        <p:blipFill>
          <a:blip r:embed="rId3"/>
          <a:stretch>
            <a:fillRect/>
          </a:stretch>
        </p:blipFill>
        <p:spPr>
          <a:xfrm>
            <a:off x="6441948" y="3927348"/>
            <a:ext cx="329184" cy="329184"/>
          </a:xfrm>
          <a:prstGeom prst="rect">
            <a:avLst/>
          </a:prstGeom>
        </p:spPr>
      </p:pic>
      <p:sp>
        <p:nvSpPr>
          <p:cNvPr id="18" name="Text 13"/>
          <p:cNvSpPr txBox="1"/>
          <p:nvPr/>
        </p:nvSpPr>
        <p:spPr>
          <a:xfrm>
            <a:off x="7178040" y="3730752"/>
            <a:ext cx="4480560" cy="365760"/>
          </a:xfrm>
          <a:prstGeom prst="rect">
            <a:avLst/>
          </a:prstGeom>
          <a:noFill/>
          <a:ln/>
        </p:spPr>
        <p:txBody>
          <a:bodyPr wrap="square" lIns="0" tIns="0" rIns="0" bIns="0" rtlCol="0" anchor="ctr"/>
          <a:lstStyle/>
          <a:p>
            <a:pPr indent="0" marL="0">
              <a:buNone/>
            </a:pPr>
            <a:r>
              <a:rPr lang="en-US" sz="1900" b="1" dirty="0">
                <a:solidFill>
                  <a:srgbClr val="6B007B"/>
                </a:solidFill>
                <a:latin typeface="Calibri" pitchFamily="34" charset="0"/>
                <a:ea typeface="Calibri" pitchFamily="34" charset="-122"/>
                <a:cs typeface="Calibri" pitchFamily="34" charset="-120"/>
              </a:rPr>
              <a:t>What influences spending?</a:t>
            </a:r>
            <a:endParaRPr lang="en-US" sz="1900" dirty="0"/>
          </a:p>
        </p:txBody>
      </p:sp>
      <p:sp>
        <p:nvSpPr>
          <p:cNvPr id="19" name="Text 14"/>
          <p:cNvSpPr txBox="1"/>
          <p:nvPr/>
        </p:nvSpPr>
        <p:spPr>
          <a:xfrm>
            <a:off x="7178040" y="4096512"/>
            <a:ext cx="4480560" cy="320040"/>
          </a:xfrm>
          <a:prstGeom prst="rect">
            <a:avLst/>
          </a:prstGeom>
          <a:noFill/>
          <a:ln/>
        </p:spPr>
        <p:txBody>
          <a:bodyPr wrap="square" lIns="0" tIns="0" rIns="0" bIns="0" rtlCol="0" anchor="ctr"/>
          <a:lstStyle/>
          <a:p>
            <a:pPr indent="0" marL="0">
              <a:buNone/>
            </a:pPr>
            <a:r>
              <a:rPr lang="en-US" sz="1500" dirty="0">
                <a:solidFill>
                  <a:srgbClr val="6B6B6B"/>
                </a:solidFill>
                <a:latin typeface="Calibri" pitchFamily="34" charset="0"/>
                <a:ea typeface="Calibri" pitchFamily="34" charset="-122"/>
                <a:cs typeface="Calibri" pitchFamily="34" charset="-120"/>
              </a:rPr>
              <a:t>The role of discounts, shipping type and reviews</a:t>
            </a:r>
            <a:endParaRPr lang="en-US" sz="1500" dirty="0"/>
          </a:p>
        </p:txBody>
      </p:sp>
      <p:sp>
        <p:nvSpPr>
          <p:cNvPr id="20" name="Shape 15"/>
          <p:cNvSpPr/>
          <p:nvPr/>
        </p:nvSpPr>
        <p:spPr>
          <a:xfrm>
            <a:off x="6263640" y="4800600"/>
            <a:ext cx="685800" cy="685800"/>
          </a:xfrm>
          <a:prstGeom prst="ellipse">
            <a:avLst/>
          </a:prstGeom>
          <a:solidFill>
            <a:srgbClr val="893395"/>
          </a:solidFill>
          <a:ln w="12700">
            <a:solidFill>
              <a:srgbClr val="893395"/>
            </a:solidFill>
            <a:prstDash val="solid"/>
          </a:ln>
        </p:spPr>
      </p:sp>
      <p:pic>
        <p:nvPicPr>
          <p:cNvPr id="21" name="Image 3" descr="preencoded.png">    </p:cNvPr>
          <p:cNvPicPr>
            <a:picLocks noChangeAspect="1"/>
          </p:cNvPicPr>
          <p:nvPr/>
        </p:nvPicPr>
        <p:blipFill>
          <a:blip r:embed="rId4"/>
          <a:stretch>
            <a:fillRect/>
          </a:stretch>
        </p:blipFill>
        <p:spPr>
          <a:xfrm>
            <a:off x="6441948" y="4978908"/>
            <a:ext cx="329184" cy="329184"/>
          </a:xfrm>
          <a:prstGeom prst="rect">
            <a:avLst/>
          </a:prstGeom>
        </p:spPr>
      </p:pic>
      <p:sp>
        <p:nvSpPr>
          <p:cNvPr id="22" name="Text 16"/>
          <p:cNvSpPr txBox="1"/>
          <p:nvPr/>
        </p:nvSpPr>
        <p:spPr>
          <a:xfrm>
            <a:off x="7178040" y="4782312"/>
            <a:ext cx="4480560" cy="365760"/>
          </a:xfrm>
          <a:prstGeom prst="rect">
            <a:avLst/>
          </a:prstGeom>
          <a:noFill/>
          <a:ln/>
        </p:spPr>
        <p:txBody>
          <a:bodyPr wrap="square" lIns="0" tIns="0" rIns="0" bIns="0" rtlCol="0" anchor="ctr"/>
          <a:lstStyle/>
          <a:p>
            <a:pPr indent="0" marL="0">
              <a:buNone/>
            </a:pPr>
            <a:r>
              <a:rPr lang="en-US" sz="1900" b="1" dirty="0">
                <a:solidFill>
                  <a:srgbClr val="6B007B"/>
                </a:solidFill>
                <a:latin typeface="Calibri" pitchFamily="34" charset="0"/>
                <a:ea typeface="Calibri" pitchFamily="34" charset="-122"/>
                <a:cs typeface="Calibri" pitchFamily="34" charset="-120"/>
              </a:rPr>
              <a:t>What builds loyalty?</a:t>
            </a:r>
            <a:endParaRPr lang="en-US" sz="1900" dirty="0"/>
          </a:p>
        </p:txBody>
      </p:sp>
      <p:sp>
        <p:nvSpPr>
          <p:cNvPr id="23" name="Text 17"/>
          <p:cNvSpPr txBox="1"/>
          <p:nvPr/>
        </p:nvSpPr>
        <p:spPr>
          <a:xfrm>
            <a:off x="7178040" y="5148072"/>
            <a:ext cx="4480560" cy="320040"/>
          </a:xfrm>
          <a:prstGeom prst="rect">
            <a:avLst/>
          </a:prstGeom>
          <a:noFill/>
          <a:ln/>
        </p:spPr>
        <p:txBody>
          <a:bodyPr wrap="square" lIns="0" tIns="0" rIns="0" bIns="0" rtlCol="0" anchor="ctr"/>
          <a:lstStyle/>
          <a:p>
            <a:pPr indent="0" marL="0">
              <a:buNone/>
            </a:pPr>
            <a:r>
              <a:rPr lang="en-US" sz="1500" dirty="0">
                <a:solidFill>
                  <a:srgbClr val="6B6B6B"/>
                </a:solidFill>
                <a:latin typeface="Calibri" pitchFamily="34" charset="0"/>
                <a:ea typeface="Calibri" pitchFamily="34" charset="-122"/>
                <a:cs typeface="Calibri" pitchFamily="34" charset="-120"/>
              </a:rPr>
              <a:t>Repeat buyers, segments and subscriptions</a:t>
            </a:r>
            <a:endParaRPr lang="en-US" sz="1500" dirty="0"/>
          </a:p>
        </p:txBody>
      </p:sp>
      <p:sp>
        <p:nvSpPr>
          <p:cNvPr id="24" name="Text 18"/>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Customer Shopping Behaviour Analysis</a:t>
            </a:r>
            <a:endParaRPr lang="en-US" sz="1000" dirty="0"/>
          </a:p>
        </p:txBody>
      </p:sp>
      <p:sp>
        <p:nvSpPr>
          <p:cNvPr id="25" name="Text 19"/>
          <p:cNvSpPr txBox="1"/>
          <p:nvPr/>
        </p:nvSpPr>
        <p:spPr>
          <a:xfrm>
            <a:off x="10728655" y="6419088"/>
            <a:ext cx="9144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E669B9"/>
                </a:solidFill>
                <a:latin typeface="Calibri" pitchFamily="34" charset="0"/>
                <a:ea typeface="Calibri" pitchFamily="34" charset="-122"/>
                <a:cs typeface="Calibri" pitchFamily="34" charset="-120"/>
              </a:rPr>
              <a:t>DATA AND APPROACH</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3000" b="1" dirty="0">
                <a:solidFill>
                  <a:srgbClr val="6B007B"/>
                </a:solidFill>
                <a:latin typeface="Calibri" pitchFamily="34" charset="0"/>
                <a:ea typeface="Calibri" pitchFamily="34" charset="-122"/>
                <a:cs typeface="Calibri" pitchFamily="34" charset="-120"/>
              </a:rPr>
              <a:t>3,900 customers, analysed end to end</a:t>
            </a:r>
            <a:endParaRPr lang="en-US" sz="3000" dirty="0"/>
          </a:p>
        </p:txBody>
      </p:sp>
      <p:sp>
        <p:nvSpPr>
          <p:cNvPr id="4" name="Shape 2"/>
          <p:cNvSpPr/>
          <p:nvPr/>
        </p:nvSpPr>
        <p:spPr>
          <a:xfrm>
            <a:off x="548640" y="1645920"/>
            <a:ext cx="2514600" cy="1783080"/>
          </a:xfrm>
          <a:prstGeom prst="roundRect">
            <a:avLst>
              <a:gd name="adj" fmla="val 4103"/>
            </a:avLst>
          </a:prstGeom>
          <a:solidFill>
            <a:srgbClr val="F8F0F9"/>
          </a:solidFill>
          <a:ln w="12700">
            <a:solidFill>
              <a:srgbClr val="F8F0F9"/>
            </a:solidFill>
            <a:prstDash val="solid"/>
          </a:ln>
        </p:spPr>
      </p:sp>
      <p:sp>
        <p:nvSpPr>
          <p:cNvPr id="5" name="Text 3"/>
          <p:cNvSpPr txBox="1"/>
          <p:nvPr/>
        </p:nvSpPr>
        <p:spPr>
          <a:xfrm>
            <a:off x="822960" y="1874520"/>
            <a:ext cx="2011680" cy="731520"/>
          </a:xfrm>
          <a:prstGeom prst="rect">
            <a:avLst/>
          </a:prstGeom>
          <a:noFill/>
          <a:ln/>
        </p:spPr>
        <p:txBody>
          <a:bodyPr wrap="square" lIns="0" tIns="0" rIns="0" bIns="0" rtlCol="0" anchor="ctr"/>
          <a:lstStyle/>
          <a:p>
            <a:pPr indent="0" marL="0">
              <a:buNone/>
            </a:pPr>
            <a:r>
              <a:rPr lang="en-US" sz="4400" b="1" dirty="0">
                <a:solidFill>
                  <a:srgbClr val="893395"/>
                </a:solidFill>
                <a:latin typeface="Calibri" pitchFamily="34" charset="0"/>
                <a:ea typeface="Calibri" pitchFamily="34" charset="-122"/>
                <a:cs typeface="Calibri" pitchFamily="34" charset="-120"/>
              </a:rPr>
              <a:t>3,900</a:t>
            </a:r>
            <a:endParaRPr lang="en-US" sz="4400" dirty="0"/>
          </a:p>
        </p:txBody>
      </p:sp>
      <p:sp>
        <p:nvSpPr>
          <p:cNvPr id="6" name="Text 4"/>
          <p:cNvSpPr txBox="1"/>
          <p:nvPr/>
        </p:nvSpPr>
        <p:spPr>
          <a:xfrm>
            <a:off x="822960" y="2651760"/>
            <a:ext cx="2057400" cy="594360"/>
          </a:xfrm>
          <a:prstGeom prst="rect">
            <a:avLst/>
          </a:prstGeom>
          <a:noFill/>
          <a:ln/>
        </p:spPr>
        <p:txBody>
          <a:bodyPr wrap="square" lIns="0" tIns="0" rIns="0" bIns="0" rtlCol="0" anchor="t"/>
          <a:lstStyle/>
          <a:p>
            <a:pPr indent="0" marL="0">
              <a:buNone/>
            </a:pPr>
            <a:r>
              <a:rPr lang="en-US" sz="1400" dirty="0">
                <a:solidFill>
                  <a:srgbClr val="2B2B2B"/>
                </a:solidFill>
                <a:latin typeface="Calibri" pitchFamily="34" charset="0"/>
                <a:ea typeface="Calibri" pitchFamily="34" charset="-122"/>
                <a:cs typeface="Calibri" pitchFamily="34" charset="-120"/>
              </a:rPr>
              <a:t>customers, one row each</a:t>
            </a:r>
            <a:endParaRPr lang="en-US" sz="1400" dirty="0"/>
          </a:p>
        </p:txBody>
      </p:sp>
      <p:sp>
        <p:nvSpPr>
          <p:cNvPr id="7" name="Shape 5"/>
          <p:cNvSpPr/>
          <p:nvPr/>
        </p:nvSpPr>
        <p:spPr>
          <a:xfrm>
            <a:off x="3291840" y="1645920"/>
            <a:ext cx="2514600" cy="1783080"/>
          </a:xfrm>
          <a:prstGeom prst="roundRect">
            <a:avLst>
              <a:gd name="adj" fmla="val 4103"/>
            </a:avLst>
          </a:prstGeom>
          <a:solidFill>
            <a:srgbClr val="F8F0F9"/>
          </a:solidFill>
          <a:ln w="12700">
            <a:solidFill>
              <a:srgbClr val="F8F0F9"/>
            </a:solidFill>
            <a:prstDash val="solid"/>
          </a:ln>
        </p:spPr>
      </p:sp>
      <p:sp>
        <p:nvSpPr>
          <p:cNvPr id="8" name="Text 6"/>
          <p:cNvSpPr txBox="1"/>
          <p:nvPr/>
        </p:nvSpPr>
        <p:spPr>
          <a:xfrm>
            <a:off x="3566160" y="1874520"/>
            <a:ext cx="2011680" cy="731520"/>
          </a:xfrm>
          <a:prstGeom prst="rect">
            <a:avLst/>
          </a:prstGeom>
          <a:noFill/>
          <a:ln/>
        </p:spPr>
        <p:txBody>
          <a:bodyPr wrap="square" lIns="0" tIns="0" rIns="0" bIns="0" rtlCol="0" anchor="ctr"/>
          <a:lstStyle/>
          <a:p>
            <a:pPr indent="0" marL="0">
              <a:buNone/>
            </a:pPr>
            <a:r>
              <a:rPr lang="en-US" sz="4400" b="1" dirty="0">
                <a:solidFill>
                  <a:srgbClr val="893395"/>
                </a:solidFill>
                <a:latin typeface="Calibri" pitchFamily="34" charset="0"/>
                <a:ea typeface="Calibri" pitchFamily="34" charset="-122"/>
                <a:cs typeface="Calibri" pitchFamily="34" charset="-120"/>
              </a:rPr>
              <a:t>18</a:t>
            </a:r>
            <a:endParaRPr lang="en-US" sz="4400" dirty="0"/>
          </a:p>
        </p:txBody>
      </p:sp>
      <p:sp>
        <p:nvSpPr>
          <p:cNvPr id="9" name="Text 7"/>
          <p:cNvSpPr txBox="1"/>
          <p:nvPr/>
        </p:nvSpPr>
        <p:spPr>
          <a:xfrm>
            <a:off x="3566160" y="2651760"/>
            <a:ext cx="2057400" cy="594360"/>
          </a:xfrm>
          <a:prstGeom prst="rect">
            <a:avLst/>
          </a:prstGeom>
          <a:noFill/>
          <a:ln/>
        </p:spPr>
        <p:txBody>
          <a:bodyPr wrap="square" lIns="0" tIns="0" rIns="0" bIns="0" rtlCol="0" anchor="t"/>
          <a:lstStyle/>
          <a:p>
            <a:pPr indent="0" marL="0">
              <a:buNone/>
            </a:pPr>
            <a:r>
              <a:rPr lang="en-US" sz="1400" dirty="0">
                <a:solidFill>
                  <a:srgbClr val="2B2B2B"/>
                </a:solidFill>
                <a:latin typeface="Calibri" pitchFamily="34" charset="0"/>
                <a:ea typeface="Calibri" pitchFamily="34" charset="-122"/>
                <a:cs typeface="Calibri" pitchFamily="34" charset="-120"/>
              </a:rPr>
              <a:t>columns: demographics, purchase details, loyalty</a:t>
            </a:r>
            <a:endParaRPr lang="en-US" sz="1400" dirty="0"/>
          </a:p>
        </p:txBody>
      </p:sp>
      <p:sp>
        <p:nvSpPr>
          <p:cNvPr id="10" name="Shape 8"/>
          <p:cNvSpPr/>
          <p:nvPr/>
        </p:nvSpPr>
        <p:spPr>
          <a:xfrm>
            <a:off x="548640" y="3657600"/>
            <a:ext cx="2514600" cy="1783080"/>
          </a:xfrm>
          <a:prstGeom prst="roundRect">
            <a:avLst>
              <a:gd name="adj" fmla="val 4103"/>
            </a:avLst>
          </a:prstGeom>
          <a:solidFill>
            <a:srgbClr val="F8F0F9"/>
          </a:solidFill>
          <a:ln w="12700">
            <a:solidFill>
              <a:srgbClr val="F8F0F9"/>
            </a:solidFill>
            <a:prstDash val="solid"/>
          </a:ln>
        </p:spPr>
      </p:sp>
      <p:sp>
        <p:nvSpPr>
          <p:cNvPr id="11" name="Text 9"/>
          <p:cNvSpPr txBox="1"/>
          <p:nvPr/>
        </p:nvSpPr>
        <p:spPr>
          <a:xfrm>
            <a:off x="822960" y="3886200"/>
            <a:ext cx="2011680" cy="731520"/>
          </a:xfrm>
          <a:prstGeom prst="rect">
            <a:avLst/>
          </a:prstGeom>
          <a:noFill/>
          <a:ln/>
        </p:spPr>
        <p:txBody>
          <a:bodyPr wrap="square" lIns="0" tIns="0" rIns="0" bIns="0" rtlCol="0" anchor="ctr"/>
          <a:lstStyle/>
          <a:p>
            <a:pPr indent="0" marL="0">
              <a:buNone/>
            </a:pPr>
            <a:r>
              <a:rPr lang="en-US" sz="4400" b="1" dirty="0">
                <a:solidFill>
                  <a:srgbClr val="893395"/>
                </a:solidFill>
                <a:latin typeface="Calibri" pitchFamily="34" charset="0"/>
                <a:ea typeface="Calibri" pitchFamily="34" charset="-122"/>
                <a:cs typeface="Calibri" pitchFamily="34" charset="-120"/>
              </a:rPr>
              <a:t>25</a:t>
            </a:r>
            <a:endParaRPr lang="en-US" sz="4400" dirty="0"/>
          </a:p>
        </p:txBody>
      </p:sp>
      <p:sp>
        <p:nvSpPr>
          <p:cNvPr id="12" name="Text 10"/>
          <p:cNvSpPr txBox="1"/>
          <p:nvPr/>
        </p:nvSpPr>
        <p:spPr>
          <a:xfrm>
            <a:off x="822960" y="4663440"/>
            <a:ext cx="2057400" cy="594360"/>
          </a:xfrm>
          <a:prstGeom prst="rect">
            <a:avLst/>
          </a:prstGeom>
          <a:noFill/>
          <a:ln/>
        </p:spPr>
        <p:txBody>
          <a:bodyPr wrap="square" lIns="0" tIns="0" rIns="0" bIns="0" rtlCol="0" anchor="t"/>
          <a:lstStyle/>
          <a:p>
            <a:pPr indent="0" marL="0">
              <a:buNone/>
            </a:pPr>
            <a:r>
              <a:rPr lang="en-US" sz="1400" dirty="0">
                <a:solidFill>
                  <a:srgbClr val="2B2B2B"/>
                </a:solidFill>
                <a:latin typeface="Calibri" pitchFamily="34" charset="0"/>
                <a:ea typeface="Calibri" pitchFamily="34" charset="-122"/>
                <a:cs typeface="Calibri" pitchFamily="34" charset="-120"/>
              </a:rPr>
              <a:t>products across 4 categories</a:t>
            </a:r>
            <a:endParaRPr lang="en-US" sz="1400" dirty="0"/>
          </a:p>
        </p:txBody>
      </p:sp>
      <p:sp>
        <p:nvSpPr>
          <p:cNvPr id="13" name="Shape 11"/>
          <p:cNvSpPr/>
          <p:nvPr/>
        </p:nvSpPr>
        <p:spPr>
          <a:xfrm>
            <a:off x="3291840" y="3657600"/>
            <a:ext cx="2514600" cy="1783080"/>
          </a:xfrm>
          <a:prstGeom prst="roundRect">
            <a:avLst>
              <a:gd name="adj" fmla="val 4103"/>
            </a:avLst>
          </a:prstGeom>
          <a:solidFill>
            <a:srgbClr val="F8F0F9"/>
          </a:solidFill>
          <a:ln w="12700">
            <a:solidFill>
              <a:srgbClr val="F8F0F9"/>
            </a:solidFill>
            <a:prstDash val="solid"/>
          </a:ln>
        </p:spPr>
      </p:sp>
      <p:sp>
        <p:nvSpPr>
          <p:cNvPr id="14" name="Text 12"/>
          <p:cNvSpPr txBox="1"/>
          <p:nvPr/>
        </p:nvSpPr>
        <p:spPr>
          <a:xfrm>
            <a:off x="3566160" y="3886200"/>
            <a:ext cx="2011680" cy="731520"/>
          </a:xfrm>
          <a:prstGeom prst="rect">
            <a:avLst/>
          </a:prstGeom>
          <a:noFill/>
          <a:ln/>
        </p:spPr>
        <p:txBody>
          <a:bodyPr wrap="square" lIns="0" tIns="0" rIns="0" bIns="0" rtlCol="0" anchor="ctr"/>
          <a:lstStyle/>
          <a:p>
            <a:pPr indent="0" marL="0">
              <a:buNone/>
            </a:pPr>
            <a:r>
              <a:rPr lang="en-US" sz="4400" b="1" dirty="0">
                <a:solidFill>
                  <a:srgbClr val="893395"/>
                </a:solidFill>
                <a:latin typeface="Calibri" pitchFamily="34" charset="0"/>
                <a:ea typeface="Calibri" pitchFamily="34" charset="-122"/>
                <a:cs typeface="Calibri" pitchFamily="34" charset="-120"/>
              </a:rPr>
              <a:t>37</a:t>
            </a:r>
            <a:endParaRPr lang="en-US" sz="4400" dirty="0"/>
          </a:p>
        </p:txBody>
      </p:sp>
      <p:sp>
        <p:nvSpPr>
          <p:cNvPr id="15" name="Text 13"/>
          <p:cNvSpPr txBox="1"/>
          <p:nvPr/>
        </p:nvSpPr>
        <p:spPr>
          <a:xfrm>
            <a:off x="3566160" y="4663440"/>
            <a:ext cx="2057400" cy="594360"/>
          </a:xfrm>
          <a:prstGeom prst="rect">
            <a:avLst/>
          </a:prstGeom>
          <a:noFill/>
          <a:ln/>
        </p:spPr>
        <p:txBody>
          <a:bodyPr wrap="square" lIns="0" tIns="0" rIns="0" bIns="0" rtlCol="0" anchor="t"/>
          <a:lstStyle/>
          <a:p>
            <a:pPr indent="0" marL="0">
              <a:buNone/>
            </a:pPr>
            <a:r>
              <a:rPr lang="en-US" sz="1400" dirty="0">
                <a:solidFill>
                  <a:srgbClr val="2B2B2B"/>
                </a:solidFill>
                <a:latin typeface="Calibri" pitchFamily="34" charset="0"/>
                <a:ea typeface="Calibri" pitchFamily="34" charset="-122"/>
                <a:cs typeface="Calibri" pitchFamily="34" charset="-120"/>
              </a:rPr>
              <a:t>missing values (Review Rating only)</a:t>
            </a:r>
            <a:endParaRPr lang="en-US" sz="1400" dirty="0"/>
          </a:p>
        </p:txBody>
      </p:sp>
      <p:sp>
        <p:nvSpPr>
          <p:cNvPr id="16" name="Shape 14"/>
          <p:cNvSpPr/>
          <p:nvPr/>
        </p:nvSpPr>
        <p:spPr>
          <a:xfrm>
            <a:off x="6446520" y="1645920"/>
            <a:ext cx="731520" cy="731520"/>
          </a:xfrm>
          <a:prstGeom prst="ellipse">
            <a:avLst/>
          </a:prstGeom>
          <a:solidFill>
            <a:srgbClr val="893395"/>
          </a:solidFill>
          <a:ln w="12700">
            <a:solidFill>
              <a:srgbClr val="893395"/>
            </a:solidFill>
            <a:prstDash val="solid"/>
          </a:ln>
        </p:spPr>
      </p:sp>
      <p:pic>
        <p:nvPicPr>
          <p:cNvPr id="17" name="Image 0" descr="preencoded.png">    </p:cNvPr>
          <p:cNvPicPr>
            <a:picLocks noChangeAspect="1"/>
          </p:cNvPicPr>
          <p:nvPr/>
        </p:nvPicPr>
        <p:blipFill>
          <a:blip r:embed="rId1"/>
          <a:stretch>
            <a:fillRect/>
          </a:stretch>
        </p:blipFill>
        <p:spPr>
          <a:xfrm>
            <a:off x="6636715" y="1836115"/>
            <a:ext cx="351130" cy="351130"/>
          </a:xfrm>
          <a:prstGeom prst="rect">
            <a:avLst/>
          </a:prstGeom>
        </p:spPr>
      </p:pic>
      <p:sp>
        <p:nvSpPr>
          <p:cNvPr id="18" name="Text 15"/>
          <p:cNvSpPr txBox="1"/>
          <p:nvPr/>
        </p:nvSpPr>
        <p:spPr>
          <a:xfrm>
            <a:off x="7406640" y="1664208"/>
            <a:ext cx="4297680" cy="347472"/>
          </a:xfrm>
          <a:prstGeom prst="rect">
            <a:avLst/>
          </a:prstGeom>
          <a:noFill/>
          <a:ln/>
        </p:spPr>
        <p:txBody>
          <a:bodyPr wrap="square" lIns="0" tIns="0" rIns="0" bIns="0" rtlCol="0" anchor="ctr"/>
          <a:lstStyle/>
          <a:p>
            <a:pPr indent="0" marL="0">
              <a:buNone/>
            </a:pPr>
            <a:r>
              <a:rPr lang="en-US" sz="1800" b="1" dirty="0">
                <a:solidFill>
                  <a:srgbClr val="6B007B"/>
                </a:solidFill>
                <a:latin typeface="Calibri" pitchFamily="34" charset="0"/>
                <a:ea typeface="Calibri" pitchFamily="34" charset="-122"/>
                <a:cs typeface="Calibri" pitchFamily="34" charset="-120"/>
              </a:rPr>
              <a:t>Prepare</a:t>
            </a:r>
            <a:pPr indent="0" marL="0">
              <a:buNone/>
            </a:pPr>
            <a:r>
              <a:rPr lang="en-US" sz="1800" b="1" dirty="0">
                <a:solidFill>
                  <a:srgbClr val="E669B9"/>
                </a:solidFill>
                <a:latin typeface="Calibri" pitchFamily="34" charset="0"/>
                <a:ea typeface="Calibri" pitchFamily="34" charset="-122"/>
                <a:cs typeface="Calibri" pitchFamily="34" charset="-120"/>
              </a:rPr>
              <a:t>   Python (pandas)</a:t>
            </a:r>
            <a:endParaRPr lang="en-US" sz="1800" dirty="0"/>
          </a:p>
        </p:txBody>
      </p:sp>
      <p:sp>
        <p:nvSpPr>
          <p:cNvPr id="19" name="Text 16"/>
          <p:cNvSpPr txBox="1"/>
          <p:nvPr/>
        </p:nvSpPr>
        <p:spPr>
          <a:xfrm>
            <a:off x="7406640" y="2029968"/>
            <a:ext cx="4297680" cy="292608"/>
          </a:xfrm>
          <a:prstGeom prst="rect">
            <a:avLst/>
          </a:prstGeom>
          <a:noFill/>
          <a:ln/>
        </p:spPr>
        <p:txBody>
          <a:bodyPr wrap="square" lIns="0" tIns="0" rIns="0" bIns="0" rtlCol="0" anchor="ctr"/>
          <a:lstStyle/>
          <a:p>
            <a:pPr indent="0" marL="0">
              <a:buNone/>
            </a:pPr>
            <a:r>
              <a:rPr lang="en-US" sz="1400" dirty="0">
                <a:solidFill>
                  <a:srgbClr val="6B6B6B"/>
                </a:solidFill>
                <a:latin typeface="Calibri" pitchFamily="34" charset="0"/>
                <a:ea typeface="Calibri" pitchFamily="34" charset="-122"/>
                <a:cs typeface="Calibri" pitchFamily="34" charset="-120"/>
              </a:rPr>
              <a:t>Clean, fix missing values, add features</a:t>
            </a:r>
            <a:endParaRPr lang="en-US" sz="1400" dirty="0"/>
          </a:p>
        </p:txBody>
      </p:sp>
      <p:sp>
        <p:nvSpPr>
          <p:cNvPr id="20" name="Shape 17"/>
          <p:cNvSpPr/>
          <p:nvPr/>
        </p:nvSpPr>
        <p:spPr>
          <a:xfrm>
            <a:off x="6812280" y="2414016"/>
            <a:ext cx="0" cy="201168"/>
          </a:xfrm>
          <a:prstGeom prst="line">
            <a:avLst/>
          </a:prstGeom>
          <a:noFill/>
          <a:ln w="25400">
            <a:solidFill>
              <a:srgbClr val="F6C9E6"/>
            </a:solidFill>
            <a:prstDash val="solid"/>
          </a:ln>
        </p:spPr>
      </p:sp>
      <p:sp>
        <p:nvSpPr>
          <p:cNvPr id="21" name="Shape 18"/>
          <p:cNvSpPr/>
          <p:nvPr/>
        </p:nvSpPr>
        <p:spPr>
          <a:xfrm>
            <a:off x="6446520" y="2651760"/>
            <a:ext cx="731520" cy="731520"/>
          </a:xfrm>
          <a:prstGeom prst="ellipse">
            <a:avLst/>
          </a:prstGeom>
          <a:solidFill>
            <a:srgbClr val="893395"/>
          </a:solidFill>
          <a:ln w="12700">
            <a:solidFill>
              <a:srgbClr val="893395"/>
            </a:solidFill>
            <a:prstDash val="solid"/>
          </a:ln>
        </p:spPr>
      </p:sp>
      <p:pic>
        <p:nvPicPr>
          <p:cNvPr id="22" name="Image 1" descr="preencoded.png">    </p:cNvPr>
          <p:cNvPicPr>
            <a:picLocks noChangeAspect="1"/>
          </p:cNvPicPr>
          <p:nvPr/>
        </p:nvPicPr>
        <p:blipFill>
          <a:blip r:embed="rId2"/>
          <a:stretch>
            <a:fillRect/>
          </a:stretch>
        </p:blipFill>
        <p:spPr>
          <a:xfrm>
            <a:off x="6636715" y="2841955"/>
            <a:ext cx="351130" cy="351130"/>
          </a:xfrm>
          <a:prstGeom prst="rect">
            <a:avLst/>
          </a:prstGeom>
        </p:spPr>
      </p:pic>
      <p:sp>
        <p:nvSpPr>
          <p:cNvPr id="23" name="Text 19"/>
          <p:cNvSpPr txBox="1"/>
          <p:nvPr/>
        </p:nvSpPr>
        <p:spPr>
          <a:xfrm>
            <a:off x="7406640" y="2670048"/>
            <a:ext cx="4297680" cy="347472"/>
          </a:xfrm>
          <a:prstGeom prst="rect">
            <a:avLst/>
          </a:prstGeom>
          <a:noFill/>
          <a:ln/>
        </p:spPr>
        <p:txBody>
          <a:bodyPr wrap="square" lIns="0" tIns="0" rIns="0" bIns="0" rtlCol="0" anchor="ctr"/>
          <a:lstStyle/>
          <a:p>
            <a:pPr indent="0" marL="0">
              <a:buNone/>
            </a:pPr>
            <a:r>
              <a:rPr lang="en-US" sz="1800" b="1" dirty="0">
                <a:solidFill>
                  <a:srgbClr val="6B007B"/>
                </a:solidFill>
                <a:latin typeface="Calibri" pitchFamily="34" charset="0"/>
                <a:ea typeface="Calibri" pitchFamily="34" charset="-122"/>
                <a:cs typeface="Calibri" pitchFamily="34" charset="-120"/>
              </a:rPr>
              <a:t>Analyse</a:t>
            </a:r>
            <a:pPr indent="0" marL="0">
              <a:buNone/>
            </a:pPr>
            <a:r>
              <a:rPr lang="en-US" sz="1800" b="1" dirty="0">
                <a:solidFill>
                  <a:srgbClr val="E669B9"/>
                </a:solidFill>
                <a:latin typeface="Calibri" pitchFamily="34" charset="0"/>
                <a:ea typeface="Calibri" pitchFamily="34" charset="-122"/>
                <a:cs typeface="Calibri" pitchFamily="34" charset="-120"/>
              </a:rPr>
              <a:t>   SQL (PostgreSQL)</a:t>
            </a:r>
            <a:endParaRPr lang="en-US" sz="1800" dirty="0"/>
          </a:p>
        </p:txBody>
      </p:sp>
      <p:sp>
        <p:nvSpPr>
          <p:cNvPr id="24" name="Text 20"/>
          <p:cNvSpPr txBox="1"/>
          <p:nvPr/>
        </p:nvSpPr>
        <p:spPr>
          <a:xfrm>
            <a:off x="7406640" y="3035808"/>
            <a:ext cx="4297680" cy="292608"/>
          </a:xfrm>
          <a:prstGeom prst="rect">
            <a:avLst/>
          </a:prstGeom>
          <a:noFill/>
          <a:ln/>
        </p:spPr>
        <p:txBody>
          <a:bodyPr wrap="square" lIns="0" tIns="0" rIns="0" bIns="0" rtlCol="0" anchor="ctr"/>
          <a:lstStyle/>
          <a:p>
            <a:pPr indent="0" marL="0">
              <a:buNone/>
            </a:pPr>
            <a:r>
              <a:rPr lang="en-US" sz="1400" dirty="0">
                <a:solidFill>
                  <a:srgbClr val="6B6B6B"/>
                </a:solidFill>
                <a:latin typeface="Calibri" pitchFamily="34" charset="0"/>
                <a:ea typeface="Calibri" pitchFamily="34" charset="-122"/>
                <a:cs typeface="Calibri" pitchFamily="34" charset="-120"/>
              </a:rPr>
              <a:t>Answer 10 business questions</a:t>
            </a:r>
            <a:endParaRPr lang="en-US" sz="1400" dirty="0"/>
          </a:p>
        </p:txBody>
      </p:sp>
      <p:sp>
        <p:nvSpPr>
          <p:cNvPr id="25" name="Shape 21"/>
          <p:cNvSpPr/>
          <p:nvPr/>
        </p:nvSpPr>
        <p:spPr>
          <a:xfrm>
            <a:off x="6812280" y="3419856"/>
            <a:ext cx="0" cy="201168"/>
          </a:xfrm>
          <a:prstGeom prst="line">
            <a:avLst/>
          </a:prstGeom>
          <a:noFill/>
          <a:ln w="25400">
            <a:solidFill>
              <a:srgbClr val="F6C9E6"/>
            </a:solidFill>
            <a:prstDash val="solid"/>
          </a:ln>
        </p:spPr>
      </p:sp>
      <p:sp>
        <p:nvSpPr>
          <p:cNvPr id="26" name="Shape 22"/>
          <p:cNvSpPr/>
          <p:nvPr/>
        </p:nvSpPr>
        <p:spPr>
          <a:xfrm>
            <a:off x="6446520" y="3657600"/>
            <a:ext cx="731520" cy="731520"/>
          </a:xfrm>
          <a:prstGeom prst="ellipse">
            <a:avLst/>
          </a:prstGeom>
          <a:solidFill>
            <a:srgbClr val="893395"/>
          </a:solidFill>
          <a:ln w="12700">
            <a:solidFill>
              <a:srgbClr val="893395"/>
            </a:solidFill>
            <a:prstDash val="solid"/>
          </a:ln>
        </p:spPr>
      </p:sp>
      <p:pic>
        <p:nvPicPr>
          <p:cNvPr id="27" name="Image 2" descr="preencoded.png">    </p:cNvPr>
          <p:cNvPicPr>
            <a:picLocks noChangeAspect="1"/>
          </p:cNvPicPr>
          <p:nvPr/>
        </p:nvPicPr>
        <p:blipFill>
          <a:blip r:embed="rId3"/>
          <a:stretch>
            <a:fillRect/>
          </a:stretch>
        </p:blipFill>
        <p:spPr>
          <a:xfrm>
            <a:off x="6636715" y="3847795"/>
            <a:ext cx="351130" cy="351130"/>
          </a:xfrm>
          <a:prstGeom prst="rect">
            <a:avLst/>
          </a:prstGeom>
        </p:spPr>
      </p:pic>
      <p:sp>
        <p:nvSpPr>
          <p:cNvPr id="28" name="Text 23"/>
          <p:cNvSpPr txBox="1"/>
          <p:nvPr/>
        </p:nvSpPr>
        <p:spPr>
          <a:xfrm>
            <a:off x="7406640" y="3675888"/>
            <a:ext cx="4297680" cy="347472"/>
          </a:xfrm>
          <a:prstGeom prst="rect">
            <a:avLst/>
          </a:prstGeom>
          <a:noFill/>
          <a:ln/>
        </p:spPr>
        <p:txBody>
          <a:bodyPr wrap="square" lIns="0" tIns="0" rIns="0" bIns="0" rtlCol="0" anchor="ctr"/>
          <a:lstStyle/>
          <a:p>
            <a:pPr indent="0" marL="0">
              <a:buNone/>
            </a:pPr>
            <a:r>
              <a:rPr lang="en-US" sz="1800" b="1" dirty="0">
                <a:solidFill>
                  <a:srgbClr val="6B007B"/>
                </a:solidFill>
                <a:latin typeface="Calibri" pitchFamily="34" charset="0"/>
                <a:ea typeface="Calibri" pitchFamily="34" charset="-122"/>
                <a:cs typeface="Calibri" pitchFamily="34" charset="-120"/>
              </a:rPr>
              <a:t>Visualise</a:t>
            </a:r>
            <a:pPr indent="0" marL="0">
              <a:buNone/>
            </a:pPr>
            <a:r>
              <a:rPr lang="en-US" sz="1800" b="1" dirty="0">
                <a:solidFill>
                  <a:srgbClr val="E669B9"/>
                </a:solidFill>
                <a:latin typeface="Calibri" pitchFamily="34" charset="0"/>
                <a:ea typeface="Calibri" pitchFamily="34" charset="-122"/>
                <a:cs typeface="Calibri" pitchFamily="34" charset="-120"/>
              </a:rPr>
              <a:t>   Power BI</a:t>
            </a:r>
            <a:endParaRPr lang="en-US" sz="1800" dirty="0"/>
          </a:p>
        </p:txBody>
      </p:sp>
      <p:sp>
        <p:nvSpPr>
          <p:cNvPr id="29" name="Text 24"/>
          <p:cNvSpPr txBox="1"/>
          <p:nvPr/>
        </p:nvSpPr>
        <p:spPr>
          <a:xfrm>
            <a:off x="7406640" y="4041648"/>
            <a:ext cx="4297680" cy="292608"/>
          </a:xfrm>
          <a:prstGeom prst="rect">
            <a:avLst/>
          </a:prstGeom>
          <a:noFill/>
          <a:ln/>
        </p:spPr>
        <p:txBody>
          <a:bodyPr wrap="square" lIns="0" tIns="0" rIns="0" bIns="0" rtlCol="0" anchor="ctr"/>
          <a:lstStyle/>
          <a:p>
            <a:pPr indent="0" marL="0">
              <a:buNone/>
            </a:pPr>
            <a:r>
              <a:rPr lang="en-US" sz="1400" dirty="0">
                <a:solidFill>
                  <a:srgbClr val="6B6B6B"/>
                </a:solidFill>
                <a:latin typeface="Calibri" pitchFamily="34" charset="0"/>
                <a:ea typeface="Calibri" pitchFamily="34" charset="-122"/>
                <a:cs typeface="Calibri" pitchFamily="34" charset="-120"/>
              </a:rPr>
              <a:t>Interactive dashboard with slicers</a:t>
            </a:r>
            <a:endParaRPr lang="en-US" sz="1400" dirty="0"/>
          </a:p>
        </p:txBody>
      </p:sp>
      <p:sp>
        <p:nvSpPr>
          <p:cNvPr id="30" name="Shape 25"/>
          <p:cNvSpPr/>
          <p:nvPr/>
        </p:nvSpPr>
        <p:spPr>
          <a:xfrm>
            <a:off x="6812280" y="4425696"/>
            <a:ext cx="0" cy="201168"/>
          </a:xfrm>
          <a:prstGeom prst="line">
            <a:avLst/>
          </a:prstGeom>
          <a:noFill/>
          <a:ln w="25400">
            <a:solidFill>
              <a:srgbClr val="F6C9E6"/>
            </a:solidFill>
            <a:prstDash val="solid"/>
          </a:ln>
        </p:spPr>
      </p:sp>
      <p:sp>
        <p:nvSpPr>
          <p:cNvPr id="31" name="Shape 26"/>
          <p:cNvSpPr/>
          <p:nvPr/>
        </p:nvSpPr>
        <p:spPr>
          <a:xfrm>
            <a:off x="6446520" y="4663440"/>
            <a:ext cx="731520" cy="731520"/>
          </a:xfrm>
          <a:prstGeom prst="ellipse">
            <a:avLst/>
          </a:prstGeom>
          <a:solidFill>
            <a:srgbClr val="E669B9"/>
          </a:solidFill>
          <a:ln w="12700">
            <a:solidFill>
              <a:srgbClr val="E669B9"/>
            </a:solidFill>
            <a:prstDash val="solid"/>
          </a:ln>
        </p:spPr>
      </p:sp>
      <p:pic>
        <p:nvPicPr>
          <p:cNvPr id="32" name="Image 3" descr="preencoded.png">    </p:cNvPr>
          <p:cNvPicPr>
            <a:picLocks noChangeAspect="1"/>
          </p:cNvPicPr>
          <p:nvPr/>
        </p:nvPicPr>
        <p:blipFill>
          <a:blip r:embed="rId4"/>
          <a:stretch>
            <a:fillRect/>
          </a:stretch>
        </p:blipFill>
        <p:spPr>
          <a:xfrm>
            <a:off x="6636715" y="4853635"/>
            <a:ext cx="351130" cy="351130"/>
          </a:xfrm>
          <a:prstGeom prst="rect">
            <a:avLst/>
          </a:prstGeom>
        </p:spPr>
      </p:pic>
      <p:sp>
        <p:nvSpPr>
          <p:cNvPr id="33" name="Text 27"/>
          <p:cNvSpPr txBox="1"/>
          <p:nvPr/>
        </p:nvSpPr>
        <p:spPr>
          <a:xfrm>
            <a:off x="7406640" y="4681728"/>
            <a:ext cx="4297680" cy="347472"/>
          </a:xfrm>
          <a:prstGeom prst="rect">
            <a:avLst/>
          </a:prstGeom>
          <a:noFill/>
          <a:ln/>
        </p:spPr>
        <p:txBody>
          <a:bodyPr wrap="square" lIns="0" tIns="0" rIns="0" bIns="0" rtlCol="0" anchor="ctr"/>
          <a:lstStyle/>
          <a:p>
            <a:pPr indent="0" marL="0">
              <a:buNone/>
            </a:pPr>
            <a:r>
              <a:rPr lang="en-US" sz="1800" b="1" dirty="0">
                <a:solidFill>
                  <a:srgbClr val="6B007B"/>
                </a:solidFill>
                <a:latin typeface="Calibri" pitchFamily="34" charset="0"/>
                <a:ea typeface="Calibri" pitchFamily="34" charset="-122"/>
                <a:cs typeface="Calibri" pitchFamily="34" charset="-120"/>
              </a:rPr>
              <a:t>Communicate</a:t>
            </a:r>
            <a:pPr indent="0" marL="0">
              <a:buNone/>
            </a:pPr>
            <a:r>
              <a:rPr lang="en-US" sz="1800" b="1" dirty="0">
                <a:solidFill>
                  <a:srgbClr val="E669B9"/>
                </a:solidFill>
                <a:latin typeface="Calibri" pitchFamily="34" charset="0"/>
                <a:ea typeface="Calibri" pitchFamily="34" charset="-122"/>
                <a:cs typeface="Calibri" pitchFamily="34" charset="-120"/>
              </a:rPr>
              <a:t>   Report and deck</a:t>
            </a:r>
            <a:endParaRPr lang="en-US" sz="1800" dirty="0"/>
          </a:p>
        </p:txBody>
      </p:sp>
      <p:sp>
        <p:nvSpPr>
          <p:cNvPr id="34" name="Text 28"/>
          <p:cNvSpPr txBox="1"/>
          <p:nvPr/>
        </p:nvSpPr>
        <p:spPr>
          <a:xfrm>
            <a:off x="7406640" y="5047488"/>
            <a:ext cx="4297680" cy="292608"/>
          </a:xfrm>
          <a:prstGeom prst="rect">
            <a:avLst/>
          </a:prstGeom>
          <a:noFill/>
          <a:ln/>
        </p:spPr>
        <p:txBody>
          <a:bodyPr wrap="square" lIns="0" tIns="0" rIns="0" bIns="0" rtlCol="0" anchor="ctr"/>
          <a:lstStyle/>
          <a:p>
            <a:pPr indent="0" marL="0">
              <a:buNone/>
            </a:pPr>
            <a:r>
              <a:rPr lang="en-US" sz="1400" dirty="0">
                <a:solidFill>
                  <a:srgbClr val="6B6B6B"/>
                </a:solidFill>
                <a:latin typeface="Calibri" pitchFamily="34" charset="0"/>
                <a:ea typeface="Calibri" pitchFamily="34" charset="-122"/>
                <a:cs typeface="Calibri" pitchFamily="34" charset="-120"/>
              </a:rPr>
              <a:t>Findings and recommendations</a:t>
            </a:r>
            <a:endParaRPr lang="en-US" sz="1400" dirty="0"/>
          </a:p>
        </p:txBody>
      </p:sp>
      <p:sp>
        <p:nvSpPr>
          <p:cNvPr id="35" name="Text 29"/>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Customer Shopping Behaviour Analysis</a:t>
            </a:r>
            <a:endParaRPr lang="en-US" sz="1000" dirty="0"/>
          </a:p>
        </p:txBody>
      </p:sp>
      <p:sp>
        <p:nvSpPr>
          <p:cNvPr id="36" name="Text 30"/>
          <p:cNvSpPr txBox="1"/>
          <p:nvPr/>
        </p:nvSpPr>
        <p:spPr>
          <a:xfrm>
            <a:off x="10728655" y="6419088"/>
            <a:ext cx="9144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E669B9"/>
                </a:solidFill>
                <a:latin typeface="Calibri" pitchFamily="34" charset="0"/>
                <a:ea typeface="Calibri" pitchFamily="34" charset="-122"/>
                <a:cs typeface="Calibri" pitchFamily="34" charset="-120"/>
              </a:rPr>
              <a:t>STEP 1 · PYTHON</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3000" b="1" dirty="0">
                <a:solidFill>
                  <a:srgbClr val="6B007B"/>
                </a:solidFill>
                <a:latin typeface="Calibri" pitchFamily="34" charset="0"/>
                <a:ea typeface="Calibri" pitchFamily="34" charset="-122"/>
                <a:cs typeface="Calibri" pitchFamily="34" charset="-120"/>
              </a:rPr>
              <a:t>Preparing the data for analysis</a:t>
            </a:r>
            <a:endParaRPr lang="en-US" sz="3000" dirty="0"/>
          </a:p>
        </p:txBody>
      </p:sp>
      <p:sp>
        <p:nvSpPr>
          <p:cNvPr id="4" name="Shape 2"/>
          <p:cNvSpPr/>
          <p:nvPr/>
        </p:nvSpPr>
        <p:spPr>
          <a:xfrm>
            <a:off x="548640" y="1645920"/>
            <a:ext cx="3520440" cy="1645920"/>
          </a:xfrm>
          <a:prstGeom prst="roundRect">
            <a:avLst>
              <a:gd name="adj" fmla="val 4444"/>
            </a:avLst>
          </a:prstGeom>
          <a:solidFill>
            <a:srgbClr val="F8F0F9"/>
          </a:solidFill>
          <a:ln w="12700">
            <a:solidFill>
              <a:srgbClr val="F8F0F9"/>
            </a:solidFill>
            <a:prstDash val="solid"/>
          </a:ln>
        </p:spPr>
      </p:sp>
      <p:sp>
        <p:nvSpPr>
          <p:cNvPr id="5" name="Shape 3"/>
          <p:cNvSpPr/>
          <p:nvPr/>
        </p:nvSpPr>
        <p:spPr>
          <a:xfrm>
            <a:off x="777240" y="1874520"/>
            <a:ext cx="548640" cy="548640"/>
          </a:xfrm>
          <a:prstGeom prst="ellipse">
            <a:avLst/>
          </a:prstGeom>
          <a:solidFill>
            <a:srgbClr val="893395"/>
          </a:solidFill>
          <a:ln w="12700">
            <a:solidFill>
              <a:srgbClr val="893395"/>
            </a:solidFill>
            <a:prstDash val="solid"/>
          </a:ln>
        </p:spPr>
      </p:sp>
      <p:pic>
        <p:nvPicPr>
          <p:cNvPr id="6" name="Image 0" descr="preencoded.png">    </p:cNvPr>
          <p:cNvPicPr>
            <a:picLocks noChangeAspect="1"/>
          </p:cNvPicPr>
          <p:nvPr/>
        </p:nvPicPr>
        <p:blipFill>
          <a:blip r:embed="rId1"/>
          <a:stretch>
            <a:fillRect/>
          </a:stretch>
        </p:blipFill>
        <p:spPr>
          <a:xfrm>
            <a:off x="919886" y="2017166"/>
            <a:ext cx="263347" cy="263347"/>
          </a:xfrm>
          <a:prstGeom prst="rect">
            <a:avLst/>
          </a:prstGeom>
        </p:spPr>
      </p:pic>
      <p:sp>
        <p:nvSpPr>
          <p:cNvPr id="7" name="Text 4"/>
          <p:cNvSpPr txBox="1"/>
          <p:nvPr/>
        </p:nvSpPr>
        <p:spPr>
          <a:xfrm>
            <a:off x="3291840" y="1874520"/>
            <a:ext cx="548640" cy="320040"/>
          </a:xfrm>
          <a:prstGeom prst="rect">
            <a:avLst/>
          </a:prstGeom>
          <a:noFill/>
          <a:ln/>
        </p:spPr>
        <p:txBody>
          <a:bodyPr wrap="square" lIns="0" tIns="0" rIns="0" bIns="0" rtlCol="0" anchor="ctr"/>
          <a:lstStyle/>
          <a:p>
            <a:pPr algn="r" indent="0" marL="0">
              <a:buNone/>
            </a:pPr>
            <a:r>
              <a:rPr lang="en-US" sz="1400" b="1" dirty="0">
                <a:solidFill>
                  <a:srgbClr val="E669B9"/>
                </a:solidFill>
                <a:latin typeface="Calibri" pitchFamily="34" charset="0"/>
                <a:ea typeface="Calibri" pitchFamily="34" charset="-122"/>
                <a:cs typeface="Calibri" pitchFamily="34" charset="-120"/>
              </a:rPr>
              <a:t>01</a:t>
            </a:r>
            <a:endParaRPr lang="en-US" sz="1400" dirty="0"/>
          </a:p>
        </p:txBody>
      </p:sp>
      <p:sp>
        <p:nvSpPr>
          <p:cNvPr id="8" name="Text 5"/>
          <p:cNvSpPr txBox="1"/>
          <p:nvPr/>
        </p:nvSpPr>
        <p:spPr>
          <a:xfrm>
            <a:off x="777240" y="2514600"/>
            <a:ext cx="3108960" cy="320040"/>
          </a:xfrm>
          <a:prstGeom prst="rect">
            <a:avLst/>
          </a:prstGeom>
          <a:noFill/>
          <a:ln/>
        </p:spPr>
        <p:txBody>
          <a:bodyPr wrap="square" lIns="0" tIns="0" rIns="0" bIns="0" rtlCol="0" anchor="ctr"/>
          <a:lstStyle/>
          <a:p>
            <a:pPr indent="0" marL="0">
              <a:buNone/>
            </a:pPr>
            <a:r>
              <a:rPr lang="en-US" sz="1700" b="1" dirty="0">
                <a:solidFill>
                  <a:srgbClr val="6B007B"/>
                </a:solidFill>
                <a:latin typeface="Calibri" pitchFamily="34" charset="0"/>
                <a:ea typeface="Calibri" pitchFamily="34" charset="-122"/>
                <a:cs typeface="Calibri" pitchFamily="34" charset="-120"/>
              </a:rPr>
              <a:t>Fill missing ratings</a:t>
            </a:r>
            <a:endParaRPr lang="en-US" sz="1700" dirty="0"/>
          </a:p>
        </p:txBody>
      </p:sp>
      <p:sp>
        <p:nvSpPr>
          <p:cNvPr id="9" name="Text 6"/>
          <p:cNvSpPr txBox="1"/>
          <p:nvPr/>
        </p:nvSpPr>
        <p:spPr>
          <a:xfrm>
            <a:off x="777240" y="2834640"/>
            <a:ext cx="3108960" cy="411480"/>
          </a:xfrm>
          <a:prstGeom prst="rect">
            <a:avLst/>
          </a:prstGeom>
          <a:noFill/>
          <a:ln/>
        </p:spPr>
        <p:txBody>
          <a:bodyPr wrap="square" lIns="0" tIns="0" rIns="0" bIns="0" rtlCol="0" anchor="t"/>
          <a:lstStyle/>
          <a:p>
            <a:pPr indent="0" marL="0">
              <a:buNone/>
            </a:pPr>
            <a:r>
              <a:rPr lang="en-US" sz="1300" dirty="0">
                <a:solidFill>
                  <a:srgbClr val="6B6B6B"/>
                </a:solidFill>
                <a:latin typeface="Calibri" pitchFamily="34" charset="0"/>
                <a:ea typeface="Calibri" pitchFamily="34" charset="-122"/>
                <a:cs typeface="Calibri" pitchFamily="34" charset="-120"/>
              </a:rPr>
              <a:t>37 gaps filled with the median rating of the same category</a:t>
            </a:r>
            <a:endParaRPr lang="en-US" sz="1300" dirty="0"/>
          </a:p>
        </p:txBody>
      </p:sp>
      <p:sp>
        <p:nvSpPr>
          <p:cNvPr id="10" name="Shape 7"/>
          <p:cNvSpPr/>
          <p:nvPr/>
        </p:nvSpPr>
        <p:spPr>
          <a:xfrm>
            <a:off x="4297680" y="1645920"/>
            <a:ext cx="3520440" cy="1645920"/>
          </a:xfrm>
          <a:prstGeom prst="roundRect">
            <a:avLst>
              <a:gd name="adj" fmla="val 4444"/>
            </a:avLst>
          </a:prstGeom>
          <a:solidFill>
            <a:srgbClr val="F8F0F9"/>
          </a:solidFill>
          <a:ln w="12700">
            <a:solidFill>
              <a:srgbClr val="F8F0F9"/>
            </a:solidFill>
            <a:prstDash val="solid"/>
          </a:ln>
        </p:spPr>
      </p:sp>
      <p:sp>
        <p:nvSpPr>
          <p:cNvPr id="11" name="Shape 8"/>
          <p:cNvSpPr/>
          <p:nvPr/>
        </p:nvSpPr>
        <p:spPr>
          <a:xfrm>
            <a:off x="4526280" y="1874520"/>
            <a:ext cx="548640" cy="548640"/>
          </a:xfrm>
          <a:prstGeom prst="ellipse">
            <a:avLst/>
          </a:prstGeom>
          <a:solidFill>
            <a:srgbClr val="893395"/>
          </a:solidFill>
          <a:ln w="12700">
            <a:solidFill>
              <a:srgbClr val="893395"/>
            </a:solidFill>
            <a:prstDash val="solid"/>
          </a:ln>
        </p:spPr>
      </p:sp>
      <p:pic>
        <p:nvPicPr>
          <p:cNvPr id="12" name="Image 1" descr="preencoded.png">    </p:cNvPr>
          <p:cNvPicPr>
            <a:picLocks noChangeAspect="1"/>
          </p:cNvPicPr>
          <p:nvPr/>
        </p:nvPicPr>
        <p:blipFill>
          <a:blip r:embed="rId2"/>
          <a:stretch>
            <a:fillRect/>
          </a:stretch>
        </p:blipFill>
        <p:spPr>
          <a:xfrm>
            <a:off x="4668926" y="2017166"/>
            <a:ext cx="263347" cy="263347"/>
          </a:xfrm>
          <a:prstGeom prst="rect">
            <a:avLst/>
          </a:prstGeom>
        </p:spPr>
      </p:pic>
      <p:sp>
        <p:nvSpPr>
          <p:cNvPr id="13" name="Text 9"/>
          <p:cNvSpPr txBox="1"/>
          <p:nvPr/>
        </p:nvSpPr>
        <p:spPr>
          <a:xfrm>
            <a:off x="7040880" y="1874520"/>
            <a:ext cx="548640" cy="320040"/>
          </a:xfrm>
          <a:prstGeom prst="rect">
            <a:avLst/>
          </a:prstGeom>
          <a:noFill/>
          <a:ln/>
        </p:spPr>
        <p:txBody>
          <a:bodyPr wrap="square" lIns="0" tIns="0" rIns="0" bIns="0" rtlCol="0" anchor="ctr"/>
          <a:lstStyle/>
          <a:p>
            <a:pPr algn="r" indent="0" marL="0">
              <a:buNone/>
            </a:pPr>
            <a:r>
              <a:rPr lang="en-US" sz="1400" b="1" dirty="0">
                <a:solidFill>
                  <a:srgbClr val="E669B9"/>
                </a:solidFill>
                <a:latin typeface="Calibri" pitchFamily="34" charset="0"/>
                <a:ea typeface="Calibri" pitchFamily="34" charset="-122"/>
                <a:cs typeface="Calibri" pitchFamily="34" charset="-120"/>
              </a:rPr>
              <a:t>02</a:t>
            </a:r>
            <a:endParaRPr lang="en-US" sz="1400" dirty="0"/>
          </a:p>
        </p:txBody>
      </p:sp>
      <p:sp>
        <p:nvSpPr>
          <p:cNvPr id="14" name="Text 10"/>
          <p:cNvSpPr txBox="1"/>
          <p:nvPr/>
        </p:nvSpPr>
        <p:spPr>
          <a:xfrm>
            <a:off x="4526280" y="2514600"/>
            <a:ext cx="3108960" cy="320040"/>
          </a:xfrm>
          <a:prstGeom prst="rect">
            <a:avLst/>
          </a:prstGeom>
          <a:noFill/>
          <a:ln/>
        </p:spPr>
        <p:txBody>
          <a:bodyPr wrap="square" lIns="0" tIns="0" rIns="0" bIns="0" rtlCol="0" anchor="ctr"/>
          <a:lstStyle/>
          <a:p>
            <a:pPr indent="0" marL="0">
              <a:buNone/>
            </a:pPr>
            <a:r>
              <a:rPr lang="en-US" sz="1700" b="1" dirty="0">
                <a:solidFill>
                  <a:srgbClr val="6B007B"/>
                </a:solidFill>
                <a:latin typeface="Calibri" pitchFamily="34" charset="0"/>
                <a:ea typeface="Calibri" pitchFamily="34" charset="-122"/>
                <a:cs typeface="Calibri" pitchFamily="34" charset="-120"/>
              </a:rPr>
              <a:t>Standardise names</a:t>
            </a:r>
            <a:endParaRPr lang="en-US" sz="1700" dirty="0"/>
          </a:p>
        </p:txBody>
      </p:sp>
      <p:sp>
        <p:nvSpPr>
          <p:cNvPr id="15" name="Text 11"/>
          <p:cNvSpPr txBox="1"/>
          <p:nvPr/>
        </p:nvSpPr>
        <p:spPr>
          <a:xfrm>
            <a:off x="4526280" y="2834640"/>
            <a:ext cx="3108960" cy="411480"/>
          </a:xfrm>
          <a:prstGeom prst="rect">
            <a:avLst/>
          </a:prstGeom>
          <a:noFill/>
          <a:ln/>
        </p:spPr>
        <p:txBody>
          <a:bodyPr wrap="square" lIns="0" tIns="0" rIns="0" bIns="0" rtlCol="0" anchor="t"/>
          <a:lstStyle/>
          <a:p>
            <a:pPr indent="0" marL="0">
              <a:buNone/>
            </a:pPr>
            <a:r>
              <a:rPr lang="en-US" sz="1300" dirty="0">
                <a:solidFill>
                  <a:srgbClr val="6B6B6B"/>
                </a:solidFill>
                <a:latin typeface="Calibri" pitchFamily="34" charset="0"/>
                <a:ea typeface="Calibri" pitchFamily="34" charset="-122"/>
                <a:cs typeface="Calibri" pitchFamily="34" charset="-120"/>
              </a:rPr>
              <a:t>Columns renamed to snake_case for easy SQL</a:t>
            </a:r>
            <a:endParaRPr lang="en-US" sz="1300" dirty="0"/>
          </a:p>
        </p:txBody>
      </p:sp>
      <p:sp>
        <p:nvSpPr>
          <p:cNvPr id="16" name="Shape 12"/>
          <p:cNvSpPr/>
          <p:nvPr/>
        </p:nvSpPr>
        <p:spPr>
          <a:xfrm>
            <a:off x="8046720" y="1645920"/>
            <a:ext cx="3520440" cy="1645920"/>
          </a:xfrm>
          <a:prstGeom prst="roundRect">
            <a:avLst>
              <a:gd name="adj" fmla="val 4444"/>
            </a:avLst>
          </a:prstGeom>
          <a:solidFill>
            <a:srgbClr val="F8F0F9"/>
          </a:solidFill>
          <a:ln w="12700">
            <a:solidFill>
              <a:srgbClr val="F8F0F9"/>
            </a:solidFill>
            <a:prstDash val="solid"/>
          </a:ln>
        </p:spPr>
      </p:sp>
      <p:sp>
        <p:nvSpPr>
          <p:cNvPr id="17" name="Shape 13"/>
          <p:cNvSpPr/>
          <p:nvPr/>
        </p:nvSpPr>
        <p:spPr>
          <a:xfrm>
            <a:off x="8275320" y="1874520"/>
            <a:ext cx="548640" cy="548640"/>
          </a:xfrm>
          <a:prstGeom prst="ellipse">
            <a:avLst/>
          </a:prstGeom>
          <a:solidFill>
            <a:srgbClr val="893395"/>
          </a:solidFill>
          <a:ln w="12700">
            <a:solidFill>
              <a:srgbClr val="893395"/>
            </a:solidFill>
            <a:prstDash val="solid"/>
          </a:ln>
        </p:spPr>
      </p:sp>
      <p:pic>
        <p:nvPicPr>
          <p:cNvPr id="18" name="Image 2" descr="preencoded.png">    </p:cNvPr>
          <p:cNvPicPr>
            <a:picLocks noChangeAspect="1"/>
          </p:cNvPicPr>
          <p:nvPr/>
        </p:nvPicPr>
        <p:blipFill>
          <a:blip r:embed="rId3"/>
          <a:stretch>
            <a:fillRect/>
          </a:stretch>
        </p:blipFill>
        <p:spPr>
          <a:xfrm>
            <a:off x="8417966" y="2017166"/>
            <a:ext cx="263347" cy="263347"/>
          </a:xfrm>
          <a:prstGeom prst="rect">
            <a:avLst/>
          </a:prstGeom>
        </p:spPr>
      </p:pic>
      <p:sp>
        <p:nvSpPr>
          <p:cNvPr id="19" name="Text 14"/>
          <p:cNvSpPr txBox="1"/>
          <p:nvPr/>
        </p:nvSpPr>
        <p:spPr>
          <a:xfrm>
            <a:off x="10789920" y="1874520"/>
            <a:ext cx="548640" cy="320040"/>
          </a:xfrm>
          <a:prstGeom prst="rect">
            <a:avLst/>
          </a:prstGeom>
          <a:noFill/>
          <a:ln/>
        </p:spPr>
        <p:txBody>
          <a:bodyPr wrap="square" lIns="0" tIns="0" rIns="0" bIns="0" rtlCol="0" anchor="ctr"/>
          <a:lstStyle/>
          <a:p>
            <a:pPr algn="r" indent="0" marL="0">
              <a:buNone/>
            </a:pPr>
            <a:r>
              <a:rPr lang="en-US" sz="1400" b="1" dirty="0">
                <a:solidFill>
                  <a:srgbClr val="E669B9"/>
                </a:solidFill>
                <a:latin typeface="Calibri" pitchFamily="34" charset="0"/>
                <a:ea typeface="Calibri" pitchFamily="34" charset="-122"/>
                <a:cs typeface="Calibri" pitchFamily="34" charset="-120"/>
              </a:rPr>
              <a:t>03</a:t>
            </a:r>
            <a:endParaRPr lang="en-US" sz="1400" dirty="0"/>
          </a:p>
        </p:txBody>
      </p:sp>
      <p:sp>
        <p:nvSpPr>
          <p:cNvPr id="20" name="Text 15"/>
          <p:cNvSpPr txBox="1"/>
          <p:nvPr/>
        </p:nvSpPr>
        <p:spPr>
          <a:xfrm>
            <a:off x="8275320" y="2514600"/>
            <a:ext cx="3108960" cy="320040"/>
          </a:xfrm>
          <a:prstGeom prst="rect">
            <a:avLst/>
          </a:prstGeom>
          <a:noFill/>
          <a:ln/>
        </p:spPr>
        <p:txBody>
          <a:bodyPr wrap="square" lIns="0" tIns="0" rIns="0" bIns="0" rtlCol="0" anchor="ctr"/>
          <a:lstStyle/>
          <a:p>
            <a:pPr indent="0" marL="0">
              <a:buNone/>
            </a:pPr>
            <a:r>
              <a:rPr lang="en-US" sz="1700" b="1" dirty="0">
                <a:solidFill>
                  <a:srgbClr val="6B007B"/>
                </a:solidFill>
                <a:latin typeface="Calibri" pitchFamily="34" charset="0"/>
                <a:ea typeface="Calibri" pitchFamily="34" charset="-122"/>
                <a:cs typeface="Calibri" pitchFamily="34" charset="-120"/>
              </a:rPr>
              <a:t>Add age groups</a:t>
            </a:r>
            <a:endParaRPr lang="en-US" sz="1700" dirty="0"/>
          </a:p>
        </p:txBody>
      </p:sp>
      <p:sp>
        <p:nvSpPr>
          <p:cNvPr id="21" name="Text 16"/>
          <p:cNvSpPr txBox="1"/>
          <p:nvPr/>
        </p:nvSpPr>
        <p:spPr>
          <a:xfrm>
            <a:off x="8275320" y="2834640"/>
            <a:ext cx="3108960" cy="411480"/>
          </a:xfrm>
          <a:prstGeom prst="rect">
            <a:avLst/>
          </a:prstGeom>
          <a:noFill/>
          <a:ln/>
        </p:spPr>
        <p:txBody>
          <a:bodyPr wrap="square" lIns="0" tIns="0" rIns="0" bIns="0" rtlCol="0" anchor="t"/>
          <a:lstStyle/>
          <a:p>
            <a:pPr indent="0" marL="0">
              <a:buNone/>
            </a:pPr>
            <a:r>
              <a:rPr lang="en-US" sz="1300" dirty="0">
                <a:solidFill>
                  <a:srgbClr val="6B6B6B"/>
                </a:solidFill>
                <a:latin typeface="Calibri" pitchFamily="34" charset="0"/>
                <a:ea typeface="Calibri" pitchFamily="34" charset="-122"/>
                <a:cs typeface="Calibri" pitchFamily="34" charset="-120"/>
              </a:rPr>
              <a:t>Young Adult, Adult, Middle-aged, Senior (quartiles)</a:t>
            </a:r>
            <a:endParaRPr lang="en-US" sz="1300" dirty="0"/>
          </a:p>
        </p:txBody>
      </p:sp>
      <p:sp>
        <p:nvSpPr>
          <p:cNvPr id="22" name="Shape 17"/>
          <p:cNvSpPr/>
          <p:nvPr/>
        </p:nvSpPr>
        <p:spPr>
          <a:xfrm>
            <a:off x="548640" y="3520440"/>
            <a:ext cx="3520440" cy="1645920"/>
          </a:xfrm>
          <a:prstGeom prst="roundRect">
            <a:avLst>
              <a:gd name="adj" fmla="val 4444"/>
            </a:avLst>
          </a:prstGeom>
          <a:solidFill>
            <a:srgbClr val="F8F0F9"/>
          </a:solidFill>
          <a:ln w="12700">
            <a:solidFill>
              <a:srgbClr val="F8F0F9"/>
            </a:solidFill>
            <a:prstDash val="solid"/>
          </a:ln>
        </p:spPr>
      </p:sp>
      <p:sp>
        <p:nvSpPr>
          <p:cNvPr id="23" name="Shape 18"/>
          <p:cNvSpPr/>
          <p:nvPr/>
        </p:nvSpPr>
        <p:spPr>
          <a:xfrm>
            <a:off x="777240" y="3749040"/>
            <a:ext cx="548640" cy="548640"/>
          </a:xfrm>
          <a:prstGeom prst="ellipse">
            <a:avLst/>
          </a:prstGeom>
          <a:solidFill>
            <a:srgbClr val="893395"/>
          </a:solidFill>
          <a:ln w="12700">
            <a:solidFill>
              <a:srgbClr val="893395"/>
            </a:solidFill>
            <a:prstDash val="solid"/>
          </a:ln>
        </p:spPr>
      </p:sp>
      <p:pic>
        <p:nvPicPr>
          <p:cNvPr id="24" name="Image 3" descr="preencoded.png">    </p:cNvPr>
          <p:cNvPicPr>
            <a:picLocks noChangeAspect="1"/>
          </p:cNvPicPr>
          <p:nvPr/>
        </p:nvPicPr>
        <p:blipFill>
          <a:blip r:embed="rId4"/>
          <a:stretch>
            <a:fillRect/>
          </a:stretch>
        </p:blipFill>
        <p:spPr>
          <a:xfrm>
            <a:off x="919886" y="3891686"/>
            <a:ext cx="263347" cy="263347"/>
          </a:xfrm>
          <a:prstGeom prst="rect">
            <a:avLst/>
          </a:prstGeom>
        </p:spPr>
      </p:pic>
      <p:sp>
        <p:nvSpPr>
          <p:cNvPr id="25" name="Text 19"/>
          <p:cNvSpPr txBox="1"/>
          <p:nvPr/>
        </p:nvSpPr>
        <p:spPr>
          <a:xfrm>
            <a:off x="3291840" y="3749040"/>
            <a:ext cx="548640" cy="320040"/>
          </a:xfrm>
          <a:prstGeom prst="rect">
            <a:avLst/>
          </a:prstGeom>
          <a:noFill/>
          <a:ln/>
        </p:spPr>
        <p:txBody>
          <a:bodyPr wrap="square" lIns="0" tIns="0" rIns="0" bIns="0" rtlCol="0" anchor="ctr"/>
          <a:lstStyle/>
          <a:p>
            <a:pPr algn="r" indent="0" marL="0">
              <a:buNone/>
            </a:pPr>
            <a:r>
              <a:rPr lang="en-US" sz="1400" b="1" dirty="0">
                <a:solidFill>
                  <a:srgbClr val="E669B9"/>
                </a:solidFill>
                <a:latin typeface="Calibri" pitchFamily="34" charset="0"/>
                <a:ea typeface="Calibri" pitchFamily="34" charset="-122"/>
                <a:cs typeface="Calibri" pitchFamily="34" charset="-120"/>
              </a:rPr>
              <a:t>04</a:t>
            </a:r>
            <a:endParaRPr lang="en-US" sz="1400" dirty="0"/>
          </a:p>
        </p:txBody>
      </p:sp>
      <p:sp>
        <p:nvSpPr>
          <p:cNvPr id="26" name="Text 20"/>
          <p:cNvSpPr txBox="1"/>
          <p:nvPr/>
        </p:nvSpPr>
        <p:spPr>
          <a:xfrm>
            <a:off x="777240" y="4389120"/>
            <a:ext cx="3108960" cy="320040"/>
          </a:xfrm>
          <a:prstGeom prst="rect">
            <a:avLst/>
          </a:prstGeom>
          <a:noFill/>
          <a:ln/>
        </p:spPr>
        <p:txBody>
          <a:bodyPr wrap="square" lIns="0" tIns="0" rIns="0" bIns="0" rtlCol="0" anchor="ctr"/>
          <a:lstStyle/>
          <a:p>
            <a:pPr indent="0" marL="0">
              <a:buNone/>
            </a:pPr>
            <a:r>
              <a:rPr lang="en-US" sz="1700" b="1" dirty="0">
                <a:solidFill>
                  <a:srgbClr val="6B007B"/>
                </a:solidFill>
                <a:latin typeface="Calibri" pitchFamily="34" charset="0"/>
                <a:ea typeface="Calibri" pitchFamily="34" charset="-122"/>
                <a:cs typeface="Calibri" pitchFamily="34" charset="-120"/>
              </a:rPr>
              <a:t>Add purchase frequency</a:t>
            </a:r>
            <a:endParaRPr lang="en-US" sz="1700" dirty="0"/>
          </a:p>
        </p:txBody>
      </p:sp>
      <p:sp>
        <p:nvSpPr>
          <p:cNvPr id="27" name="Text 21"/>
          <p:cNvSpPr txBox="1"/>
          <p:nvPr/>
        </p:nvSpPr>
        <p:spPr>
          <a:xfrm>
            <a:off x="777240" y="4709160"/>
            <a:ext cx="3108960" cy="411480"/>
          </a:xfrm>
          <a:prstGeom prst="rect">
            <a:avLst/>
          </a:prstGeom>
          <a:noFill/>
          <a:ln/>
        </p:spPr>
        <p:txBody>
          <a:bodyPr wrap="square" lIns="0" tIns="0" rIns="0" bIns="0" rtlCol="0" anchor="t"/>
          <a:lstStyle/>
          <a:p>
            <a:pPr indent="0" marL="0">
              <a:buNone/>
            </a:pPr>
            <a:r>
              <a:rPr lang="en-US" sz="1300" dirty="0">
                <a:solidFill>
                  <a:srgbClr val="6B6B6B"/>
                </a:solidFill>
                <a:latin typeface="Calibri" pitchFamily="34" charset="0"/>
                <a:ea typeface="Calibri" pitchFamily="34" charset="-122"/>
                <a:cs typeface="Calibri" pitchFamily="34" charset="-120"/>
              </a:rPr>
              <a:t>Labels like 'Monthly' converted to days (30)</a:t>
            </a:r>
            <a:endParaRPr lang="en-US" sz="1300" dirty="0"/>
          </a:p>
        </p:txBody>
      </p:sp>
      <p:sp>
        <p:nvSpPr>
          <p:cNvPr id="28" name="Shape 22"/>
          <p:cNvSpPr/>
          <p:nvPr/>
        </p:nvSpPr>
        <p:spPr>
          <a:xfrm>
            <a:off x="4297680" y="3520440"/>
            <a:ext cx="3520440" cy="1645920"/>
          </a:xfrm>
          <a:prstGeom prst="roundRect">
            <a:avLst>
              <a:gd name="adj" fmla="val 4444"/>
            </a:avLst>
          </a:prstGeom>
          <a:solidFill>
            <a:srgbClr val="F8F0F9"/>
          </a:solidFill>
          <a:ln w="12700">
            <a:solidFill>
              <a:srgbClr val="F8F0F9"/>
            </a:solidFill>
            <a:prstDash val="solid"/>
          </a:ln>
        </p:spPr>
      </p:sp>
      <p:sp>
        <p:nvSpPr>
          <p:cNvPr id="29" name="Shape 23"/>
          <p:cNvSpPr/>
          <p:nvPr/>
        </p:nvSpPr>
        <p:spPr>
          <a:xfrm>
            <a:off x="4526280" y="3749040"/>
            <a:ext cx="548640" cy="548640"/>
          </a:xfrm>
          <a:prstGeom prst="ellipse">
            <a:avLst/>
          </a:prstGeom>
          <a:solidFill>
            <a:srgbClr val="893395"/>
          </a:solidFill>
          <a:ln w="12700">
            <a:solidFill>
              <a:srgbClr val="893395"/>
            </a:solidFill>
            <a:prstDash val="solid"/>
          </a:ln>
        </p:spPr>
      </p:sp>
      <p:pic>
        <p:nvPicPr>
          <p:cNvPr id="30" name="Image 4" descr="preencoded.png">    </p:cNvPr>
          <p:cNvPicPr>
            <a:picLocks noChangeAspect="1"/>
          </p:cNvPicPr>
          <p:nvPr/>
        </p:nvPicPr>
        <p:blipFill>
          <a:blip r:embed="rId5"/>
          <a:stretch>
            <a:fillRect/>
          </a:stretch>
        </p:blipFill>
        <p:spPr>
          <a:xfrm>
            <a:off x="4668926" y="3891686"/>
            <a:ext cx="263347" cy="263347"/>
          </a:xfrm>
          <a:prstGeom prst="rect">
            <a:avLst/>
          </a:prstGeom>
        </p:spPr>
      </p:pic>
      <p:sp>
        <p:nvSpPr>
          <p:cNvPr id="31" name="Text 24"/>
          <p:cNvSpPr txBox="1"/>
          <p:nvPr/>
        </p:nvSpPr>
        <p:spPr>
          <a:xfrm>
            <a:off x="7040880" y="3749040"/>
            <a:ext cx="548640" cy="320040"/>
          </a:xfrm>
          <a:prstGeom prst="rect">
            <a:avLst/>
          </a:prstGeom>
          <a:noFill/>
          <a:ln/>
        </p:spPr>
        <p:txBody>
          <a:bodyPr wrap="square" lIns="0" tIns="0" rIns="0" bIns="0" rtlCol="0" anchor="ctr"/>
          <a:lstStyle/>
          <a:p>
            <a:pPr algn="r" indent="0" marL="0">
              <a:buNone/>
            </a:pPr>
            <a:r>
              <a:rPr lang="en-US" sz="1400" b="1" dirty="0">
                <a:solidFill>
                  <a:srgbClr val="E669B9"/>
                </a:solidFill>
                <a:latin typeface="Calibri" pitchFamily="34" charset="0"/>
                <a:ea typeface="Calibri" pitchFamily="34" charset="-122"/>
                <a:cs typeface="Calibri" pitchFamily="34" charset="-120"/>
              </a:rPr>
              <a:t>05</a:t>
            </a:r>
            <a:endParaRPr lang="en-US" sz="1400" dirty="0"/>
          </a:p>
        </p:txBody>
      </p:sp>
      <p:sp>
        <p:nvSpPr>
          <p:cNvPr id="32" name="Text 25"/>
          <p:cNvSpPr txBox="1"/>
          <p:nvPr/>
        </p:nvSpPr>
        <p:spPr>
          <a:xfrm>
            <a:off x="4526280" y="4389120"/>
            <a:ext cx="3108960" cy="320040"/>
          </a:xfrm>
          <a:prstGeom prst="rect">
            <a:avLst/>
          </a:prstGeom>
          <a:noFill/>
          <a:ln/>
        </p:spPr>
        <p:txBody>
          <a:bodyPr wrap="square" lIns="0" tIns="0" rIns="0" bIns="0" rtlCol="0" anchor="ctr"/>
          <a:lstStyle/>
          <a:p>
            <a:pPr indent="0" marL="0">
              <a:buNone/>
            </a:pPr>
            <a:r>
              <a:rPr lang="en-US" sz="1700" b="1" dirty="0">
                <a:solidFill>
                  <a:srgbClr val="6B007B"/>
                </a:solidFill>
                <a:latin typeface="Calibri" pitchFamily="34" charset="0"/>
                <a:ea typeface="Calibri" pitchFamily="34" charset="-122"/>
                <a:cs typeface="Calibri" pitchFamily="34" charset="-120"/>
              </a:rPr>
              <a:t>Remove duplicate column</a:t>
            </a:r>
            <a:endParaRPr lang="en-US" sz="1700" dirty="0"/>
          </a:p>
        </p:txBody>
      </p:sp>
      <p:sp>
        <p:nvSpPr>
          <p:cNvPr id="33" name="Text 26"/>
          <p:cNvSpPr txBox="1"/>
          <p:nvPr/>
        </p:nvSpPr>
        <p:spPr>
          <a:xfrm>
            <a:off x="4526280" y="4709160"/>
            <a:ext cx="3108960" cy="411480"/>
          </a:xfrm>
          <a:prstGeom prst="rect">
            <a:avLst/>
          </a:prstGeom>
          <a:noFill/>
          <a:ln/>
        </p:spPr>
        <p:txBody>
          <a:bodyPr wrap="square" lIns="0" tIns="0" rIns="0" bIns="0" rtlCol="0" anchor="t"/>
          <a:lstStyle/>
          <a:p>
            <a:pPr indent="0" marL="0">
              <a:buNone/>
            </a:pPr>
            <a:r>
              <a:rPr lang="en-US" sz="1300" dirty="0">
                <a:solidFill>
                  <a:srgbClr val="6B6B6B"/>
                </a:solidFill>
                <a:latin typeface="Calibri" pitchFamily="34" charset="0"/>
                <a:ea typeface="Calibri" pitchFamily="34" charset="-122"/>
                <a:cs typeface="Calibri" pitchFamily="34" charset="-120"/>
              </a:rPr>
              <a:t>promo_code_used matched discount_applied in every row</a:t>
            </a:r>
            <a:endParaRPr lang="en-US" sz="1300" dirty="0"/>
          </a:p>
        </p:txBody>
      </p:sp>
      <p:sp>
        <p:nvSpPr>
          <p:cNvPr id="34" name="Shape 27"/>
          <p:cNvSpPr/>
          <p:nvPr/>
        </p:nvSpPr>
        <p:spPr>
          <a:xfrm>
            <a:off x="8046720" y="3520440"/>
            <a:ext cx="3520440" cy="1645920"/>
          </a:xfrm>
          <a:prstGeom prst="roundRect">
            <a:avLst>
              <a:gd name="adj" fmla="val 4444"/>
            </a:avLst>
          </a:prstGeom>
          <a:solidFill>
            <a:srgbClr val="F8F0F9"/>
          </a:solidFill>
          <a:ln w="12700">
            <a:solidFill>
              <a:srgbClr val="F8F0F9"/>
            </a:solidFill>
            <a:prstDash val="solid"/>
          </a:ln>
        </p:spPr>
      </p:sp>
      <p:sp>
        <p:nvSpPr>
          <p:cNvPr id="35" name="Shape 28"/>
          <p:cNvSpPr/>
          <p:nvPr/>
        </p:nvSpPr>
        <p:spPr>
          <a:xfrm>
            <a:off x="8275320" y="3749040"/>
            <a:ext cx="548640" cy="548640"/>
          </a:xfrm>
          <a:prstGeom prst="ellipse">
            <a:avLst/>
          </a:prstGeom>
          <a:solidFill>
            <a:srgbClr val="893395"/>
          </a:solidFill>
          <a:ln w="12700">
            <a:solidFill>
              <a:srgbClr val="893395"/>
            </a:solidFill>
            <a:prstDash val="solid"/>
          </a:ln>
        </p:spPr>
      </p:sp>
      <p:pic>
        <p:nvPicPr>
          <p:cNvPr id="36" name="Image 5" descr="preencoded.png">    </p:cNvPr>
          <p:cNvPicPr>
            <a:picLocks noChangeAspect="1"/>
          </p:cNvPicPr>
          <p:nvPr/>
        </p:nvPicPr>
        <p:blipFill>
          <a:blip r:embed="rId6"/>
          <a:stretch>
            <a:fillRect/>
          </a:stretch>
        </p:blipFill>
        <p:spPr>
          <a:xfrm>
            <a:off x="8417966" y="3891686"/>
            <a:ext cx="263347" cy="263347"/>
          </a:xfrm>
          <a:prstGeom prst="rect">
            <a:avLst/>
          </a:prstGeom>
        </p:spPr>
      </p:pic>
      <p:sp>
        <p:nvSpPr>
          <p:cNvPr id="37" name="Text 29"/>
          <p:cNvSpPr txBox="1"/>
          <p:nvPr/>
        </p:nvSpPr>
        <p:spPr>
          <a:xfrm>
            <a:off x="10789920" y="3749040"/>
            <a:ext cx="548640" cy="320040"/>
          </a:xfrm>
          <a:prstGeom prst="rect">
            <a:avLst/>
          </a:prstGeom>
          <a:noFill/>
          <a:ln/>
        </p:spPr>
        <p:txBody>
          <a:bodyPr wrap="square" lIns="0" tIns="0" rIns="0" bIns="0" rtlCol="0" anchor="ctr"/>
          <a:lstStyle/>
          <a:p>
            <a:pPr algn="r" indent="0" marL="0">
              <a:buNone/>
            </a:pPr>
            <a:r>
              <a:rPr lang="en-US" sz="1400" b="1" dirty="0">
                <a:solidFill>
                  <a:srgbClr val="E669B9"/>
                </a:solidFill>
                <a:latin typeface="Calibri" pitchFamily="34" charset="0"/>
                <a:ea typeface="Calibri" pitchFamily="34" charset="-122"/>
                <a:cs typeface="Calibri" pitchFamily="34" charset="-120"/>
              </a:rPr>
              <a:t>06</a:t>
            </a:r>
            <a:endParaRPr lang="en-US" sz="1400" dirty="0"/>
          </a:p>
        </p:txBody>
      </p:sp>
      <p:sp>
        <p:nvSpPr>
          <p:cNvPr id="38" name="Text 30"/>
          <p:cNvSpPr txBox="1"/>
          <p:nvPr/>
        </p:nvSpPr>
        <p:spPr>
          <a:xfrm>
            <a:off x="8275320" y="4389120"/>
            <a:ext cx="3108960" cy="320040"/>
          </a:xfrm>
          <a:prstGeom prst="rect">
            <a:avLst/>
          </a:prstGeom>
          <a:noFill/>
          <a:ln/>
        </p:spPr>
        <p:txBody>
          <a:bodyPr wrap="square" lIns="0" tIns="0" rIns="0" bIns="0" rtlCol="0" anchor="ctr"/>
          <a:lstStyle/>
          <a:p>
            <a:pPr indent="0" marL="0">
              <a:buNone/>
            </a:pPr>
            <a:r>
              <a:rPr lang="en-US" sz="1700" b="1" dirty="0">
                <a:solidFill>
                  <a:srgbClr val="6B007B"/>
                </a:solidFill>
                <a:latin typeface="Calibri" pitchFamily="34" charset="0"/>
                <a:ea typeface="Calibri" pitchFamily="34" charset="-122"/>
                <a:cs typeface="Calibri" pitchFamily="34" charset="-120"/>
              </a:rPr>
              <a:t>Load to PostgreSQL</a:t>
            </a:r>
            <a:endParaRPr lang="en-US" sz="1700" dirty="0"/>
          </a:p>
        </p:txBody>
      </p:sp>
      <p:sp>
        <p:nvSpPr>
          <p:cNvPr id="39" name="Text 31"/>
          <p:cNvSpPr txBox="1"/>
          <p:nvPr/>
        </p:nvSpPr>
        <p:spPr>
          <a:xfrm>
            <a:off x="8275320" y="4709160"/>
            <a:ext cx="3108960" cy="411480"/>
          </a:xfrm>
          <a:prstGeom prst="rect">
            <a:avLst/>
          </a:prstGeom>
          <a:noFill/>
          <a:ln/>
        </p:spPr>
        <p:txBody>
          <a:bodyPr wrap="square" lIns="0" tIns="0" rIns="0" bIns="0" rtlCol="0" anchor="t"/>
          <a:lstStyle/>
          <a:p>
            <a:pPr indent="0" marL="0">
              <a:buNone/>
            </a:pPr>
            <a:r>
              <a:rPr lang="en-US" sz="1300" dirty="0">
                <a:solidFill>
                  <a:srgbClr val="6B6B6B"/>
                </a:solidFill>
                <a:latin typeface="Calibri" pitchFamily="34" charset="0"/>
                <a:ea typeface="Calibri" pitchFamily="34" charset="-122"/>
                <a:cs typeface="Calibri" pitchFamily="34" charset="-120"/>
              </a:rPr>
              <a:t>Clean table written to the customer table</a:t>
            </a:r>
            <a:endParaRPr lang="en-US" sz="1300" dirty="0"/>
          </a:p>
        </p:txBody>
      </p:sp>
      <p:sp>
        <p:nvSpPr>
          <p:cNvPr id="40" name="Shape 32"/>
          <p:cNvSpPr/>
          <p:nvPr/>
        </p:nvSpPr>
        <p:spPr>
          <a:xfrm>
            <a:off x="548640" y="5486400"/>
            <a:ext cx="11094415" cy="658368"/>
          </a:xfrm>
          <a:prstGeom prst="roundRect">
            <a:avLst>
              <a:gd name="adj" fmla="val 11111"/>
            </a:avLst>
          </a:prstGeom>
          <a:solidFill>
            <a:srgbClr val="3D0B4A"/>
          </a:solidFill>
          <a:ln w="12700">
            <a:solidFill>
              <a:srgbClr val="3D0B4A"/>
            </a:solidFill>
            <a:prstDash val="solid"/>
          </a:ln>
        </p:spPr>
      </p:sp>
      <p:sp>
        <p:nvSpPr>
          <p:cNvPr id="41" name="Text 33"/>
          <p:cNvSpPr txBox="1"/>
          <p:nvPr/>
        </p:nvSpPr>
        <p:spPr>
          <a:xfrm>
            <a:off x="868680" y="5486400"/>
            <a:ext cx="10454335" cy="658368"/>
          </a:xfrm>
          <a:prstGeom prst="rect">
            <a:avLst/>
          </a:prstGeom>
          <a:noFill/>
          <a:ln/>
        </p:spPr>
        <p:txBody>
          <a:bodyPr wrap="square" lIns="0" tIns="0" rIns="0" bIns="0" rtlCol="0" anchor="ctr"/>
          <a:lstStyle/>
          <a:p>
            <a:pPr indent="0" marL="0">
              <a:buNone/>
            </a:pPr>
            <a:r>
              <a:rPr lang="en-US" sz="1700" b="1" dirty="0">
                <a:solidFill>
                  <a:srgbClr val="E669B9"/>
                </a:solidFill>
                <a:latin typeface="Calibri" pitchFamily="34" charset="0"/>
                <a:ea typeface="Calibri" pitchFamily="34" charset="-122"/>
                <a:cs typeface="Calibri" pitchFamily="34" charset="-120"/>
              </a:rPr>
              <a:t>Result:  </a:t>
            </a:r>
            <a:pPr indent="0" marL="0">
              <a:buNone/>
            </a:pPr>
            <a:r>
              <a:rPr lang="en-US" sz="1700" b="1" dirty="0">
                <a:solidFill>
                  <a:srgbClr val="FFFFFF"/>
                </a:solidFill>
                <a:latin typeface="Calibri" pitchFamily="34" charset="0"/>
                <a:ea typeface="Calibri" pitchFamily="34" charset="-122"/>
                <a:cs typeface="Calibri" pitchFamily="34" charset="-120"/>
              </a:rPr>
              <a:t>3,900 rows  ·  19 columns  ·  0 missing values, ready for SQL and Power BI</a:t>
            </a:r>
            <a:endParaRPr lang="en-US" sz="1700" dirty="0"/>
          </a:p>
        </p:txBody>
      </p:sp>
      <p:sp>
        <p:nvSpPr>
          <p:cNvPr id="42" name="Text 34"/>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Customer Shopping Behaviour Analysis</a:t>
            </a:r>
            <a:endParaRPr lang="en-US" sz="1000" dirty="0"/>
          </a:p>
        </p:txBody>
      </p:sp>
      <p:sp>
        <p:nvSpPr>
          <p:cNvPr id="43" name="Text 35"/>
          <p:cNvSpPr txBox="1"/>
          <p:nvPr/>
        </p:nvSpPr>
        <p:spPr>
          <a:xfrm>
            <a:off x="10728655" y="6419088"/>
            <a:ext cx="9144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E669B9"/>
                </a:solidFill>
                <a:latin typeface="Calibri" pitchFamily="34" charset="0"/>
                <a:ea typeface="Calibri" pitchFamily="34" charset="-122"/>
                <a:cs typeface="Calibri" pitchFamily="34" charset="-120"/>
              </a:rPr>
              <a:t>KEY INSIGHT</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3000" b="1" dirty="0">
                <a:solidFill>
                  <a:srgbClr val="6B007B"/>
                </a:solidFill>
                <a:latin typeface="Calibri" pitchFamily="34" charset="0"/>
                <a:ea typeface="Calibri" pitchFamily="34" charset="-122"/>
                <a:cs typeface="Calibri" pitchFamily="34" charset="-120"/>
              </a:rPr>
              <a:t>Revenue follows customer volume, not spend per order</a:t>
            </a:r>
            <a:endParaRPr lang="en-US" sz="3000" dirty="0"/>
          </a:p>
        </p:txBody>
      </p:sp>
      <p:sp>
        <p:nvSpPr>
          <p:cNvPr id="4" name="Text 2"/>
          <p:cNvSpPr txBox="1"/>
          <p:nvPr/>
        </p:nvSpPr>
        <p:spPr>
          <a:xfrm>
            <a:off x="548640" y="1691640"/>
            <a:ext cx="3657600" cy="685800"/>
          </a:xfrm>
          <a:prstGeom prst="rect">
            <a:avLst/>
          </a:prstGeom>
          <a:noFill/>
          <a:ln/>
        </p:spPr>
        <p:txBody>
          <a:bodyPr wrap="square" lIns="0" tIns="0" rIns="0" bIns="0" rtlCol="0" anchor="b"/>
          <a:lstStyle/>
          <a:p>
            <a:pPr indent="0" marL="0">
              <a:buNone/>
            </a:pPr>
            <a:r>
              <a:rPr lang="en-US" sz="4000" b="1" dirty="0">
                <a:solidFill>
                  <a:srgbClr val="893395"/>
                </a:solidFill>
                <a:latin typeface="Calibri" pitchFamily="34" charset="0"/>
                <a:ea typeface="Calibri" pitchFamily="34" charset="-122"/>
                <a:cs typeface="Calibri" pitchFamily="34" charset="-120"/>
              </a:rPr>
              <a:t>$233,081</a:t>
            </a:r>
            <a:endParaRPr lang="en-US" sz="4000" dirty="0"/>
          </a:p>
        </p:txBody>
      </p:sp>
      <p:sp>
        <p:nvSpPr>
          <p:cNvPr id="5" name="Text 3"/>
          <p:cNvSpPr txBox="1"/>
          <p:nvPr/>
        </p:nvSpPr>
        <p:spPr>
          <a:xfrm>
            <a:off x="548640" y="2423160"/>
            <a:ext cx="3657600" cy="502920"/>
          </a:xfrm>
          <a:prstGeom prst="rect">
            <a:avLst/>
          </a:prstGeom>
          <a:noFill/>
          <a:ln/>
        </p:spPr>
        <p:txBody>
          <a:bodyPr wrap="square" lIns="0" tIns="0" rIns="0" bIns="0" rtlCol="0" anchor="t"/>
          <a:lstStyle/>
          <a:p>
            <a:pPr indent="0" marL="0">
              <a:buNone/>
            </a:pPr>
            <a:r>
              <a:rPr lang="en-US" sz="1300" dirty="0">
                <a:solidFill>
                  <a:srgbClr val="6B6B6B"/>
                </a:solidFill>
                <a:latin typeface="Calibri" pitchFamily="34" charset="0"/>
                <a:ea typeface="Calibri" pitchFamily="34" charset="-122"/>
                <a:cs typeface="Calibri" pitchFamily="34" charset="-120"/>
              </a:rPr>
              <a:t>total revenue from 3,900 customers</a:t>
            </a:r>
            <a:endParaRPr lang="en-US" sz="1300" dirty="0"/>
          </a:p>
        </p:txBody>
      </p:sp>
      <p:sp>
        <p:nvSpPr>
          <p:cNvPr id="6" name="Text 4"/>
          <p:cNvSpPr txBox="1"/>
          <p:nvPr/>
        </p:nvSpPr>
        <p:spPr>
          <a:xfrm>
            <a:off x="548640" y="3017520"/>
            <a:ext cx="3657600" cy="685800"/>
          </a:xfrm>
          <a:prstGeom prst="rect">
            <a:avLst/>
          </a:prstGeom>
          <a:noFill/>
          <a:ln/>
        </p:spPr>
        <p:txBody>
          <a:bodyPr wrap="square" lIns="0" tIns="0" rIns="0" bIns="0" rtlCol="0" anchor="b"/>
          <a:lstStyle/>
          <a:p>
            <a:pPr indent="0" marL="0">
              <a:buNone/>
            </a:pPr>
            <a:r>
              <a:rPr lang="en-US" sz="4000" b="1" dirty="0">
                <a:solidFill>
                  <a:srgbClr val="893395"/>
                </a:solidFill>
                <a:latin typeface="Calibri" pitchFamily="34" charset="0"/>
                <a:ea typeface="Calibri" pitchFamily="34" charset="-122"/>
                <a:cs typeface="Calibri" pitchFamily="34" charset="-120"/>
              </a:rPr>
              <a:t>≈ $60</a:t>
            </a:r>
            <a:endParaRPr lang="en-US" sz="4000" dirty="0"/>
          </a:p>
        </p:txBody>
      </p:sp>
      <p:sp>
        <p:nvSpPr>
          <p:cNvPr id="7" name="Text 5"/>
          <p:cNvSpPr txBox="1"/>
          <p:nvPr/>
        </p:nvSpPr>
        <p:spPr>
          <a:xfrm>
            <a:off x="548640" y="3749040"/>
            <a:ext cx="3657600" cy="502920"/>
          </a:xfrm>
          <a:prstGeom prst="rect">
            <a:avLst/>
          </a:prstGeom>
          <a:noFill/>
          <a:ln/>
        </p:spPr>
        <p:txBody>
          <a:bodyPr wrap="square" lIns="0" tIns="0" rIns="0" bIns="0" rtlCol="0" anchor="t"/>
          <a:lstStyle/>
          <a:p>
            <a:pPr indent="0" marL="0">
              <a:buNone/>
            </a:pPr>
            <a:r>
              <a:rPr lang="en-US" sz="1300" dirty="0">
                <a:solidFill>
                  <a:srgbClr val="6B6B6B"/>
                </a:solidFill>
                <a:latin typeface="Calibri" pitchFamily="34" charset="0"/>
                <a:ea typeface="Calibri" pitchFamily="34" charset="-122"/>
                <a:cs typeface="Calibri" pitchFamily="34" charset="-120"/>
              </a:rPr>
              <a:t>average purchase in every customer group, from $57 to $61</a:t>
            </a:r>
            <a:endParaRPr lang="en-US" sz="1300" dirty="0"/>
          </a:p>
        </p:txBody>
      </p:sp>
      <p:sp>
        <p:nvSpPr>
          <p:cNvPr id="8" name="Text 6"/>
          <p:cNvSpPr txBox="1"/>
          <p:nvPr/>
        </p:nvSpPr>
        <p:spPr>
          <a:xfrm>
            <a:off x="548640" y="4343400"/>
            <a:ext cx="3566160" cy="1097280"/>
          </a:xfrm>
          <a:prstGeom prst="rect">
            <a:avLst/>
          </a:prstGeom>
          <a:noFill/>
          <a:ln/>
        </p:spPr>
        <p:txBody>
          <a:bodyPr wrap="square" lIns="0" tIns="0" rIns="0" bIns="0" rtlCol="0" anchor="t"/>
          <a:lstStyle/>
          <a:p>
            <a:pPr indent="0" marL="0">
              <a:buNone/>
            </a:pPr>
            <a:r>
              <a:rPr lang="en-US" sz="1400" dirty="0">
                <a:solidFill>
                  <a:srgbClr val="2B2B2B"/>
                </a:solidFill>
                <a:latin typeface="Calibri" pitchFamily="34" charset="0"/>
                <a:ea typeface="Calibri" pitchFamily="34" charset="-122"/>
                <a:cs typeface="Calibri" pitchFamily="34" charset="-120"/>
              </a:rPr>
              <a:t>Men generate 68% of revenue simply because they are 68% of customers. The same pattern holds for categories and age groups.</a:t>
            </a:r>
            <a:endParaRPr lang="en-US" sz="1400" dirty="0"/>
          </a:p>
        </p:txBody>
      </p:sp>
      <p:sp>
        <p:nvSpPr>
          <p:cNvPr id="9" name="Text 7"/>
          <p:cNvSpPr txBox="1"/>
          <p:nvPr/>
        </p:nvSpPr>
        <p:spPr>
          <a:xfrm>
            <a:off x="4572000" y="1645920"/>
            <a:ext cx="7040880" cy="274320"/>
          </a:xfrm>
          <a:prstGeom prst="rect">
            <a:avLst/>
          </a:prstGeom>
          <a:noFill/>
          <a:ln/>
        </p:spPr>
        <p:txBody>
          <a:bodyPr wrap="square" lIns="0" tIns="0" rIns="0" bIns="0" rtlCol="0" anchor="ctr"/>
          <a:lstStyle/>
          <a:p>
            <a:pPr indent="0" marL="0">
              <a:buNone/>
            </a:pPr>
            <a:r>
              <a:rPr lang="en-US" sz="1300" b="1" dirty="0">
                <a:solidFill>
                  <a:srgbClr val="6B6B6B"/>
                </a:solidFill>
                <a:latin typeface="Calibri" pitchFamily="34" charset="0"/>
                <a:ea typeface="Calibri" pitchFamily="34" charset="-122"/>
                <a:cs typeface="Calibri" pitchFamily="34" charset="-120"/>
              </a:rPr>
              <a:t>Average purchase amount by customer group ($)</a:t>
            </a:r>
            <a:endParaRPr lang="en-US" sz="1300" dirty="0"/>
          </a:p>
        </p:txBody>
      </p:sp>
      <p:graphicFrame>
        <p:nvGraphicFramePr>
          <p:cNvPr id="10" name="Chart 0" descr=""/>
          <p:cNvGraphicFramePr/>
          <p:nvPr/>
        </p:nvGraphicFramePr>
        <p:xfrm>
          <a:off x="4480560" y="1920240"/>
          <a:ext cx="7178040" cy="361188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548640" y="5669280"/>
            <a:ext cx="11094415" cy="566928"/>
          </a:xfrm>
          <a:prstGeom prst="roundRect">
            <a:avLst>
              <a:gd name="adj" fmla="val 12903"/>
            </a:avLst>
          </a:prstGeom>
          <a:solidFill>
            <a:srgbClr val="FCEFF7"/>
          </a:solidFill>
          <a:ln w="12700">
            <a:solidFill>
              <a:srgbClr val="FCEFF7"/>
            </a:solidFill>
            <a:prstDash val="solid"/>
          </a:ln>
        </p:spPr>
      </p:sp>
      <p:sp>
        <p:nvSpPr>
          <p:cNvPr id="12" name="Shape 9"/>
          <p:cNvSpPr/>
          <p:nvPr/>
        </p:nvSpPr>
        <p:spPr>
          <a:xfrm>
            <a:off x="676656" y="5760720"/>
            <a:ext cx="384048" cy="384048"/>
          </a:xfrm>
          <a:prstGeom prst="ellipse">
            <a:avLst/>
          </a:prstGeom>
          <a:solidFill>
            <a:srgbClr val="E669B9"/>
          </a:solidFill>
          <a:ln w="12700">
            <a:solidFill>
              <a:srgbClr val="E669B9"/>
            </a:solidFill>
            <a:prstDash val="solid"/>
          </a:ln>
        </p:spPr>
      </p:sp>
      <p:pic>
        <p:nvPicPr>
          <p:cNvPr id="13" name="Image 0" descr="preencoded.png">    </p:cNvPr>
          <p:cNvPicPr>
            <a:picLocks noChangeAspect="1"/>
          </p:cNvPicPr>
          <p:nvPr/>
        </p:nvPicPr>
        <p:blipFill>
          <a:blip r:embed="rId2"/>
          <a:stretch>
            <a:fillRect/>
          </a:stretch>
        </p:blipFill>
        <p:spPr>
          <a:xfrm>
            <a:off x="768096" y="5852160"/>
            <a:ext cx="201168" cy="201168"/>
          </a:xfrm>
          <a:prstGeom prst="rect">
            <a:avLst/>
          </a:prstGeom>
        </p:spPr>
      </p:pic>
      <p:sp>
        <p:nvSpPr>
          <p:cNvPr id="14" name="Text 10"/>
          <p:cNvSpPr txBox="1"/>
          <p:nvPr/>
        </p:nvSpPr>
        <p:spPr>
          <a:xfrm>
            <a:off x="1234440" y="5669280"/>
            <a:ext cx="10225735" cy="566928"/>
          </a:xfrm>
          <a:prstGeom prst="rect">
            <a:avLst/>
          </a:prstGeom>
          <a:noFill/>
          <a:ln/>
        </p:spPr>
        <p:txBody>
          <a:bodyPr wrap="square" lIns="0" tIns="0" rIns="0" bIns="0" rtlCol="0" anchor="ctr"/>
          <a:lstStyle/>
          <a:p>
            <a:pPr indent="0" marL="0">
              <a:buNone/>
            </a:pPr>
            <a:r>
              <a:rPr lang="en-US" sz="1500" b="1" dirty="0">
                <a:solidFill>
                  <a:srgbClr val="6B007B"/>
                </a:solidFill>
                <a:latin typeface="Calibri" pitchFamily="34" charset="0"/>
                <a:ea typeface="Calibri" pitchFamily="34" charset="-122"/>
                <a:cs typeface="Calibri" pitchFamily="34" charset="-120"/>
              </a:rPr>
              <a:t>So what: </a:t>
            </a:r>
            <a:pPr indent="0" marL="0">
              <a:buNone/>
            </a:pPr>
            <a:r>
              <a:rPr lang="en-US" sz="1500" dirty="0">
                <a:solidFill>
                  <a:srgbClr val="2B2B2B"/>
                </a:solidFill>
                <a:latin typeface="Calibri" pitchFamily="34" charset="0"/>
                <a:ea typeface="Calibri" pitchFamily="34" charset="-122"/>
                <a:cs typeface="Calibri" pitchFamily="34" charset="-120"/>
              </a:rPr>
              <a:t>growth has to come from more customers, more frequent orders or bigger baskets, not from any one segment.</a:t>
            </a:r>
            <a:endParaRPr lang="en-US" sz="1500" dirty="0"/>
          </a:p>
        </p:txBody>
      </p:sp>
      <p:sp>
        <p:nvSpPr>
          <p:cNvPr id="15" name="Text 11"/>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Customer Shopping Behaviour Analysis</a:t>
            </a:r>
            <a:endParaRPr lang="en-US" sz="1000" dirty="0"/>
          </a:p>
        </p:txBody>
      </p:sp>
      <p:sp>
        <p:nvSpPr>
          <p:cNvPr id="16" name="Text 12"/>
          <p:cNvSpPr txBox="1"/>
          <p:nvPr/>
        </p:nvSpPr>
        <p:spPr>
          <a:xfrm>
            <a:off x="10728655" y="6419088"/>
            <a:ext cx="9144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E669B9"/>
                </a:solidFill>
                <a:latin typeface="Calibri" pitchFamily="34" charset="0"/>
                <a:ea typeface="Calibri" pitchFamily="34" charset="-122"/>
                <a:cs typeface="Calibri" pitchFamily="34" charset="-120"/>
              </a:rPr>
              <a:t>CUSTOMERS · SQL Q1 AND Q10</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3000" b="1" dirty="0">
                <a:solidFill>
                  <a:srgbClr val="6B007B"/>
                </a:solidFill>
                <a:latin typeface="Calibri" pitchFamily="34" charset="0"/>
                <a:ea typeface="Calibri" pitchFamily="34" charset="-122"/>
                <a:cs typeface="Calibri" pitchFamily="34" charset="-120"/>
              </a:rPr>
              <a:t>Who drives revenue?</a:t>
            </a:r>
            <a:endParaRPr lang="en-US" sz="3000" dirty="0"/>
          </a:p>
        </p:txBody>
      </p:sp>
      <p:sp>
        <p:nvSpPr>
          <p:cNvPr id="4" name="Shape 2"/>
          <p:cNvSpPr/>
          <p:nvPr/>
        </p:nvSpPr>
        <p:spPr>
          <a:xfrm>
            <a:off x="548640" y="1600200"/>
            <a:ext cx="5349240" cy="3886200"/>
          </a:xfrm>
          <a:prstGeom prst="roundRect">
            <a:avLst>
              <a:gd name="adj" fmla="val 1882"/>
            </a:avLst>
          </a:prstGeom>
          <a:solidFill>
            <a:srgbClr val="F8F0F9"/>
          </a:solidFill>
          <a:ln w="12700">
            <a:solidFill>
              <a:srgbClr val="F8F0F9"/>
            </a:solidFill>
            <a:prstDash val="solid"/>
          </a:ln>
        </p:spPr>
      </p:sp>
      <p:sp>
        <p:nvSpPr>
          <p:cNvPr id="5" name="Text 3"/>
          <p:cNvSpPr txBox="1"/>
          <p:nvPr/>
        </p:nvSpPr>
        <p:spPr>
          <a:xfrm>
            <a:off x="822960" y="1737360"/>
            <a:ext cx="4572000" cy="320040"/>
          </a:xfrm>
          <a:prstGeom prst="rect">
            <a:avLst/>
          </a:prstGeom>
          <a:noFill/>
          <a:ln/>
        </p:spPr>
        <p:txBody>
          <a:bodyPr wrap="square" lIns="0" tIns="0" rIns="0" bIns="0" rtlCol="0" anchor="ctr"/>
          <a:lstStyle/>
          <a:p>
            <a:pPr indent="0" marL="0">
              <a:buNone/>
            </a:pPr>
            <a:r>
              <a:rPr lang="en-US" sz="1600" b="1" dirty="0">
                <a:solidFill>
                  <a:srgbClr val="6B007B"/>
                </a:solidFill>
                <a:latin typeface="Calibri" pitchFamily="34" charset="0"/>
                <a:ea typeface="Calibri" pitchFamily="34" charset="-122"/>
                <a:cs typeface="Calibri" pitchFamily="34" charset="-120"/>
              </a:rPr>
              <a:t>Revenue by gender</a:t>
            </a:r>
            <a:endParaRPr lang="en-US" sz="1600" dirty="0"/>
          </a:p>
        </p:txBody>
      </p:sp>
      <p:graphicFrame>
        <p:nvGraphicFramePr>
          <p:cNvPr id="6" name="Chart 0" descr=""/>
          <p:cNvGraphicFramePr/>
          <p:nvPr/>
        </p:nvGraphicFramePr>
        <p:xfrm>
          <a:off x="731520" y="2103120"/>
          <a:ext cx="2743200" cy="32004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3611880" y="2240280"/>
            <a:ext cx="2194560" cy="685800"/>
          </a:xfrm>
          <a:prstGeom prst="rect">
            <a:avLst/>
          </a:prstGeom>
          <a:noFill/>
          <a:ln/>
        </p:spPr>
        <p:txBody>
          <a:bodyPr wrap="square" lIns="0" tIns="0" rIns="0" bIns="0" rtlCol="0" anchor="b"/>
          <a:lstStyle/>
          <a:p>
            <a:pPr indent="0" marL="0">
              <a:buNone/>
            </a:pPr>
            <a:r>
              <a:rPr lang="en-US" sz="3000" b="1" dirty="0">
                <a:solidFill>
                  <a:srgbClr val="12239E"/>
                </a:solidFill>
                <a:latin typeface="Calibri" pitchFamily="34" charset="0"/>
                <a:ea typeface="Calibri" pitchFamily="34" charset="-122"/>
                <a:cs typeface="Calibri" pitchFamily="34" charset="-120"/>
              </a:rPr>
              <a:t>$157,890</a:t>
            </a:r>
            <a:endParaRPr lang="en-US" sz="3000" dirty="0"/>
          </a:p>
        </p:txBody>
      </p:sp>
      <p:sp>
        <p:nvSpPr>
          <p:cNvPr id="8" name="Text 5"/>
          <p:cNvSpPr txBox="1"/>
          <p:nvPr/>
        </p:nvSpPr>
        <p:spPr>
          <a:xfrm>
            <a:off x="3611880" y="2971800"/>
            <a:ext cx="2194560" cy="502920"/>
          </a:xfrm>
          <a:prstGeom prst="rect">
            <a:avLst/>
          </a:prstGeom>
          <a:noFill/>
          <a:ln/>
        </p:spPr>
        <p:txBody>
          <a:bodyPr wrap="square" lIns="0" tIns="0" rIns="0" bIns="0" rtlCol="0" anchor="t"/>
          <a:lstStyle/>
          <a:p>
            <a:pPr indent="0" marL="0">
              <a:buNone/>
            </a:pPr>
            <a:r>
              <a:rPr lang="en-US" sz="1300" dirty="0">
                <a:solidFill>
                  <a:srgbClr val="6B6B6B"/>
                </a:solidFill>
                <a:latin typeface="Calibri" pitchFamily="34" charset="0"/>
                <a:ea typeface="Calibri" pitchFamily="34" charset="-122"/>
                <a:cs typeface="Calibri" pitchFamily="34" charset="-120"/>
              </a:rPr>
              <a:t>Male · 2,652 customers · $59.54 per order</a:t>
            </a:r>
            <a:endParaRPr lang="en-US" sz="1300" dirty="0"/>
          </a:p>
        </p:txBody>
      </p:sp>
      <p:sp>
        <p:nvSpPr>
          <p:cNvPr id="9" name="Text 6"/>
          <p:cNvSpPr txBox="1"/>
          <p:nvPr/>
        </p:nvSpPr>
        <p:spPr>
          <a:xfrm>
            <a:off x="3611880" y="3794760"/>
            <a:ext cx="2194560" cy="685800"/>
          </a:xfrm>
          <a:prstGeom prst="rect">
            <a:avLst/>
          </a:prstGeom>
          <a:noFill/>
          <a:ln/>
        </p:spPr>
        <p:txBody>
          <a:bodyPr wrap="square" lIns="0" tIns="0" rIns="0" bIns="0" rtlCol="0" anchor="b"/>
          <a:lstStyle/>
          <a:p>
            <a:pPr indent="0" marL="0">
              <a:buNone/>
            </a:pPr>
            <a:r>
              <a:rPr lang="en-US" sz="3000" b="1" dirty="0">
                <a:solidFill>
                  <a:srgbClr val="E669B9"/>
                </a:solidFill>
                <a:latin typeface="Calibri" pitchFamily="34" charset="0"/>
                <a:ea typeface="Calibri" pitchFamily="34" charset="-122"/>
                <a:cs typeface="Calibri" pitchFamily="34" charset="-120"/>
              </a:rPr>
              <a:t>$75,191</a:t>
            </a:r>
            <a:endParaRPr lang="en-US" sz="3000" dirty="0"/>
          </a:p>
        </p:txBody>
      </p:sp>
      <p:sp>
        <p:nvSpPr>
          <p:cNvPr id="10" name="Text 7"/>
          <p:cNvSpPr txBox="1"/>
          <p:nvPr/>
        </p:nvSpPr>
        <p:spPr>
          <a:xfrm>
            <a:off x="3611880" y="4526280"/>
            <a:ext cx="2194560" cy="502920"/>
          </a:xfrm>
          <a:prstGeom prst="rect">
            <a:avLst/>
          </a:prstGeom>
          <a:noFill/>
          <a:ln/>
        </p:spPr>
        <p:txBody>
          <a:bodyPr wrap="square" lIns="0" tIns="0" rIns="0" bIns="0" rtlCol="0" anchor="t"/>
          <a:lstStyle/>
          <a:p>
            <a:pPr indent="0" marL="0">
              <a:buNone/>
            </a:pPr>
            <a:r>
              <a:rPr lang="en-US" sz="1300" dirty="0">
                <a:solidFill>
                  <a:srgbClr val="6B6B6B"/>
                </a:solidFill>
                <a:latin typeface="Calibri" pitchFamily="34" charset="0"/>
                <a:ea typeface="Calibri" pitchFamily="34" charset="-122"/>
                <a:cs typeface="Calibri" pitchFamily="34" charset="-120"/>
              </a:rPr>
              <a:t>Female · 1,248 customers · $60.25 per order</a:t>
            </a:r>
            <a:endParaRPr lang="en-US" sz="1300" dirty="0"/>
          </a:p>
        </p:txBody>
      </p:sp>
      <p:sp>
        <p:nvSpPr>
          <p:cNvPr id="11" name="Shape 8"/>
          <p:cNvSpPr/>
          <p:nvPr/>
        </p:nvSpPr>
        <p:spPr>
          <a:xfrm>
            <a:off x="6263640" y="1600200"/>
            <a:ext cx="5376672" cy="3886200"/>
          </a:xfrm>
          <a:prstGeom prst="roundRect">
            <a:avLst>
              <a:gd name="adj" fmla="val 1882"/>
            </a:avLst>
          </a:prstGeom>
          <a:solidFill>
            <a:srgbClr val="F8F0F9"/>
          </a:solidFill>
          <a:ln w="12700">
            <a:solidFill>
              <a:srgbClr val="F8F0F9"/>
            </a:solidFill>
            <a:prstDash val="solid"/>
          </a:ln>
        </p:spPr>
      </p:sp>
      <p:sp>
        <p:nvSpPr>
          <p:cNvPr id="12" name="Text 9"/>
          <p:cNvSpPr txBox="1"/>
          <p:nvPr/>
        </p:nvSpPr>
        <p:spPr>
          <a:xfrm>
            <a:off x="6537960" y="1737360"/>
            <a:ext cx="4572000" cy="320040"/>
          </a:xfrm>
          <a:prstGeom prst="rect">
            <a:avLst/>
          </a:prstGeom>
          <a:noFill/>
          <a:ln/>
        </p:spPr>
        <p:txBody>
          <a:bodyPr wrap="square" lIns="0" tIns="0" rIns="0" bIns="0" rtlCol="0" anchor="ctr"/>
          <a:lstStyle/>
          <a:p>
            <a:pPr indent="0" marL="0">
              <a:buNone/>
            </a:pPr>
            <a:r>
              <a:rPr lang="en-US" sz="1600" b="1" dirty="0">
                <a:solidFill>
                  <a:srgbClr val="6B007B"/>
                </a:solidFill>
                <a:latin typeface="Calibri" pitchFamily="34" charset="0"/>
                <a:ea typeface="Calibri" pitchFamily="34" charset="-122"/>
                <a:cs typeface="Calibri" pitchFamily="34" charset="-120"/>
              </a:rPr>
              <a:t>Revenue by age group</a:t>
            </a:r>
            <a:endParaRPr lang="en-US" sz="1600" dirty="0"/>
          </a:p>
        </p:txBody>
      </p:sp>
      <p:graphicFrame>
        <p:nvGraphicFramePr>
          <p:cNvPr id="13" name="Chart 1" descr=""/>
          <p:cNvGraphicFramePr/>
          <p:nvPr/>
        </p:nvGraphicFramePr>
        <p:xfrm>
          <a:off x="6400800" y="2103120"/>
          <a:ext cx="5120640" cy="3246120"/>
        </p:xfrm>
        <a:graphic xmlns:a="http://schemas.openxmlformats.org/drawingml/2006/main">
          <a:graphicData uri="http://schemas.openxmlformats.org/drawingml/2006/chart">
            <c:chart xmlns:c="http://schemas.openxmlformats.org/drawingml/2006/chart" r:id="rId2"/>
          </a:graphicData>
        </a:graphic>
      </p:graphicFrame>
      <p:sp>
        <p:nvSpPr>
          <p:cNvPr id="14" name="Shape 10"/>
          <p:cNvSpPr/>
          <p:nvPr/>
        </p:nvSpPr>
        <p:spPr>
          <a:xfrm>
            <a:off x="548640" y="5669280"/>
            <a:ext cx="11094415" cy="566928"/>
          </a:xfrm>
          <a:prstGeom prst="roundRect">
            <a:avLst>
              <a:gd name="adj" fmla="val 12903"/>
            </a:avLst>
          </a:prstGeom>
          <a:solidFill>
            <a:srgbClr val="FCEFF7"/>
          </a:solidFill>
          <a:ln w="12700">
            <a:solidFill>
              <a:srgbClr val="FCEFF7"/>
            </a:solidFill>
            <a:prstDash val="solid"/>
          </a:ln>
        </p:spPr>
      </p:sp>
      <p:sp>
        <p:nvSpPr>
          <p:cNvPr id="15" name="Shape 11"/>
          <p:cNvSpPr/>
          <p:nvPr/>
        </p:nvSpPr>
        <p:spPr>
          <a:xfrm>
            <a:off x="676656" y="5760720"/>
            <a:ext cx="384048" cy="384048"/>
          </a:xfrm>
          <a:prstGeom prst="ellipse">
            <a:avLst/>
          </a:prstGeom>
          <a:solidFill>
            <a:srgbClr val="E669B9"/>
          </a:solidFill>
          <a:ln w="12700">
            <a:solidFill>
              <a:srgbClr val="E669B9"/>
            </a:solidFill>
            <a:prstDash val="solid"/>
          </a:ln>
        </p:spPr>
      </p:sp>
      <p:pic>
        <p:nvPicPr>
          <p:cNvPr id="16" name="Image 0" descr="preencoded.png">    </p:cNvPr>
          <p:cNvPicPr>
            <a:picLocks noChangeAspect="1"/>
          </p:cNvPicPr>
          <p:nvPr/>
        </p:nvPicPr>
        <p:blipFill>
          <a:blip r:embed="rId3"/>
          <a:stretch>
            <a:fillRect/>
          </a:stretch>
        </p:blipFill>
        <p:spPr>
          <a:xfrm>
            <a:off x="768096" y="5852160"/>
            <a:ext cx="201168" cy="201168"/>
          </a:xfrm>
          <a:prstGeom prst="rect">
            <a:avLst/>
          </a:prstGeom>
        </p:spPr>
      </p:pic>
      <p:sp>
        <p:nvSpPr>
          <p:cNvPr id="17" name="Text 12"/>
          <p:cNvSpPr txBox="1"/>
          <p:nvPr/>
        </p:nvSpPr>
        <p:spPr>
          <a:xfrm>
            <a:off x="1234440" y="5669280"/>
            <a:ext cx="10225735" cy="566928"/>
          </a:xfrm>
          <a:prstGeom prst="rect">
            <a:avLst/>
          </a:prstGeom>
          <a:noFill/>
          <a:ln/>
        </p:spPr>
        <p:txBody>
          <a:bodyPr wrap="square" lIns="0" tIns="0" rIns="0" bIns="0" rtlCol="0" anchor="ctr"/>
          <a:lstStyle/>
          <a:p>
            <a:pPr indent="0" marL="0">
              <a:buNone/>
            </a:pPr>
            <a:r>
              <a:rPr lang="en-US" sz="1500" b="1" dirty="0">
                <a:solidFill>
                  <a:srgbClr val="6B007B"/>
                </a:solidFill>
                <a:latin typeface="Calibri" pitchFamily="34" charset="0"/>
                <a:ea typeface="Calibri" pitchFamily="34" charset="-122"/>
                <a:cs typeface="Calibri" pitchFamily="34" charset="-120"/>
              </a:rPr>
              <a:t>So what: </a:t>
            </a:r>
            <a:pPr indent="0" marL="0">
              <a:buNone/>
            </a:pPr>
            <a:r>
              <a:rPr lang="en-US" sz="1500" dirty="0">
                <a:solidFill>
                  <a:srgbClr val="2B2B2B"/>
                </a:solidFill>
                <a:latin typeface="Calibri" pitchFamily="34" charset="0"/>
                <a:ea typeface="Calibri" pitchFamily="34" charset="-122"/>
                <a:cs typeface="Calibri" pitchFamily="34" charset="-120"/>
              </a:rPr>
              <a:t>men bring in two-thirds of revenue, and Young Adults lead by age, but spend per order is the same for everyone.</a:t>
            </a:r>
            <a:endParaRPr lang="en-US" sz="1500" dirty="0"/>
          </a:p>
        </p:txBody>
      </p:sp>
      <p:sp>
        <p:nvSpPr>
          <p:cNvPr id="18" name="Text 13"/>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Customer Shopping Behaviour Analysis</a:t>
            </a:r>
            <a:endParaRPr lang="en-US" sz="1000" dirty="0"/>
          </a:p>
        </p:txBody>
      </p:sp>
      <p:sp>
        <p:nvSpPr>
          <p:cNvPr id="19" name="Text 14"/>
          <p:cNvSpPr txBox="1"/>
          <p:nvPr/>
        </p:nvSpPr>
        <p:spPr>
          <a:xfrm>
            <a:off x="10728655" y="6419088"/>
            <a:ext cx="9144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E669B9"/>
                </a:solidFill>
                <a:latin typeface="Calibri" pitchFamily="34" charset="0"/>
                <a:ea typeface="Calibri" pitchFamily="34" charset="-122"/>
                <a:cs typeface="Calibri" pitchFamily="34" charset="-120"/>
              </a:rPr>
              <a:t>PRODUCTS · DASHBOARD AND SQL Q8</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3000" b="1" dirty="0">
                <a:solidFill>
                  <a:srgbClr val="6B007B"/>
                </a:solidFill>
                <a:latin typeface="Calibri" pitchFamily="34" charset="0"/>
                <a:ea typeface="Calibri" pitchFamily="34" charset="-122"/>
                <a:cs typeface="Calibri" pitchFamily="34" charset="-120"/>
              </a:rPr>
              <a:t>Clothing and Accessories carry the business</a:t>
            </a:r>
            <a:endParaRPr lang="en-US" sz="3000" dirty="0"/>
          </a:p>
        </p:txBody>
      </p:sp>
      <p:sp>
        <p:nvSpPr>
          <p:cNvPr id="4" name="Text 2"/>
          <p:cNvSpPr txBox="1"/>
          <p:nvPr/>
        </p:nvSpPr>
        <p:spPr>
          <a:xfrm>
            <a:off x="548640" y="1645920"/>
            <a:ext cx="4572000" cy="274320"/>
          </a:xfrm>
          <a:prstGeom prst="rect">
            <a:avLst/>
          </a:prstGeom>
          <a:noFill/>
          <a:ln/>
        </p:spPr>
        <p:txBody>
          <a:bodyPr wrap="square" lIns="0" tIns="0" rIns="0" bIns="0" rtlCol="0" anchor="ctr"/>
          <a:lstStyle/>
          <a:p>
            <a:pPr indent="0" marL="0">
              <a:buNone/>
            </a:pPr>
            <a:r>
              <a:rPr lang="en-US" sz="1600" b="1" dirty="0">
                <a:solidFill>
                  <a:srgbClr val="6B007B"/>
                </a:solidFill>
                <a:latin typeface="Calibri" pitchFamily="34" charset="0"/>
                <a:ea typeface="Calibri" pitchFamily="34" charset="-122"/>
                <a:cs typeface="Calibri" pitchFamily="34" charset="-120"/>
              </a:rPr>
              <a:t>Revenue by category</a:t>
            </a:r>
            <a:endParaRPr lang="en-US" sz="1600" dirty="0"/>
          </a:p>
        </p:txBody>
      </p:sp>
      <p:graphicFrame>
        <p:nvGraphicFramePr>
          <p:cNvPr id="5" name="Chart 0" descr=""/>
          <p:cNvGraphicFramePr/>
          <p:nvPr/>
        </p:nvGraphicFramePr>
        <p:xfrm>
          <a:off x="457200" y="1965960"/>
          <a:ext cx="5669280" cy="35204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492240" y="1645920"/>
            <a:ext cx="4572000" cy="274320"/>
          </a:xfrm>
          <a:prstGeom prst="rect">
            <a:avLst/>
          </a:prstGeom>
          <a:noFill/>
          <a:ln/>
        </p:spPr>
        <p:txBody>
          <a:bodyPr wrap="square" lIns="0" tIns="0" rIns="0" bIns="0" rtlCol="0" anchor="ctr"/>
          <a:lstStyle/>
          <a:p>
            <a:pPr indent="0" marL="0">
              <a:buNone/>
            </a:pPr>
            <a:r>
              <a:rPr lang="en-US" sz="1600" b="1" dirty="0">
                <a:solidFill>
                  <a:srgbClr val="6B007B"/>
                </a:solidFill>
                <a:latin typeface="Calibri" pitchFamily="34" charset="0"/>
                <a:ea typeface="Calibri" pitchFamily="34" charset="-122"/>
                <a:cs typeface="Calibri" pitchFamily="34" charset="-120"/>
              </a:rPr>
              <a:t>Top products by orders</a:t>
            </a:r>
            <a:endParaRPr lang="en-US" sz="1600" dirty="0"/>
          </a:p>
        </p:txBody>
      </p:sp>
      <p:sp>
        <p:nvSpPr>
          <p:cNvPr id="7" name="Shape 4"/>
          <p:cNvSpPr/>
          <p:nvPr/>
        </p:nvSpPr>
        <p:spPr>
          <a:xfrm>
            <a:off x="6492240" y="2011680"/>
            <a:ext cx="5148072" cy="749808"/>
          </a:xfrm>
          <a:prstGeom prst="roundRect">
            <a:avLst>
              <a:gd name="adj" fmla="val 9756"/>
            </a:avLst>
          </a:prstGeom>
          <a:solidFill>
            <a:srgbClr val="F8F0F9"/>
          </a:solidFill>
          <a:ln w="12700">
            <a:solidFill>
              <a:srgbClr val="F8F0F9"/>
            </a:solidFill>
            <a:prstDash val="solid"/>
          </a:ln>
        </p:spPr>
      </p:sp>
      <p:sp>
        <p:nvSpPr>
          <p:cNvPr id="8" name="Text 5"/>
          <p:cNvSpPr txBox="1"/>
          <p:nvPr/>
        </p:nvSpPr>
        <p:spPr>
          <a:xfrm>
            <a:off x="6720840" y="2084832"/>
            <a:ext cx="2286000" cy="320040"/>
          </a:xfrm>
          <a:prstGeom prst="rect">
            <a:avLst/>
          </a:prstGeom>
          <a:noFill/>
          <a:ln/>
        </p:spPr>
        <p:txBody>
          <a:bodyPr wrap="square" lIns="0" tIns="0" rIns="0" bIns="0" rtlCol="0" anchor="ctr"/>
          <a:lstStyle/>
          <a:p>
            <a:pPr indent="0" marL="0">
              <a:buNone/>
            </a:pPr>
            <a:r>
              <a:rPr lang="en-US" sz="1600" b="1" dirty="0">
                <a:solidFill>
                  <a:srgbClr val="12239E"/>
                </a:solidFill>
                <a:latin typeface="Calibri" pitchFamily="34" charset="0"/>
                <a:ea typeface="Calibri" pitchFamily="34" charset="-122"/>
                <a:cs typeface="Calibri" pitchFamily="34" charset="-120"/>
              </a:rPr>
              <a:t>Clothing</a:t>
            </a:r>
            <a:endParaRPr lang="en-US" sz="1600" dirty="0"/>
          </a:p>
        </p:txBody>
      </p:sp>
      <p:sp>
        <p:nvSpPr>
          <p:cNvPr id="9" name="Text 6"/>
          <p:cNvSpPr txBox="1"/>
          <p:nvPr/>
        </p:nvSpPr>
        <p:spPr>
          <a:xfrm>
            <a:off x="9144000" y="2084832"/>
            <a:ext cx="2286000" cy="320040"/>
          </a:xfrm>
          <a:prstGeom prst="rect">
            <a:avLst/>
          </a:prstGeom>
          <a:noFill/>
          <a:ln/>
        </p:spPr>
        <p:txBody>
          <a:bodyPr wrap="square" lIns="0" tIns="0" rIns="0" bIns="0" rtlCol="0" anchor="ctr"/>
          <a:lstStyle/>
          <a:p>
            <a:pPr algn="r" indent="0" marL="0">
              <a:buNone/>
            </a:pPr>
            <a:r>
              <a:rPr lang="en-US" sz="1300" b="1" dirty="0">
                <a:solidFill>
                  <a:srgbClr val="E669B9"/>
                </a:solidFill>
                <a:latin typeface="Calibri" pitchFamily="34" charset="0"/>
                <a:ea typeface="Calibri" pitchFamily="34" charset="-122"/>
                <a:cs typeface="Calibri" pitchFamily="34" charset="-120"/>
              </a:rPr>
              <a:t>44.7% of revenue</a:t>
            </a:r>
            <a:endParaRPr lang="en-US" sz="1300" dirty="0"/>
          </a:p>
        </p:txBody>
      </p:sp>
      <p:sp>
        <p:nvSpPr>
          <p:cNvPr id="10" name="Text 7"/>
          <p:cNvSpPr txBox="1"/>
          <p:nvPr/>
        </p:nvSpPr>
        <p:spPr>
          <a:xfrm>
            <a:off x="6720840" y="2414016"/>
            <a:ext cx="4754880" cy="27432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Blouse 171  ·  Pants 171  ·  Shirt 169</a:t>
            </a:r>
            <a:endParaRPr lang="en-US" sz="1300" dirty="0"/>
          </a:p>
        </p:txBody>
      </p:sp>
      <p:sp>
        <p:nvSpPr>
          <p:cNvPr id="11" name="Shape 8"/>
          <p:cNvSpPr/>
          <p:nvPr/>
        </p:nvSpPr>
        <p:spPr>
          <a:xfrm>
            <a:off x="6492240" y="2880360"/>
            <a:ext cx="5148072" cy="749808"/>
          </a:xfrm>
          <a:prstGeom prst="roundRect">
            <a:avLst>
              <a:gd name="adj" fmla="val 9756"/>
            </a:avLst>
          </a:prstGeom>
          <a:solidFill>
            <a:srgbClr val="F8F0F9"/>
          </a:solidFill>
          <a:ln w="12700">
            <a:solidFill>
              <a:srgbClr val="F8F0F9"/>
            </a:solidFill>
            <a:prstDash val="solid"/>
          </a:ln>
        </p:spPr>
      </p:sp>
      <p:sp>
        <p:nvSpPr>
          <p:cNvPr id="12" name="Text 9"/>
          <p:cNvSpPr txBox="1"/>
          <p:nvPr/>
        </p:nvSpPr>
        <p:spPr>
          <a:xfrm>
            <a:off x="6720840" y="2953512"/>
            <a:ext cx="2286000" cy="320040"/>
          </a:xfrm>
          <a:prstGeom prst="rect">
            <a:avLst/>
          </a:prstGeom>
          <a:noFill/>
          <a:ln/>
        </p:spPr>
        <p:txBody>
          <a:bodyPr wrap="square" lIns="0" tIns="0" rIns="0" bIns="0" rtlCol="0" anchor="ctr"/>
          <a:lstStyle/>
          <a:p>
            <a:pPr indent="0" marL="0">
              <a:buNone/>
            </a:pPr>
            <a:r>
              <a:rPr lang="en-US" sz="1600" b="1" dirty="0">
                <a:solidFill>
                  <a:srgbClr val="12239E"/>
                </a:solidFill>
                <a:latin typeface="Calibri" pitchFamily="34" charset="0"/>
                <a:ea typeface="Calibri" pitchFamily="34" charset="-122"/>
                <a:cs typeface="Calibri" pitchFamily="34" charset="-120"/>
              </a:rPr>
              <a:t>Accessories</a:t>
            </a:r>
            <a:endParaRPr lang="en-US" sz="1600" dirty="0"/>
          </a:p>
        </p:txBody>
      </p:sp>
      <p:sp>
        <p:nvSpPr>
          <p:cNvPr id="13" name="Text 10"/>
          <p:cNvSpPr txBox="1"/>
          <p:nvPr/>
        </p:nvSpPr>
        <p:spPr>
          <a:xfrm>
            <a:off x="9144000" y="2953512"/>
            <a:ext cx="2286000" cy="320040"/>
          </a:xfrm>
          <a:prstGeom prst="rect">
            <a:avLst/>
          </a:prstGeom>
          <a:noFill/>
          <a:ln/>
        </p:spPr>
        <p:txBody>
          <a:bodyPr wrap="square" lIns="0" tIns="0" rIns="0" bIns="0" rtlCol="0" anchor="ctr"/>
          <a:lstStyle/>
          <a:p>
            <a:pPr algn="r" indent="0" marL="0">
              <a:buNone/>
            </a:pPr>
            <a:r>
              <a:rPr lang="en-US" sz="1300" b="1" dirty="0">
                <a:solidFill>
                  <a:srgbClr val="E669B9"/>
                </a:solidFill>
                <a:latin typeface="Calibri" pitchFamily="34" charset="0"/>
                <a:ea typeface="Calibri" pitchFamily="34" charset="-122"/>
                <a:cs typeface="Calibri" pitchFamily="34" charset="-120"/>
              </a:rPr>
              <a:t>31.8% of revenue</a:t>
            </a:r>
            <a:endParaRPr lang="en-US" sz="1300" dirty="0"/>
          </a:p>
        </p:txBody>
      </p:sp>
      <p:sp>
        <p:nvSpPr>
          <p:cNvPr id="14" name="Text 11"/>
          <p:cNvSpPr txBox="1"/>
          <p:nvPr/>
        </p:nvSpPr>
        <p:spPr>
          <a:xfrm>
            <a:off x="6720840" y="3282696"/>
            <a:ext cx="4754880" cy="27432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Jewelry 171  ·  Belt 161  ·  Sunglasses 161</a:t>
            </a:r>
            <a:endParaRPr lang="en-US" sz="1300" dirty="0"/>
          </a:p>
        </p:txBody>
      </p:sp>
      <p:sp>
        <p:nvSpPr>
          <p:cNvPr id="15" name="Shape 12"/>
          <p:cNvSpPr/>
          <p:nvPr/>
        </p:nvSpPr>
        <p:spPr>
          <a:xfrm>
            <a:off x="6492240" y="3749040"/>
            <a:ext cx="5148072" cy="749808"/>
          </a:xfrm>
          <a:prstGeom prst="roundRect">
            <a:avLst>
              <a:gd name="adj" fmla="val 9756"/>
            </a:avLst>
          </a:prstGeom>
          <a:solidFill>
            <a:srgbClr val="F8F0F9"/>
          </a:solidFill>
          <a:ln w="12700">
            <a:solidFill>
              <a:srgbClr val="F8F0F9"/>
            </a:solidFill>
            <a:prstDash val="solid"/>
          </a:ln>
        </p:spPr>
      </p:sp>
      <p:sp>
        <p:nvSpPr>
          <p:cNvPr id="16" name="Text 13"/>
          <p:cNvSpPr txBox="1"/>
          <p:nvPr/>
        </p:nvSpPr>
        <p:spPr>
          <a:xfrm>
            <a:off x="6720840" y="3822192"/>
            <a:ext cx="2286000" cy="320040"/>
          </a:xfrm>
          <a:prstGeom prst="rect">
            <a:avLst/>
          </a:prstGeom>
          <a:noFill/>
          <a:ln/>
        </p:spPr>
        <p:txBody>
          <a:bodyPr wrap="square" lIns="0" tIns="0" rIns="0" bIns="0" rtlCol="0" anchor="ctr"/>
          <a:lstStyle/>
          <a:p>
            <a:pPr indent="0" marL="0">
              <a:buNone/>
            </a:pPr>
            <a:r>
              <a:rPr lang="en-US" sz="1600" b="1" dirty="0">
                <a:solidFill>
                  <a:srgbClr val="893395"/>
                </a:solidFill>
                <a:latin typeface="Calibri" pitchFamily="34" charset="0"/>
                <a:ea typeface="Calibri" pitchFamily="34" charset="-122"/>
                <a:cs typeface="Calibri" pitchFamily="34" charset="-120"/>
              </a:rPr>
              <a:t>Footwear</a:t>
            </a:r>
            <a:endParaRPr lang="en-US" sz="1600" dirty="0"/>
          </a:p>
        </p:txBody>
      </p:sp>
      <p:sp>
        <p:nvSpPr>
          <p:cNvPr id="17" name="Text 14"/>
          <p:cNvSpPr txBox="1"/>
          <p:nvPr/>
        </p:nvSpPr>
        <p:spPr>
          <a:xfrm>
            <a:off x="9144000" y="3822192"/>
            <a:ext cx="2286000" cy="320040"/>
          </a:xfrm>
          <a:prstGeom prst="rect">
            <a:avLst/>
          </a:prstGeom>
          <a:noFill/>
          <a:ln/>
        </p:spPr>
        <p:txBody>
          <a:bodyPr wrap="square" lIns="0" tIns="0" rIns="0" bIns="0" rtlCol="0" anchor="ctr"/>
          <a:lstStyle/>
          <a:p>
            <a:pPr algn="r" indent="0" marL="0">
              <a:buNone/>
            </a:pPr>
            <a:r>
              <a:rPr lang="en-US" sz="1300" b="1" dirty="0">
                <a:solidFill>
                  <a:srgbClr val="E669B9"/>
                </a:solidFill>
                <a:latin typeface="Calibri" pitchFamily="34" charset="0"/>
                <a:ea typeface="Calibri" pitchFamily="34" charset="-122"/>
                <a:cs typeface="Calibri" pitchFamily="34" charset="-120"/>
              </a:rPr>
              <a:t>15.5% of revenue</a:t>
            </a:r>
            <a:endParaRPr lang="en-US" sz="1300" dirty="0"/>
          </a:p>
        </p:txBody>
      </p:sp>
      <p:sp>
        <p:nvSpPr>
          <p:cNvPr id="18" name="Text 15"/>
          <p:cNvSpPr txBox="1"/>
          <p:nvPr/>
        </p:nvSpPr>
        <p:spPr>
          <a:xfrm>
            <a:off x="6720840" y="4151376"/>
            <a:ext cx="4754880" cy="27432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Sandals 160  ·  Shoes 150  ·  Sneakers 145</a:t>
            </a:r>
            <a:endParaRPr lang="en-US" sz="1300" dirty="0"/>
          </a:p>
        </p:txBody>
      </p:sp>
      <p:sp>
        <p:nvSpPr>
          <p:cNvPr id="19" name="Shape 16"/>
          <p:cNvSpPr/>
          <p:nvPr/>
        </p:nvSpPr>
        <p:spPr>
          <a:xfrm>
            <a:off x="6492240" y="4617720"/>
            <a:ext cx="5148072" cy="749808"/>
          </a:xfrm>
          <a:prstGeom prst="roundRect">
            <a:avLst>
              <a:gd name="adj" fmla="val 9756"/>
            </a:avLst>
          </a:prstGeom>
          <a:solidFill>
            <a:srgbClr val="F8F0F9"/>
          </a:solidFill>
          <a:ln w="12700">
            <a:solidFill>
              <a:srgbClr val="F8F0F9"/>
            </a:solidFill>
            <a:prstDash val="solid"/>
          </a:ln>
        </p:spPr>
      </p:sp>
      <p:sp>
        <p:nvSpPr>
          <p:cNvPr id="20" name="Text 17"/>
          <p:cNvSpPr txBox="1"/>
          <p:nvPr/>
        </p:nvSpPr>
        <p:spPr>
          <a:xfrm>
            <a:off x="6720840" y="4690872"/>
            <a:ext cx="2286000" cy="320040"/>
          </a:xfrm>
          <a:prstGeom prst="rect">
            <a:avLst/>
          </a:prstGeom>
          <a:noFill/>
          <a:ln/>
        </p:spPr>
        <p:txBody>
          <a:bodyPr wrap="square" lIns="0" tIns="0" rIns="0" bIns="0" rtlCol="0" anchor="ctr"/>
          <a:lstStyle/>
          <a:p>
            <a:pPr indent="0" marL="0">
              <a:buNone/>
            </a:pPr>
            <a:r>
              <a:rPr lang="en-US" sz="1600" b="1" dirty="0">
                <a:solidFill>
                  <a:srgbClr val="893395"/>
                </a:solidFill>
                <a:latin typeface="Calibri" pitchFamily="34" charset="0"/>
                <a:ea typeface="Calibri" pitchFamily="34" charset="-122"/>
                <a:cs typeface="Calibri" pitchFamily="34" charset="-120"/>
              </a:rPr>
              <a:t>Outerwear</a:t>
            </a:r>
            <a:endParaRPr lang="en-US" sz="1600" dirty="0"/>
          </a:p>
        </p:txBody>
      </p:sp>
      <p:sp>
        <p:nvSpPr>
          <p:cNvPr id="21" name="Text 18"/>
          <p:cNvSpPr txBox="1"/>
          <p:nvPr/>
        </p:nvSpPr>
        <p:spPr>
          <a:xfrm>
            <a:off x="9144000" y="4690872"/>
            <a:ext cx="2286000" cy="320040"/>
          </a:xfrm>
          <a:prstGeom prst="rect">
            <a:avLst/>
          </a:prstGeom>
          <a:noFill/>
          <a:ln/>
        </p:spPr>
        <p:txBody>
          <a:bodyPr wrap="square" lIns="0" tIns="0" rIns="0" bIns="0" rtlCol="0" anchor="ctr"/>
          <a:lstStyle/>
          <a:p>
            <a:pPr algn="r" indent="0" marL="0">
              <a:buNone/>
            </a:pPr>
            <a:r>
              <a:rPr lang="en-US" sz="1300" b="1" dirty="0">
                <a:solidFill>
                  <a:srgbClr val="E669B9"/>
                </a:solidFill>
                <a:latin typeface="Calibri" pitchFamily="34" charset="0"/>
                <a:ea typeface="Calibri" pitchFamily="34" charset="-122"/>
                <a:cs typeface="Calibri" pitchFamily="34" charset="-120"/>
              </a:rPr>
              <a:t>7.9% of revenue</a:t>
            </a:r>
            <a:endParaRPr lang="en-US" sz="1300" dirty="0"/>
          </a:p>
        </p:txBody>
      </p:sp>
      <p:sp>
        <p:nvSpPr>
          <p:cNvPr id="22" name="Text 19"/>
          <p:cNvSpPr txBox="1"/>
          <p:nvPr/>
        </p:nvSpPr>
        <p:spPr>
          <a:xfrm>
            <a:off x="6720840" y="5020056"/>
            <a:ext cx="4754880" cy="27432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Jacket 163  ·  Coat 161</a:t>
            </a:r>
            <a:endParaRPr lang="en-US" sz="1300" dirty="0"/>
          </a:p>
        </p:txBody>
      </p:sp>
      <p:sp>
        <p:nvSpPr>
          <p:cNvPr id="23" name="Shape 20"/>
          <p:cNvSpPr/>
          <p:nvPr/>
        </p:nvSpPr>
        <p:spPr>
          <a:xfrm>
            <a:off x="548640" y="5669280"/>
            <a:ext cx="11094415" cy="566928"/>
          </a:xfrm>
          <a:prstGeom prst="roundRect">
            <a:avLst>
              <a:gd name="adj" fmla="val 12903"/>
            </a:avLst>
          </a:prstGeom>
          <a:solidFill>
            <a:srgbClr val="FCEFF7"/>
          </a:solidFill>
          <a:ln w="12700">
            <a:solidFill>
              <a:srgbClr val="FCEFF7"/>
            </a:solidFill>
            <a:prstDash val="solid"/>
          </a:ln>
        </p:spPr>
      </p:sp>
      <p:sp>
        <p:nvSpPr>
          <p:cNvPr id="24" name="Shape 21"/>
          <p:cNvSpPr/>
          <p:nvPr/>
        </p:nvSpPr>
        <p:spPr>
          <a:xfrm>
            <a:off x="676656" y="5760720"/>
            <a:ext cx="384048" cy="384048"/>
          </a:xfrm>
          <a:prstGeom prst="ellipse">
            <a:avLst/>
          </a:prstGeom>
          <a:solidFill>
            <a:srgbClr val="E669B9"/>
          </a:solidFill>
          <a:ln w="12700">
            <a:solidFill>
              <a:srgbClr val="E669B9"/>
            </a:solidFill>
            <a:prstDash val="solid"/>
          </a:ln>
        </p:spPr>
      </p:sp>
      <p:pic>
        <p:nvPicPr>
          <p:cNvPr id="25" name="Image 0" descr="preencoded.png">    </p:cNvPr>
          <p:cNvPicPr>
            <a:picLocks noChangeAspect="1"/>
          </p:cNvPicPr>
          <p:nvPr/>
        </p:nvPicPr>
        <p:blipFill>
          <a:blip r:embed="rId2"/>
          <a:stretch>
            <a:fillRect/>
          </a:stretch>
        </p:blipFill>
        <p:spPr>
          <a:xfrm>
            <a:off x="768096" y="5852160"/>
            <a:ext cx="201168" cy="201168"/>
          </a:xfrm>
          <a:prstGeom prst="rect">
            <a:avLst/>
          </a:prstGeom>
        </p:spPr>
      </p:pic>
      <p:sp>
        <p:nvSpPr>
          <p:cNvPr id="26" name="Text 22"/>
          <p:cNvSpPr txBox="1"/>
          <p:nvPr/>
        </p:nvSpPr>
        <p:spPr>
          <a:xfrm>
            <a:off x="1234440" y="5669280"/>
            <a:ext cx="10225735" cy="566928"/>
          </a:xfrm>
          <a:prstGeom prst="rect">
            <a:avLst/>
          </a:prstGeom>
          <a:noFill/>
          <a:ln/>
        </p:spPr>
        <p:txBody>
          <a:bodyPr wrap="square" lIns="0" tIns="0" rIns="0" bIns="0" rtlCol="0" anchor="ctr"/>
          <a:lstStyle/>
          <a:p>
            <a:pPr indent="0" marL="0">
              <a:buNone/>
            </a:pPr>
            <a:r>
              <a:rPr lang="en-US" sz="1500" b="1" dirty="0">
                <a:solidFill>
                  <a:srgbClr val="6B007B"/>
                </a:solidFill>
                <a:latin typeface="Calibri" pitchFamily="34" charset="0"/>
                <a:ea typeface="Calibri" pitchFamily="34" charset="-122"/>
                <a:cs typeface="Calibri" pitchFamily="34" charset="-120"/>
              </a:rPr>
              <a:t>So what: </a:t>
            </a:r>
            <a:pPr indent="0" marL="0">
              <a:buNone/>
            </a:pPr>
            <a:r>
              <a:rPr lang="en-US" sz="1500" dirty="0">
                <a:solidFill>
                  <a:srgbClr val="2B2B2B"/>
                </a:solidFill>
                <a:latin typeface="Calibri" pitchFamily="34" charset="0"/>
                <a:ea typeface="Calibri" pitchFamily="34" charset="-122"/>
                <a:cs typeface="Calibri" pitchFamily="34" charset="-120"/>
              </a:rPr>
              <a:t>76.5% of revenue comes from Clothing and Accessories; bundle them with Footwear and Outerwear to grow both.</a:t>
            </a:r>
            <a:endParaRPr lang="en-US" sz="1500" dirty="0"/>
          </a:p>
        </p:txBody>
      </p:sp>
      <p:sp>
        <p:nvSpPr>
          <p:cNvPr id="27" name="Text 23"/>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Customer Shopping Behaviour Analysis</a:t>
            </a:r>
            <a:endParaRPr lang="en-US" sz="1000" dirty="0"/>
          </a:p>
        </p:txBody>
      </p:sp>
      <p:sp>
        <p:nvSpPr>
          <p:cNvPr id="28" name="Text 24"/>
          <p:cNvSpPr txBox="1"/>
          <p:nvPr/>
        </p:nvSpPr>
        <p:spPr>
          <a:xfrm>
            <a:off x="10728655" y="6419088"/>
            <a:ext cx="9144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E669B9"/>
                </a:solidFill>
                <a:latin typeface="Calibri" pitchFamily="34" charset="0"/>
                <a:ea typeface="Calibri" pitchFamily="34" charset="-122"/>
                <a:cs typeface="Calibri" pitchFamily="34" charset="-120"/>
              </a:rPr>
              <a:t>LOYALTY · SQL Q7</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3000" b="1" dirty="0">
                <a:solidFill>
                  <a:srgbClr val="6B007B"/>
                </a:solidFill>
                <a:latin typeface="Calibri" pitchFamily="34" charset="0"/>
                <a:ea typeface="Calibri" pitchFamily="34" charset="-122"/>
                <a:cs typeface="Calibri" pitchFamily="34" charset="-120"/>
              </a:rPr>
              <a:t>Most customers are already loyal</a:t>
            </a:r>
            <a:endParaRPr lang="en-US" sz="3000" dirty="0"/>
          </a:p>
        </p:txBody>
      </p:sp>
      <p:graphicFrame>
        <p:nvGraphicFramePr>
          <p:cNvPr id="4" name="Chart 0" descr=""/>
          <p:cNvGraphicFramePr/>
          <p:nvPr/>
        </p:nvGraphicFramePr>
        <p:xfrm>
          <a:off x="457200" y="1691640"/>
          <a:ext cx="6766560" cy="37490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98080" y="1691640"/>
            <a:ext cx="4142232" cy="1097280"/>
          </a:xfrm>
          <a:prstGeom prst="roundRect">
            <a:avLst>
              <a:gd name="adj" fmla="val 6667"/>
            </a:avLst>
          </a:prstGeom>
          <a:solidFill>
            <a:srgbClr val="F8F0F9"/>
          </a:solidFill>
          <a:ln w="12700">
            <a:solidFill>
              <a:srgbClr val="F8F0F9"/>
            </a:solidFill>
            <a:prstDash val="solid"/>
          </a:ln>
        </p:spPr>
      </p:sp>
      <p:sp>
        <p:nvSpPr>
          <p:cNvPr id="6" name="Text 3"/>
          <p:cNvSpPr txBox="1"/>
          <p:nvPr/>
        </p:nvSpPr>
        <p:spPr>
          <a:xfrm>
            <a:off x="7726680" y="1801368"/>
            <a:ext cx="1463040" cy="868680"/>
          </a:xfrm>
          <a:prstGeom prst="rect">
            <a:avLst/>
          </a:prstGeom>
          <a:noFill/>
          <a:ln/>
        </p:spPr>
        <p:txBody>
          <a:bodyPr wrap="square" lIns="0" tIns="0" rIns="0" bIns="0" rtlCol="0" anchor="ctr"/>
          <a:lstStyle/>
          <a:p>
            <a:pPr indent="0" marL="0">
              <a:buNone/>
            </a:pPr>
            <a:r>
              <a:rPr lang="en-US" sz="4000" b="1" dirty="0">
                <a:solidFill>
                  <a:srgbClr val="893395"/>
                </a:solidFill>
                <a:latin typeface="Calibri" pitchFamily="34" charset="0"/>
                <a:ea typeface="Calibri" pitchFamily="34" charset="-122"/>
                <a:cs typeface="Calibri" pitchFamily="34" charset="-120"/>
              </a:rPr>
              <a:t>80%</a:t>
            </a:r>
            <a:endParaRPr lang="en-US" sz="4000" dirty="0"/>
          </a:p>
        </p:txBody>
      </p:sp>
      <p:sp>
        <p:nvSpPr>
          <p:cNvPr id="7" name="Text 4"/>
          <p:cNvSpPr txBox="1"/>
          <p:nvPr/>
        </p:nvSpPr>
        <p:spPr>
          <a:xfrm>
            <a:off x="9235440" y="1801368"/>
            <a:ext cx="2240280" cy="86868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of customers are Loyal</a:t>
            </a:r>
            <a:endParaRPr lang="en-US" sz="1500" dirty="0"/>
          </a:p>
        </p:txBody>
      </p:sp>
      <p:sp>
        <p:nvSpPr>
          <p:cNvPr id="8" name="Shape 5"/>
          <p:cNvSpPr/>
          <p:nvPr/>
        </p:nvSpPr>
        <p:spPr>
          <a:xfrm>
            <a:off x="7498080" y="2953512"/>
            <a:ext cx="4142232" cy="1097280"/>
          </a:xfrm>
          <a:prstGeom prst="roundRect">
            <a:avLst>
              <a:gd name="adj" fmla="val 6667"/>
            </a:avLst>
          </a:prstGeom>
          <a:solidFill>
            <a:srgbClr val="F8F0F9"/>
          </a:solidFill>
          <a:ln w="12700">
            <a:solidFill>
              <a:srgbClr val="F8F0F9"/>
            </a:solidFill>
            <a:prstDash val="solid"/>
          </a:ln>
        </p:spPr>
      </p:sp>
      <p:sp>
        <p:nvSpPr>
          <p:cNvPr id="9" name="Text 6"/>
          <p:cNvSpPr txBox="1"/>
          <p:nvPr/>
        </p:nvSpPr>
        <p:spPr>
          <a:xfrm>
            <a:off x="7726680" y="3063240"/>
            <a:ext cx="1463040" cy="868680"/>
          </a:xfrm>
          <a:prstGeom prst="rect">
            <a:avLst/>
          </a:prstGeom>
          <a:noFill/>
          <a:ln/>
        </p:spPr>
        <p:txBody>
          <a:bodyPr wrap="square" lIns="0" tIns="0" rIns="0" bIns="0" rtlCol="0" anchor="ctr"/>
          <a:lstStyle/>
          <a:p>
            <a:pPr indent="0" marL="0">
              <a:buNone/>
            </a:pPr>
            <a:r>
              <a:rPr lang="en-US" sz="4000" b="1" dirty="0">
                <a:solidFill>
                  <a:srgbClr val="893395"/>
                </a:solidFill>
                <a:latin typeface="Calibri" pitchFamily="34" charset="0"/>
                <a:ea typeface="Calibri" pitchFamily="34" charset="-122"/>
                <a:cs typeface="Calibri" pitchFamily="34" charset="-120"/>
              </a:rPr>
              <a:t>25</a:t>
            </a:r>
            <a:endParaRPr lang="en-US" sz="4000" dirty="0"/>
          </a:p>
        </p:txBody>
      </p:sp>
      <p:sp>
        <p:nvSpPr>
          <p:cNvPr id="10" name="Text 7"/>
          <p:cNvSpPr txBox="1"/>
          <p:nvPr/>
        </p:nvSpPr>
        <p:spPr>
          <a:xfrm>
            <a:off x="9235440" y="3063240"/>
            <a:ext cx="2240280" cy="86868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previous purchases on average</a:t>
            </a:r>
            <a:endParaRPr lang="en-US" sz="1500" dirty="0"/>
          </a:p>
        </p:txBody>
      </p:sp>
      <p:sp>
        <p:nvSpPr>
          <p:cNvPr id="11" name="Shape 8"/>
          <p:cNvSpPr/>
          <p:nvPr/>
        </p:nvSpPr>
        <p:spPr>
          <a:xfrm>
            <a:off x="7498080" y="4215384"/>
            <a:ext cx="4142232" cy="1097280"/>
          </a:xfrm>
          <a:prstGeom prst="roundRect">
            <a:avLst>
              <a:gd name="adj" fmla="val 6667"/>
            </a:avLst>
          </a:prstGeom>
          <a:solidFill>
            <a:srgbClr val="F8F0F9"/>
          </a:solidFill>
          <a:ln w="12700">
            <a:solidFill>
              <a:srgbClr val="F8F0F9"/>
            </a:solidFill>
            <a:prstDash val="solid"/>
          </a:ln>
        </p:spPr>
      </p:sp>
      <p:sp>
        <p:nvSpPr>
          <p:cNvPr id="12" name="Text 9"/>
          <p:cNvSpPr txBox="1"/>
          <p:nvPr/>
        </p:nvSpPr>
        <p:spPr>
          <a:xfrm>
            <a:off x="7726680" y="4325112"/>
            <a:ext cx="1463040" cy="868680"/>
          </a:xfrm>
          <a:prstGeom prst="rect">
            <a:avLst/>
          </a:prstGeom>
          <a:noFill/>
          <a:ln/>
        </p:spPr>
        <p:txBody>
          <a:bodyPr wrap="square" lIns="0" tIns="0" rIns="0" bIns="0" rtlCol="0" anchor="ctr"/>
          <a:lstStyle/>
          <a:p>
            <a:pPr indent="0" marL="0">
              <a:buNone/>
            </a:pPr>
            <a:r>
              <a:rPr lang="en-US" sz="4000" b="1" dirty="0">
                <a:solidFill>
                  <a:srgbClr val="E669B9"/>
                </a:solidFill>
                <a:latin typeface="Calibri" pitchFamily="34" charset="0"/>
                <a:ea typeface="Calibri" pitchFamily="34" charset="-122"/>
                <a:cs typeface="Calibri" pitchFamily="34" charset="-120"/>
              </a:rPr>
              <a:t>2%</a:t>
            </a:r>
            <a:endParaRPr lang="en-US" sz="4000" dirty="0"/>
          </a:p>
        </p:txBody>
      </p:sp>
      <p:sp>
        <p:nvSpPr>
          <p:cNvPr id="13" name="Text 10"/>
          <p:cNvSpPr txBox="1"/>
          <p:nvPr/>
        </p:nvSpPr>
        <p:spPr>
          <a:xfrm>
            <a:off x="9235440" y="4325112"/>
            <a:ext cx="2240280" cy="86868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are New customers (83 people)</a:t>
            </a:r>
            <a:endParaRPr lang="en-US" sz="1500" dirty="0"/>
          </a:p>
        </p:txBody>
      </p:sp>
      <p:sp>
        <p:nvSpPr>
          <p:cNvPr id="14" name="Shape 11"/>
          <p:cNvSpPr/>
          <p:nvPr/>
        </p:nvSpPr>
        <p:spPr>
          <a:xfrm>
            <a:off x="548640" y="5669280"/>
            <a:ext cx="11094415" cy="566928"/>
          </a:xfrm>
          <a:prstGeom prst="roundRect">
            <a:avLst>
              <a:gd name="adj" fmla="val 12903"/>
            </a:avLst>
          </a:prstGeom>
          <a:solidFill>
            <a:srgbClr val="FCEFF7"/>
          </a:solidFill>
          <a:ln w="12700">
            <a:solidFill>
              <a:srgbClr val="FCEFF7"/>
            </a:solidFill>
            <a:prstDash val="solid"/>
          </a:ln>
        </p:spPr>
      </p:sp>
      <p:sp>
        <p:nvSpPr>
          <p:cNvPr id="15" name="Shape 12"/>
          <p:cNvSpPr/>
          <p:nvPr/>
        </p:nvSpPr>
        <p:spPr>
          <a:xfrm>
            <a:off x="676656" y="5760720"/>
            <a:ext cx="384048" cy="384048"/>
          </a:xfrm>
          <a:prstGeom prst="ellipse">
            <a:avLst/>
          </a:prstGeom>
          <a:solidFill>
            <a:srgbClr val="E669B9"/>
          </a:solidFill>
          <a:ln w="12700">
            <a:solidFill>
              <a:srgbClr val="E669B9"/>
            </a:solidFill>
            <a:prstDash val="solid"/>
          </a:ln>
        </p:spPr>
      </p:sp>
      <p:pic>
        <p:nvPicPr>
          <p:cNvPr id="16" name="Image 0" descr="preencoded.png">    </p:cNvPr>
          <p:cNvPicPr>
            <a:picLocks noChangeAspect="1"/>
          </p:cNvPicPr>
          <p:nvPr/>
        </p:nvPicPr>
        <p:blipFill>
          <a:blip r:embed="rId2"/>
          <a:stretch>
            <a:fillRect/>
          </a:stretch>
        </p:blipFill>
        <p:spPr>
          <a:xfrm>
            <a:off x="768096" y="5852160"/>
            <a:ext cx="201168" cy="201168"/>
          </a:xfrm>
          <a:prstGeom prst="rect">
            <a:avLst/>
          </a:prstGeom>
        </p:spPr>
      </p:pic>
      <p:sp>
        <p:nvSpPr>
          <p:cNvPr id="17" name="Text 13"/>
          <p:cNvSpPr txBox="1"/>
          <p:nvPr/>
        </p:nvSpPr>
        <p:spPr>
          <a:xfrm>
            <a:off x="1234440" y="5669280"/>
            <a:ext cx="10225735" cy="566928"/>
          </a:xfrm>
          <a:prstGeom prst="rect">
            <a:avLst/>
          </a:prstGeom>
          <a:noFill/>
          <a:ln/>
        </p:spPr>
        <p:txBody>
          <a:bodyPr wrap="square" lIns="0" tIns="0" rIns="0" bIns="0" rtlCol="0" anchor="ctr"/>
          <a:lstStyle/>
          <a:p>
            <a:pPr indent="0" marL="0">
              <a:buNone/>
            </a:pPr>
            <a:r>
              <a:rPr lang="en-US" sz="1500" b="1" dirty="0">
                <a:solidFill>
                  <a:srgbClr val="6B007B"/>
                </a:solidFill>
                <a:latin typeface="Calibri" pitchFamily="34" charset="0"/>
                <a:ea typeface="Calibri" pitchFamily="34" charset="-122"/>
                <a:cs typeface="Calibri" pitchFamily="34" charset="-120"/>
              </a:rPr>
              <a:t>So what: </a:t>
            </a:r>
            <a:pPr indent="0" marL="0">
              <a:buNone/>
            </a:pPr>
            <a:r>
              <a:rPr lang="en-US" sz="1500" dirty="0">
                <a:solidFill>
                  <a:srgbClr val="2B2B2B"/>
                </a:solidFill>
                <a:latin typeface="Calibri" pitchFamily="34" charset="0"/>
                <a:ea typeface="Calibri" pitchFamily="34" charset="-122"/>
                <a:cs typeface="Calibri" pitchFamily="34" charset="-120"/>
              </a:rPr>
              <a:t>the customer base is mature, so keeping loyal customers and raising their value matters more than acquisition alone.</a:t>
            </a:r>
            <a:endParaRPr lang="en-US" sz="1500" dirty="0"/>
          </a:p>
        </p:txBody>
      </p:sp>
      <p:sp>
        <p:nvSpPr>
          <p:cNvPr id="18" name="Text 14"/>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Customer Shopping Behaviour Analysis</a:t>
            </a:r>
            <a:endParaRPr lang="en-US" sz="1000" dirty="0"/>
          </a:p>
        </p:txBody>
      </p:sp>
      <p:sp>
        <p:nvSpPr>
          <p:cNvPr id="19" name="Text 15"/>
          <p:cNvSpPr txBox="1"/>
          <p:nvPr/>
        </p:nvSpPr>
        <p:spPr>
          <a:xfrm>
            <a:off x="10728655" y="6419088"/>
            <a:ext cx="9144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E669B9"/>
                </a:solidFill>
                <a:latin typeface="Calibri" pitchFamily="34" charset="0"/>
                <a:ea typeface="Calibri" pitchFamily="34" charset="-122"/>
                <a:cs typeface="Calibri" pitchFamily="34" charset="-120"/>
              </a:rPr>
              <a:t>SUBSCRIPTIONS · SQL Q5 AND Q9</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3000" b="1" dirty="0">
                <a:solidFill>
                  <a:srgbClr val="6B007B"/>
                </a:solidFill>
                <a:latin typeface="Calibri" pitchFamily="34" charset="0"/>
                <a:ea typeface="Calibri" pitchFamily="34" charset="-122"/>
                <a:cs typeface="Calibri" pitchFamily="34" charset="-120"/>
              </a:rPr>
              <a:t>The subscription is not lifting spend</a:t>
            </a:r>
            <a:endParaRPr lang="en-US" sz="3000" dirty="0"/>
          </a:p>
        </p:txBody>
      </p:sp>
      <p:sp>
        <p:nvSpPr>
          <p:cNvPr id="4" name="Shape 2"/>
          <p:cNvSpPr/>
          <p:nvPr/>
        </p:nvSpPr>
        <p:spPr>
          <a:xfrm>
            <a:off x="548640" y="1600200"/>
            <a:ext cx="3566160" cy="3886200"/>
          </a:xfrm>
          <a:prstGeom prst="roundRect">
            <a:avLst>
              <a:gd name="adj" fmla="val 2051"/>
            </a:avLst>
          </a:prstGeom>
          <a:solidFill>
            <a:srgbClr val="F8F0F9"/>
          </a:solidFill>
          <a:ln w="12700">
            <a:solidFill>
              <a:srgbClr val="F8F0F9"/>
            </a:solidFill>
            <a:prstDash val="solid"/>
          </a:ln>
        </p:spPr>
      </p:sp>
      <p:sp>
        <p:nvSpPr>
          <p:cNvPr id="5" name="Text 3"/>
          <p:cNvSpPr txBox="1"/>
          <p:nvPr/>
        </p:nvSpPr>
        <p:spPr>
          <a:xfrm>
            <a:off x="822960" y="1737360"/>
            <a:ext cx="3108960" cy="320040"/>
          </a:xfrm>
          <a:prstGeom prst="rect">
            <a:avLst/>
          </a:prstGeom>
          <a:noFill/>
          <a:ln/>
        </p:spPr>
        <p:txBody>
          <a:bodyPr wrap="square" lIns="0" tIns="0" rIns="0" bIns="0" rtlCol="0" anchor="ctr"/>
          <a:lstStyle/>
          <a:p>
            <a:pPr indent="0" marL="0">
              <a:buNone/>
            </a:pPr>
            <a:r>
              <a:rPr lang="en-US" sz="1600" b="1" dirty="0">
                <a:solidFill>
                  <a:srgbClr val="6B007B"/>
                </a:solidFill>
                <a:latin typeface="Calibri" pitchFamily="34" charset="0"/>
                <a:ea typeface="Calibri" pitchFamily="34" charset="-122"/>
                <a:cs typeface="Calibri" pitchFamily="34" charset="-120"/>
              </a:rPr>
              <a:t>Customers by subscription</a:t>
            </a:r>
            <a:endParaRPr lang="en-US" sz="1600" dirty="0"/>
          </a:p>
        </p:txBody>
      </p:sp>
      <p:graphicFrame>
        <p:nvGraphicFramePr>
          <p:cNvPr id="6" name="Chart 0" descr=""/>
          <p:cNvGraphicFramePr/>
          <p:nvPr/>
        </p:nvGraphicFramePr>
        <p:xfrm>
          <a:off x="868680" y="2103120"/>
          <a:ext cx="3108960" cy="26517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822960" y="4892040"/>
            <a:ext cx="3108960" cy="320040"/>
          </a:xfrm>
          <a:prstGeom prst="rect">
            <a:avLst/>
          </a:prstGeom>
          <a:noFill/>
          <a:ln/>
        </p:spPr>
        <p:txBody>
          <a:bodyPr wrap="square" lIns="0" tIns="0" rIns="0" bIns="0" rtlCol="0" anchor="ctr"/>
          <a:lstStyle/>
          <a:p>
            <a:pPr algn="ctr" indent="0" marL="0">
              <a:buNone/>
            </a:pPr>
            <a:r>
              <a:rPr lang="en-US" sz="1300" dirty="0">
                <a:solidFill>
                  <a:srgbClr val="E669B9"/>
                </a:solidFill>
                <a:latin typeface="Calibri" pitchFamily="34" charset="0"/>
                <a:ea typeface="Calibri" pitchFamily="34" charset="-122"/>
                <a:cs typeface="Calibri" pitchFamily="34" charset="-120"/>
              </a:rPr>
              <a:t>■ </a:t>
            </a:r>
            <a:pPr algn="ctr" indent="0" marL="0">
              <a:buNone/>
            </a:pPr>
            <a:r>
              <a:rPr lang="en-US" sz="1300" dirty="0">
                <a:solidFill>
                  <a:srgbClr val="2B2B2B"/>
                </a:solidFill>
                <a:latin typeface="Calibri" pitchFamily="34" charset="0"/>
                <a:ea typeface="Calibri" pitchFamily="34" charset="-122"/>
                <a:cs typeface="Calibri" pitchFamily="34" charset="-120"/>
              </a:rPr>
              <a:t>Subscribed  1,053     </a:t>
            </a:r>
            <a:pPr algn="ctr" indent="0" marL="0">
              <a:buNone/>
            </a:pPr>
            <a:r>
              <a:rPr lang="en-US" sz="1300" dirty="0">
                <a:solidFill>
                  <a:srgbClr val="12239E"/>
                </a:solidFill>
                <a:latin typeface="Calibri" pitchFamily="34" charset="0"/>
                <a:ea typeface="Calibri" pitchFamily="34" charset="-122"/>
                <a:cs typeface="Calibri" pitchFamily="34" charset="-120"/>
              </a:rPr>
              <a:t>■ </a:t>
            </a:r>
            <a:pPr algn="ctr" indent="0" marL="0">
              <a:buNone/>
            </a:pPr>
            <a:r>
              <a:rPr lang="en-US" sz="1300" dirty="0">
                <a:solidFill>
                  <a:srgbClr val="2B2B2B"/>
                </a:solidFill>
                <a:latin typeface="Calibri" pitchFamily="34" charset="0"/>
                <a:ea typeface="Calibri" pitchFamily="34" charset="-122"/>
                <a:cs typeface="Calibri" pitchFamily="34" charset="-120"/>
              </a:rPr>
              <a:t>Not  2,847</a:t>
            </a:r>
            <a:endParaRPr lang="en-US" sz="1300" dirty="0"/>
          </a:p>
        </p:txBody>
      </p:sp>
      <p:sp>
        <p:nvSpPr>
          <p:cNvPr id="8" name="Shape 5"/>
          <p:cNvSpPr/>
          <p:nvPr/>
        </p:nvSpPr>
        <p:spPr>
          <a:xfrm>
            <a:off x="4434840" y="1600200"/>
            <a:ext cx="3456432" cy="1828800"/>
          </a:xfrm>
          <a:prstGeom prst="roundRect">
            <a:avLst>
              <a:gd name="adj" fmla="val 4000"/>
            </a:avLst>
          </a:prstGeom>
          <a:solidFill>
            <a:srgbClr val="F8F0F9"/>
          </a:solidFill>
          <a:ln w="12700">
            <a:solidFill>
              <a:srgbClr val="F8F0F9"/>
            </a:solidFill>
            <a:prstDash val="solid"/>
          </a:ln>
        </p:spPr>
      </p:sp>
      <p:sp>
        <p:nvSpPr>
          <p:cNvPr id="9" name="Text 6"/>
          <p:cNvSpPr txBox="1"/>
          <p:nvPr/>
        </p:nvSpPr>
        <p:spPr>
          <a:xfrm>
            <a:off x="4709160" y="1828800"/>
            <a:ext cx="3017520" cy="685800"/>
          </a:xfrm>
          <a:prstGeom prst="rect">
            <a:avLst/>
          </a:prstGeom>
          <a:noFill/>
          <a:ln/>
        </p:spPr>
        <p:txBody>
          <a:bodyPr wrap="square" lIns="0" tIns="0" rIns="0" bIns="0" rtlCol="0" anchor="b"/>
          <a:lstStyle/>
          <a:p>
            <a:pPr indent="0" marL="0">
              <a:buNone/>
            </a:pPr>
            <a:r>
              <a:rPr lang="en-US" sz="3600" b="1" dirty="0">
                <a:solidFill>
                  <a:srgbClr val="893395"/>
                </a:solidFill>
                <a:latin typeface="Calibri" pitchFamily="34" charset="0"/>
                <a:ea typeface="Calibri" pitchFamily="34" charset="-122"/>
                <a:cs typeface="Calibri" pitchFamily="34" charset="-120"/>
              </a:rPr>
              <a:t>$59.49</a:t>
            </a:r>
            <a:pPr indent="0" marL="0">
              <a:buNone/>
            </a:pPr>
            <a:r>
              <a:rPr lang="en-US" sz="1500" b="1" dirty="0">
                <a:solidFill>
                  <a:srgbClr val="E669B9"/>
                </a:solidFill>
                <a:latin typeface="Calibri" pitchFamily="34" charset="0"/>
                <a:ea typeface="Calibri" pitchFamily="34" charset="-122"/>
                <a:cs typeface="Calibri" pitchFamily="34" charset="-120"/>
              </a:rPr>
              <a:t>  vs $59.87</a:t>
            </a:r>
            <a:endParaRPr lang="en-US" sz="3600" dirty="0"/>
          </a:p>
        </p:txBody>
      </p:sp>
      <p:sp>
        <p:nvSpPr>
          <p:cNvPr id="10" name="Text 7"/>
          <p:cNvSpPr txBox="1"/>
          <p:nvPr/>
        </p:nvSpPr>
        <p:spPr>
          <a:xfrm>
            <a:off x="4709160" y="2606040"/>
            <a:ext cx="2926080" cy="640080"/>
          </a:xfrm>
          <a:prstGeom prst="rect">
            <a:avLst/>
          </a:prstGeom>
          <a:noFill/>
          <a:ln/>
        </p:spPr>
        <p:txBody>
          <a:bodyPr wrap="square" lIns="0" tIns="0" rIns="0" bIns="0" rtlCol="0" anchor="t"/>
          <a:lstStyle/>
          <a:p>
            <a:pPr indent="0" marL="0">
              <a:buNone/>
            </a:pPr>
            <a:r>
              <a:rPr lang="en-US" sz="1400" dirty="0">
                <a:solidFill>
                  <a:srgbClr val="2B2B2B"/>
                </a:solidFill>
                <a:latin typeface="Calibri" pitchFamily="34" charset="0"/>
                <a:ea typeface="Calibri" pitchFamily="34" charset="-122"/>
                <a:cs typeface="Calibri" pitchFamily="34" charset="-120"/>
              </a:rPr>
              <a:t>average spend per order: subscribers spend slightly less</a:t>
            </a:r>
            <a:endParaRPr lang="en-US" sz="1400" dirty="0"/>
          </a:p>
        </p:txBody>
      </p:sp>
      <p:sp>
        <p:nvSpPr>
          <p:cNvPr id="11" name="Shape 8"/>
          <p:cNvSpPr/>
          <p:nvPr/>
        </p:nvSpPr>
        <p:spPr>
          <a:xfrm>
            <a:off x="8065008" y="1600200"/>
            <a:ext cx="3456432" cy="1828800"/>
          </a:xfrm>
          <a:prstGeom prst="roundRect">
            <a:avLst>
              <a:gd name="adj" fmla="val 4000"/>
            </a:avLst>
          </a:prstGeom>
          <a:solidFill>
            <a:srgbClr val="F8F0F9"/>
          </a:solidFill>
          <a:ln w="12700">
            <a:solidFill>
              <a:srgbClr val="F8F0F9"/>
            </a:solidFill>
            <a:prstDash val="solid"/>
          </a:ln>
        </p:spPr>
      </p:sp>
      <p:sp>
        <p:nvSpPr>
          <p:cNvPr id="12" name="Text 9"/>
          <p:cNvSpPr txBox="1"/>
          <p:nvPr/>
        </p:nvSpPr>
        <p:spPr>
          <a:xfrm>
            <a:off x="8339328" y="1828800"/>
            <a:ext cx="3017520" cy="685800"/>
          </a:xfrm>
          <a:prstGeom prst="rect">
            <a:avLst/>
          </a:prstGeom>
          <a:noFill/>
          <a:ln/>
        </p:spPr>
        <p:txBody>
          <a:bodyPr wrap="square" lIns="0" tIns="0" rIns="0" bIns="0" rtlCol="0" anchor="b"/>
          <a:lstStyle/>
          <a:p>
            <a:pPr indent="0" marL="0">
              <a:buNone/>
            </a:pPr>
            <a:r>
              <a:rPr lang="en-US" sz="3600" b="1" dirty="0">
                <a:solidFill>
                  <a:srgbClr val="893395"/>
                </a:solidFill>
                <a:latin typeface="Calibri" pitchFamily="34" charset="0"/>
                <a:ea typeface="Calibri" pitchFamily="34" charset="-122"/>
                <a:cs typeface="Calibri" pitchFamily="34" charset="-120"/>
              </a:rPr>
              <a:t>26.9%</a:t>
            </a:r>
            <a:pPr indent="0" marL="0">
              <a:buNone/>
            </a:pPr>
            <a:r>
              <a:rPr lang="en-US" sz="1500" b="1" dirty="0">
                <a:solidFill>
                  <a:srgbClr val="E669B9"/>
                </a:solidFill>
                <a:latin typeface="Calibri" pitchFamily="34" charset="0"/>
                <a:ea typeface="Calibri" pitchFamily="34" charset="-122"/>
                <a:cs typeface="Calibri" pitchFamily="34" charset="-120"/>
              </a:rPr>
              <a:t>  of revenue</a:t>
            </a:r>
            <a:endParaRPr lang="en-US" sz="3600" dirty="0"/>
          </a:p>
        </p:txBody>
      </p:sp>
      <p:sp>
        <p:nvSpPr>
          <p:cNvPr id="13" name="Text 10"/>
          <p:cNvSpPr txBox="1"/>
          <p:nvPr/>
        </p:nvSpPr>
        <p:spPr>
          <a:xfrm>
            <a:off x="8339328" y="2606040"/>
            <a:ext cx="2926080" cy="640080"/>
          </a:xfrm>
          <a:prstGeom prst="rect">
            <a:avLst/>
          </a:prstGeom>
          <a:noFill/>
          <a:ln/>
        </p:spPr>
        <p:txBody>
          <a:bodyPr wrap="square" lIns="0" tIns="0" rIns="0" bIns="0" rtlCol="0" anchor="t"/>
          <a:lstStyle/>
          <a:p>
            <a:pPr indent="0" marL="0">
              <a:buNone/>
            </a:pPr>
            <a:r>
              <a:rPr lang="en-US" sz="1400" dirty="0">
                <a:solidFill>
                  <a:srgbClr val="2B2B2B"/>
                </a:solidFill>
                <a:latin typeface="Calibri" pitchFamily="34" charset="0"/>
                <a:ea typeface="Calibri" pitchFamily="34" charset="-122"/>
                <a:cs typeface="Calibri" pitchFamily="34" charset="-120"/>
              </a:rPr>
              <a:t>comes from subscribers, matching their 27% share of customers</a:t>
            </a:r>
            <a:endParaRPr lang="en-US" sz="1400" dirty="0"/>
          </a:p>
        </p:txBody>
      </p:sp>
      <p:sp>
        <p:nvSpPr>
          <p:cNvPr id="14" name="Shape 11"/>
          <p:cNvSpPr/>
          <p:nvPr/>
        </p:nvSpPr>
        <p:spPr>
          <a:xfrm>
            <a:off x="4434840" y="3611880"/>
            <a:ext cx="3456432" cy="1828800"/>
          </a:xfrm>
          <a:prstGeom prst="roundRect">
            <a:avLst>
              <a:gd name="adj" fmla="val 4000"/>
            </a:avLst>
          </a:prstGeom>
          <a:solidFill>
            <a:srgbClr val="F8F0F9"/>
          </a:solidFill>
          <a:ln w="12700">
            <a:solidFill>
              <a:srgbClr val="F8F0F9"/>
            </a:solidFill>
            <a:prstDash val="solid"/>
          </a:ln>
        </p:spPr>
      </p:sp>
      <p:sp>
        <p:nvSpPr>
          <p:cNvPr id="15" name="Text 12"/>
          <p:cNvSpPr txBox="1"/>
          <p:nvPr/>
        </p:nvSpPr>
        <p:spPr>
          <a:xfrm>
            <a:off x="4709160" y="3840480"/>
            <a:ext cx="3017520" cy="685800"/>
          </a:xfrm>
          <a:prstGeom prst="rect">
            <a:avLst/>
          </a:prstGeom>
          <a:noFill/>
          <a:ln/>
        </p:spPr>
        <p:txBody>
          <a:bodyPr wrap="square" lIns="0" tIns="0" rIns="0" bIns="0" rtlCol="0" anchor="b"/>
          <a:lstStyle/>
          <a:p>
            <a:pPr indent="0" marL="0">
              <a:buNone/>
            </a:pPr>
            <a:r>
              <a:rPr lang="en-US" sz="3600" b="1" dirty="0">
                <a:solidFill>
                  <a:srgbClr val="893395"/>
                </a:solidFill>
                <a:latin typeface="Calibri" pitchFamily="34" charset="0"/>
                <a:ea typeface="Calibri" pitchFamily="34" charset="-122"/>
                <a:cs typeface="Calibri" pitchFamily="34" charset="-120"/>
              </a:rPr>
              <a:t>27.6%</a:t>
            </a:r>
            <a:pPr indent="0" marL="0">
              <a:buNone/>
            </a:pPr>
            <a:r>
              <a:rPr lang="en-US" sz="1500" b="1" dirty="0">
                <a:solidFill>
                  <a:srgbClr val="E669B9"/>
                </a:solidFill>
                <a:latin typeface="Calibri" pitchFamily="34" charset="0"/>
                <a:ea typeface="Calibri" pitchFamily="34" charset="-122"/>
                <a:cs typeface="Calibri" pitchFamily="34" charset="-120"/>
              </a:rPr>
              <a:t>  vs 22.4%</a:t>
            </a:r>
            <a:endParaRPr lang="en-US" sz="3600" dirty="0"/>
          </a:p>
        </p:txBody>
      </p:sp>
      <p:sp>
        <p:nvSpPr>
          <p:cNvPr id="16" name="Text 13"/>
          <p:cNvSpPr txBox="1"/>
          <p:nvPr/>
        </p:nvSpPr>
        <p:spPr>
          <a:xfrm>
            <a:off x="4709160" y="4617720"/>
            <a:ext cx="2926080" cy="640080"/>
          </a:xfrm>
          <a:prstGeom prst="rect">
            <a:avLst/>
          </a:prstGeom>
          <a:noFill/>
          <a:ln/>
        </p:spPr>
        <p:txBody>
          <a:bodyPr wrap="square" lIns="0" tIns="0" rIns="0" bIns="0" rtlCol="0" anchor="t"/>
          <a:lstStyle/>
          <a:p>
            <a:pPr indent="0" marL="0">
              <a:buNone/>
            </a:pPr>
            <a:r>
              <a:rPr lang="en-US" sz="1400" dirty="0">
                <a:solidFill>
                  <a:srgbClr val="2B2B2B"/>
                </a:solidFill>
                <a:latin typeface="Calibri" pitchFamily="34" charset="0"/>
                <a:ea typeface="Calibri" pitchFamily="34" charset="-122"/>
                <a:cs typeface="Calibri" pitchFamily="34" charset="-120"/>
              </a:rPr>
              <a:t>of repeat buyers subscribe, compared with other customers</a:t>
            </a:r>
            <a:endParaRPr lang="en-US" sz="1400" dirty="0"/>
          </a:p>
        </p:txBody>
      </p:sp>
      <p:sp>
        <p:nvSpPr>
          <p:cNvPr id="17" name="Shape 14"/>
          <p:cNvSpPr/>
          <p:nvPr/>
        </p:nvSpPr>
        <p:spPr>
          <a:xfrm>
            <a:off x="8065008" y="3611880"/>
            <a:ext cx="3456432" cy="1828800"/>
          </a:xfrm>
          <a:prstGeom prst="roundRect">
            <a:avLst>
              <a:gd name="adj" fmla="val 4000"/>
            </a:avLst>
          </a:prstGeom>
          <a:solidFill>
            <a:srgbClr val="3D0B4A"/>
          </a:solidFill>
          <a:ln w="12700">
            <a:solidFill>
              <a:srgbClr val="3D0B4A"/>
            </a:solidFill>
            <a:prstDash val="solid"/>
          </a:ln>
        </p:spPr>
      </p:sp>
      <p:sp>
        <p:nvSpPr>
          <p:cNvPr id="18" name="Text 15"/>
          <p:cNvSpPr txBox="1"/>
          <p:nvPr/>
        </p:nvSpPr>
        <p:spPr>
          <a:xfrm>
            <a:off x="8339328" y="3840480"/>
            <a:ext cx="3017520" cy="685800"/>
          </a:xfrm>
          <a:prstGeom prst="rect">
            <a:avLst/>
          </a:prstGeom>
          <a:noFill/>
          <a:ln/>
        </p:spPr>
        <p:txBody>
          <a:bodyPr wrap="square" lIns="0" tIns="0" rIns="0" bIns="0" rtlCol="0" anchor="b"/>
          <a:lstStyle/>
          <a:p>
            <a:pPr indent="0" marL="0">
              <a:buNone/>
            </a:pPr>
            <a:r>
              <a:rPr lang="en-US" sz="3600" b="1" dirty="0">
                <a:solidFill>
                  <a:srgbClr val="FFFFFF"/>
                </a:solidFill>
                <a:latin typeface="Calibri" pitchFamily="34" charset="0"/>
                <a:ea typeface="Calibri" pitchFamily="34" charset="-122"/>
                <a:cs typeface="Calibri" pitchFamily="34" charset="-120"/>
              </a:rPr>
              <a:t>2,518</a:t>
            </a:r>
            <a:pPr indent="0" marL="0">
              <a:buNone/>
            </a:pPr>
            <a:r>
              <a:rPr lang="en-US" sz="1500" b="1" dirty="0">
                <a:solidFill>
                  <a:srgbClr val="E669B9"/>
                </a:solidFill>
                <a:latin typeface="Calibri" pitchFamily="34" charset="0"/>
                <a:ea typeface="Calibri" pitchFamily="34" charset="-122"/>
                <a:cs typeface="Calibri" pitchFamily="34" charset="-120"/>
              </a:rPr>
              <a:t>  repeat buyers</a:t>
            </a:r>
            <a:endParaRPr lang="en-US" sz="3600" dirty="0"/>
          </a:p>
        </p:txBody>
      </p:sp>
      <p:sp>
        <p:nvSpPr>
          <p:cNvPr id="19" name="Text 16"/>
          <p:cNvSpPr txBox="1"/>
          <p:nvPr/>
        </p:nvSpPr>
        <p:spPr>
          <a:xfrm>
            <a:off x="8339328" y="4617720"/>
            <a:ext cx="2926080" cy="640080"/>
          </a:xfrm>
          <a:prstGeom prst="rect">
            <a:avLst/>
          </a:prstGeom>
          <a:noFill/>
          <a:ln/>
        </p:spPr>
        <p:txBody>
          <a:bodyPr wrap="square" lIns="0" tIns="0" rIns="0" bIns="0" rtlCol="0" anchor="t"/>
          <a:lstStyle/>
          <a:p>
            <a:pPr indent="0" marL="0">
              <a:buNone/>
            </a:pPr>
            <a:r>
              <a:rPr lang="en-US" sz="1400" dirty="0">
                <a:solidFill>
                  <a:srgbClr val="F6C9E6"/>
                </a:solidFill>
                <a:latin typeface="Calibri" pitchFamily="34" charset="0"/>
                <a:ea typeface="Calibri" pitchFamily="34" charset="-122"/>
                <a:cs typeface="Calibri" pitchFamily="34" charset="-120"/>
              </a:rPr>
              <a:t>have not subscribed yet, the biggest opportunity</a:t>
            </a:r>
            <a:endParaRPr lang="en-US" sz="1400" dirty="0"/>
          </a:p>
        </p:txBody>
      </p:sp>
      <p:sp>
        <p:nvSpPr>
          <p:cNvPr id="20" name="Shape 17"/>
          <p:cNvSpPr/>
          <p:nvPr/>
        </p:nvSpPr>
        <p:spPr>
          <a:xfrm>
            <a:off x="548640" y="5669280"/>
            <a:ext cx="11094415" cy="566928"/>
          </a:xfrm>
          <a:prstGeom prst="roundRect">
            <a:avLst>
              <a:gd name="adj" fmla="val 12903"/>
            </a:avLst>
          </a:prstGeom>
          <a:solidFill>
            <a:srgbClr val="FCEFF7"/>
          </a:solidFill>
          <a:ln w="12700">
            <a:solidFill>
              <a:srgbClr val="FCEFF7"/>
            </a:solidFill>
            <a:prstDash val="solid"/>
          </a:ln>
        </p:spPr>
      </p:sp>
      <p:sp>
        <p:nvSpPr>
          <p:cNvPr id="21" name="Shape 18"/>
          <p:cNvSpPr/>
          <p:nvPr/>
        </p:nvSpPr>
        <p:spPr>
          <a:xfrm>
            <a:off x="676656" y="5760720"/>
            <a:ext cx="384048" cy="384048"/>
          </a:xfrm>
          <a:prstGeom prst="ellipse">
            <a:avLst/>
          </a:prstGeom>
          <a:solidFill>
            <a:srgbClr val="E669B9"/>
          </a:solidFill>
          <a:ln w="12700">
            <a:solidFill>
              <a:srgbClr val="E669B9"/>
            </a:solidFill>
            <a:prstDash val="solid"/>
          </a:ln>
        </p:spPr>
      </p:sp>
      <p:pic>
        <p:nvPicPr>
          <p:cNvPr id="22" name="Image 0" descr="preencoded.png">    </p:cNvPr>
          <p:cNvPicPr>
            <a:picLocks noChangeAspect="1"/>
          </p:cNvPicPr>
          <p:nvPr/>
        </p:nvPicPr>
        <p:blipFill>
          <a:blip r:embed="rId2"/>
          <a:stretch>
            <a:fillRect/>
          </a:stretch>
        </p:blipFill>
        <p:spPr>
          <a:xfrm>
            <a:off x="768096" y="5852160"/>
            <a:ext cx="201168" cy="201168"/>
          </a:xfrm>
          <a:prstGeom prst="rect">
            <a:avLst/>
          </a:prstGeom>
        </p:spPr>
      </p:pic>
      <p:sp>
        <p:nvSpPr>
          <p:cNvPr id="23" name="Text 19"/>
          <p:cNvSpPr txBox="1"/>
          <p:nvPr/>
        </p:nvSpPr>
        <p:spPr>
          <a:xfrm>
            <a:off x="1234440" y="5669280"/>
            <a:ext cx="10225735" cy="566928"/>
          </a:xfrm>
          <a:prstGeom prst="rect">
            <a:avLst/>
          </a:prstGeom>
          <a:noFill/>
          <a:ln/>
        </p:spPr>
        <p:txBody>
          <a:bodyPr wrap="square" lIns="0" tIns="0" rIns="0" bIns="0" rtlCol="0" anchor="ctr"/>
          <a:lstStyle/>
          <a:p>
            <a:pPr indent="0" marL="0">
              <a:buNone/>
            </a:pPr>
            <a:r>
              <a:rPr lang="en-US" sz="1500" b="1" dirty="0">
                <a:solidFill>
                  <a:srgbClr val="6B007B"/>
                </a:solidFill>
                <a:latin typeface="Calibri" pitchFamily="34" charset="0"/>
                <a:ea typeface="Calibri" pitchFamily="34" charset="-122"/>
                <a:cs typeface="Calibri" pitchFamily="34" charset="-120"/>
              </a:rPr>
              <a:t>So what: </a:t>
            </a:r>
            <a:pPr indent="0" marL="0">
              <a:buNone/>
            </a:pPr>
            <a:r>
              <a:rPr lang="en-US" sz="1500" dirty="0">
                <a:solidFill>
                  <a:srgbClr val="2B2B2B"/>
                </a:solidFill>
                <a:latin typeface="Calibri" pitchFamily="34" charset="0"/>
                <a:ea typeface="Calibri" pitchFamily="34" charset="-122"/>
                <a:cs typeface="Calibri" pitchFamily="34" charset="-120"/>
              </a:rPr>
              <a:t>rework subscription benefits to encourage bigger or more frequent orders, and target unsubscribed repeat buyers.</a:t>
            </a:r>
            <a:endParaRPr lang="en-US" sz="1500" dirty="0"/>
          </a:p>
        </p:txBody>
      </p:sp>
      <p:sp>
        <p:nvSpPr>
          <p:cNvPr id="24" name="Text 20"/>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Customer Shopping Behaviour Analysis</a:t>
            </a:r>
            <a:endParaRPr lang="en-US" sz="1000" dirty="0"/>
          </a:p>
        </p:txBody>
      </p:sp>
      <p:sp>
        <p:nvSpPr>
          <p:cNvPr id="25" name="Text 21"/>
          <p:cNvSpPr txBox="1"/>
          <p:nvPr/>
        </p:nvSpPr>
        <p:spPr>
          <a:xfrm>
            <a:off x="10728655" y="6419088"/>
            <a:ext cx="9144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E669B9"/>
                </a:solidFill>
                <a:latin typeface="Calibri" pitchFamily="34" charset="0"/>
                <a:ea typeface="Calibri" pitchFamily="34" charset="-122"/>
                <a:cs typeface="Calibri" pitchFamily="34" charset="-120"/>
              </a:rPr>
              <a:t>DISCOUNTS · SQL Q2 AND Q6</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3000" b="1" dirty="0">
                <a:solidFill>
                  <a:srgbClr val="6B007B"/>
                </a:solidFill>
                <a:latin typeface="Calibri" pitchFamily="34" charset="0"/>
                <a:ea typeface="Calibri" pitchFamily="34" charset="-122"/>
                <a:cs typeface="Calibri" pitchFamily="34" charset="-120"/>
              </a:rPr>
              <a:t>Discounts are common, but not only for low spenders</a:t>
            </a:r>
            <a:endParaRPr lang="en-US" sz="3000" dirty="0"/>
          </a:p>
        </p:txBody>
      </p:sp>
      <p:sp>
        <p:nvSpPr>
          <p:cNvPr id="4" name="Shape 2"/>
          <p:cNvSpPr/>
          <p:nvPr/>
        </p:nvSpPr>
        <p:spPr>
          <a:xfrm>
            <a:off x="548640" y="1645920"/>
            <a:ext cx="4206240" cy="1115568"/>
          </a:xfrm>
          <a:prstGeom prst="roundRect">
            <a:avLst>
              <a:gd name="adj" fmla="val 6557"/>
            </a:avLst>
          </a:prstGeom>
          <a:solidFill>
            <a:srgbClr val="F8F0F9"/>
          </a:solidFill>
          <a:ln w="12700">
            <a:solidFill>
              <a:srgbClr val="F8F0F9"/>
            </a:solidFill>
            <a:prstDash val="solid"/>
          </a:ln>
        </p:spPr>
      </p:sp>
      <p:sp>
        <p:nvSpPr>
          <p:cNvPr id="5" name="Text 3"/>
          <p:cNvSpPr txBox="1"/>
          <p:nvPr/>
        </p:nvSpPr>
        <p:spPr>
          <a:xfrm>
            <a:off x="822960" y="1755648"/>
            <a:ext cx="1371600" cy="914400"/>
          </a:xfrm>
          <a:prstGeom prst="rect">
            <a:avLst/>
          </a:prstGeom>
          <a:noFill/>
          <a:ln/>
        </p:spPr>
        <p:txBody>
          <a:bodyPr wrap="square" lIns="0" tIns="0" rIns="0" bIns="0" rtlCol="0" anchor="ctr"/>
          <a:lstStyle/>
          <a:p>
            <a:pPr indent="0" marL="0">
              <a:buNone/>
            </a:pPr>
            <a:r>
              <a:rPr lang="en-US" sz="3800" b="1" dirty="0">
                <a:solidFill>
                  <a:srgbClr val="893395"/>
                </a:solidFill>
                <a:latin typeface="Calibri" pitchFamily="34" charset="0"/>
                <a:ea typeface="Calibri" pitchFamily="34" charset="-122"/>
                <a:cs typeface="Calibri" pitchFamily="34" charset="-120"/>
              </a:rPr>
              <a:t>43%</a:t>
            </a:r>
            <a:endParaRPr lang="en-US" sz="3800" dirty="0"/>
          </a:p>
        </p:txBody>
      </p:sp>
      <p:sp>
        <p:nvSpPr>
          <p:cNvPr id="6" name="Text 4"/>
          <p:cNvSpPr txBox="1"/>
          <p:nvPr/>
        </p:nvSpPr>
        <p:spPr>
          <a:xfrm>
            <a:off x="2286000" y="1755648"/>
            <a:ext cx="2286000" cy="914400"/>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of all purchases used a discount (1,677 customers)</a:t>
            </a:r>
            <a:endParaRPr lang="en-US" sz="1400" dirty="0"/>
          </a:p>
        </p:txBody>
      </p:sp>
      <p:sp>
        <p:nvSpPr>
          <p:cNvPr id="7" name="Shape 5"/>
          <p:cNvSpPr/>
          <p:nvPr/>
        </p:nvSpPr>
        <p:spPr>
          <a:xfrm>
            <a:off x="548640" y="2926080"/>
            <a:ext cx="4206240" cy="1115568"/>
          </a:xfrm>
          <a:prstGeom prst="roundRect">
            <a:avLst>
              <a:gd name="adj" fmla="val 6557"/>
            </a:avLst>
          </a:prstGeom>
          <a:solidFill>
            <a:srgbClr val="F8F0F9"/>
          </a:solidFill>
          <a:ln w="12700">
            <a:solidFill>
              <a:srgbClr val="F8F0F9"/>
            </a:solidFill>
            <a:prstDash val="solid"/>
          </a:ln>
        </p:spPr>
      </p:sp>
      <p:sp>
        <p:nvSpPr>
          <p:cNvPr id="8" name="Text 6"/>
          <p:cNvSpPr txBox="1"/>
          <p:nvPr/>
        </p:nvSpPr>
        <p:spPr>
          <a:xfrm>
            <a:off x="822960" y="3035808"/>
            <a:ext cx="1371600" cy="914400"/>
          </a:xfrm>
          <a:prstGeom prst="rect">
            <a:avLst/>
          </a:prstGeom>
          <a:noFill/>
          <a:ln/>
        </p:spPr>
        <p:txBody>
          <a:bodyPr wrap="square" lIns="0" tIns="0" rIns="0" bIns="0" rtlCol="0" anchor="ctr"/>
          <a:lstStyle/>
          <a:p>
            <a:pPr indent="0" marL="0">
              <a:buNone/>
            </a:pPr>
            <a:r>
              <a:rPr lang="en-US" sz="3800" b="1" dirty="0">
                <a:solidFill>
                  <a:srgbClr val="E669B9"/>
                </a:solidFill>
                <a:latin typeface="Calibri" pitchFamily="34" charset="0"/>
                <a:ea typeface="Calibri" pitchFamily="34" charset="-122"/>
                <a:cs typeface="Calibri" pitchFamily="34" charset="-120"/>
              </a:rPr>
              <a:t>839</a:t>
            </a:r>
            <a:endParaRPr lang="en-US" sz="3800" dirty="0"/>
          </a:p>
        </p:txBody>
      </p:sp>
      <p:sp>
        <p:nvSpPr>
          <p:cNvPr id="9" name="Text 7"/>
          <p:cNvSpPr txBox="1"/>
          <p:nvPr/>
        </p:nvSpPr>
        <p:spPr>
          <a:xfrm>
            <a:off x="2286000" y="3035808"/>
            <a:ext cx="2286000" cy="914400"/>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discount users still spent above the $59.76 average</a:t>
            </a:r>
            <a:endParaRPr lang="en-US" sz="1400" dirty="0"/>
          </a:p>
        </p:txBody>
      </p:sp>
      <p:sp>
        <p:nvSpPr>
          <p:cNvPr id="10" name="Shape 8"/>
          <p:cNvSpPr/>
          <p:nvPr/>
        </p:nvSpPr>
        <p:spPr>
          <a:xfrm>
            <a:off x="548640" y="4206240"/>
            <a:ext cx="4206240" cy="1115568"/>
          </a:xfrm>
          <a:prstGeom prst="roundRect">
            <a:avLst>
              <a:gd name="adj" fmla="val 6557"/>
            </a:avLst>
          </a:prstGeom>
          <a:solidFill>
            <a:srgbClr val="F8F0F9"/>
          </a:solidFill>
          <a:ln w="12700">
            <a:solidFill>
              <a:srgbClr val="F8F0F9"/>
            </a:solidFill>
            <a:prstDash val="solid"/>
          </a:ln>
        </p:spPr>
      </p:sp>
      <p:sp>
        <p:nvSpPr>
          <p:cNvPr id="11" name="Text 9"/>
          <p:cNvSpPr txBox="1"/>
          <p:nvPr/>
        </p:nvSpPr>
        <p:spPr>
          <a:xfrm>
            <a:off x="822960" y="4315968"/>
            <a:ext cx="1371600" cy="914400"/>
          </a:xfrm>
          <a:prstGeom prst="rect">
            <a:avLst/>
          </a:prstGeom>
          <a:noFill/>
          <a:ln/>
        </p:spPr>
        <p:txBody>
          <a:bodyPr wrap="square" lIns="0" tIns="0" rIns="0" bIns="0" rtlCol="0" anchor="ctr"/>
          <a:lstStyle/>
          <a:p>
            <a:pPr indent="0" marL="0">
              <a:buNone/>
            </a:pPr>
            <a:r>
              <a:rPr lang="en-US" sz="3800" b="1" dirty="0">
                <a:solidFill>
                  <a:srgbClr val="893395"/>
                </a:solidFill>
                <a:latin typeface="Calibri" pitchFamily="34" charset="0"/>
                <a:ea typeface="Calibri" pitchFamily="34" charset="-122"/>
                <a:cs typeface="Calibri" pitchFamily="34" charset="-120"/>
              </a:rPr>
              <a:t>50%</a:t>
            </a:r>
            <a:endParaRPr lang="en-US" sz="3800" dirty="0"/>
          </a:p>
        </p:txBody>
      </p:sp>
      <p:sp>
        <p:nvSpPr>
          <p:cNvPr id="12" name="Text 10"/>
          <p:cNvSpPr txBox="1"/>
          <p:nvPr/>
        </p:nvSpPr>
        <p:spPr>
          <a:xfrm>
            <a:off x="2286000" y="4315968"/>
            <a:ext cx="2286000" cy="914400"/>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of discount users are above-average spenders</a:t>
            </a:r>
            <a:endParaRPr lang="en-US" sz="1400" dirty="0"/>
          </a:p>
        </p:txBody>
      </p:sp>
      <p:sp>
        <p:nvSpPr>
          <p:cNvPr id="13" name="Text 11"/>
          <p:cNvSpPr txBox="1"/>
          <p:nvPr/>
        </p:nvSpPr>
        <p:spPr>
          <a:xfrm>
            <a:off x="5303520" y="1645920"/>
            <a:ext cx="6309360" cy="274320"/>
          </a:xfrm>
          <a:prstGeom prst="rect">
            <a:avLst/>
          </a:prstGeom>
          <a:noFill/>
          <a:ln/>
        </p:spPr>
        <p:txBody>
          <a:bodyPr wrap="square" lIns="0" tIns="0" rIns="0" bIns="0" rtlCol="0" anchor="ctr"/>
          <a:lstStyle/>
          <a:p>
            <a:pPr indent="0" marL="0">
              <a:buNone/>
            </a:pPr>
            <a:r>
              <a:rPr lang="en-US" sz="1500" b="1" dirty="0">
                <a:solidFill>
                  <a:srgbClr val="6B007B"/>
                </a:solidFill>
                <a:latin typeface="Calibri" pitchFamily="34" charset="0"/>
                <a:ea typeface="Calibri" pitchFamily="34" charset="-122"/>
                <a:cs typeface="Calibri" pitchFamily="34" charset="-120"/>
              </a:rPr>
              <a:t>Most discount-dependent products (% of purchases discounted)</a:t>
            </a:r>
            <a:endParaRPr lang="en-US" sz="1500" dirty="0"/>
          </a:p>
        </p:txBody>
      </p:sp>
      <p:graphicFrame>
        <p:nvGraphicFramePr>
          <p:cNvPr id="14" name="Chart 0" descr=""/>
          <p:cNvGraphicFramePr/>
          <p:nvPr/>
        </p:nvGraphicFramePr>
        <p:xfrm>
          <a:off x="5212080" y="1965960"/>
          <a:ext cx="6446520" cy="352044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548640" y="5669280"/>
            <a:ext cx="11094415" cy="566928"/>
          </a:xfrm>
          <a:prstGeom prst="roundRect">
            <a:avLst>
              <a:gd name="adj" fmla="val 12903"/>
            </a:avLst>
          </a:prstGeom>
          <a:solidFill>
            <a:srgbClr val="FCEFF7"/>
          </a:solidFill>
          <a:ln w="12700">
            <a:solidFill>
              <a:srgbClr val="FCEFF7"/>
            </a:solidFill>
            <a:prstDash val="solid"/>
          </a:ln>
        </p:spPr>
      </p:sp>
      <p:sp>
        <p:nvSpPr>
          <p:cNvPr id="16" name="Shape 13"/>
          <p:cNvSpPr/>
          <p:nvPr/>
        </p:nvSpPr>
        <p:spPr>
          <a:xfrm>
            <a:off x="676656" y="5760720"/>
            <a:ext cx="384048" cy="384048"/>
          </a:xfrm>
          <a:prstGeom prst="ellipse">
            <a:avLst/>
          </a:prstGeom>
          <a:solidFill>
            <a:srgbClr val="E669B9"/>
          </a:solidFill>
          <a:ln w="12700">
            <a:solidFill>
              <a:srgbClr val="E669B9"/>
            </a:solidFill>
            <a:prstDash val="solid"/>
          </a:ln>
        </p:spPr>
      </p:sp>
      <p:pic>
        <p:nvPicPr>
          <p:cNvPr id="17" name="Image 0" descr="preencoded.png">    </p:cNvPr>
          <p:cNvPicPr>
            <a:picLocks noChangeAspect="1"/>
          </p:cNvPicPr>
          <p:nvPr/>
        </p:nvPicPr>
        <p:blipFill>
          <a:blip r:embed="rId2"/>
          <a:stretch>
            <a:fillRect/>
          </a:stretch>
        </p:blipFill>
        <p:spPr>
          <a:xfrm>
            <a:off x="768096" y="5852160"/>
            <a:ext cx="201168" cy="201168"/>
          </a:xfrm>
          <a:prstGeom prst="rect">
            <a:avLst/>
          </a:prstGeom>
        </p:spPr>
      </p:pic>
      <p:sp>
        <p:nvSpPr>
          <p:cNvPr id="18" name="Text 14"/>
          <p:cNvSpPr txBox="1"/>
          <p:nvPr/>
        </p:nvSpPr>
        <p:spPr>
          <a:xfrm>
            <a:off x="1234440" y="5669280"/>
            <a:ext cx="10225735" cy="566928"/>
          </a:xfrm>
          <a:prstGeom prst="rect">
            <a:avLst/>
          </a:prstGeom>
          <a:noFill/>
          <a:ln/>
        </p:spPr>
        <p:txBody>
          <a:bodyPr wrap="square" lIns="0" tIns="0" rIns="0" bIns="0" rtlCol="0" anchor="ctr"/>
          <a:lstStyle/>
          <a:p>
            <a:pPr indent="0" marL="0">
              <a:buNone/>
            </a:pPr>
            <a:r>
              <a:rPr lang="en-US" sz="1500" b="1" dirty="0">
                <a:solidFill>
                  <a:srgbClr val="6B007B"/>
                </a:solidFill>
                <a:latin typeface="Calibri" pitchFamily="34" charset="0"/>
                <a:ea typeface="Calibri" pitchFamily="34" charset="-122"/>
                <a:cs typeface="Calibri" pitchFamily="34" charset="-120"/>
              </a:rPr>
              <a:t>So what: </a:t>
            </a:r>
            <a:pPr indent="0" marL="0">
              <a:buNone/>
            </a:pPr>
            <a:r>
              <a:rPr lang="en-US" sz="1500" dirty="0">
                <a:solidFill>
                  <a:srgbClr val="2B2B2B"/>
                </a:solidFill>
                <a:latin typeface="Calibri" pitchFamily="34" charset="0"/>
                <a:ea typeface="Calibri" pitchFamily="34" charset="-122"/>
                <a:cs typeface="Calibri" pitchFamily="34" charset="-120"/>
              </a:rPr>
              <a:t>review margins on the most discounted products and offer premium deals to high-spending discount users.</a:t>
            </a:r>
            <a:endParaRPr lang="en-US" sz="1500" dirty="0"/>
          </a:p>
        </p:txBody>
      </p:sp>
      <p:sp>
        <p:nvSpPr>
          <p:cNvPr id="19" name="Text 15"/>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Customer Shopping Behaviour Analysis</a:t>
            </a:r>
            <a:endParaRPr lang="en-US" sz="1000" dirty="0"/>
          </a:p>
        </p:txBody>
      </p:sp>
      <p:sp>
        <p:nvSpPr>
          <p:cNvPr id="20" name="Text 16"/>
          <p:cNvSpPr txBox="1"/>
          <p:nvPr/>
        </p:nvSpPr>
        <p:spPr>
          <a:xfrm>
            <a:off x="10728655" y="6419088"/>
            <a:ext cx="9144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E669B9"/>
                </a:solidFill>
                <a:latin typeface="Calibri" pitchFamily="34" charset="0"/>
                <a:ea typeface="Calibri" pitchFamily="34" charset="-122"/>
                <a:cs typeface="Calibri" pitchFamily="34" charset="-120"/>
              </a:rPr>
              <a:t>EXPERIENCE · SQL Q3 AND Q4</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3000" b="1" dirty="0">
                <a:solidFill>
                  <a:srgbClr val="6B007B"/>
                </a:solidFill>
                <a:latin typeface="Calibri" pitchFamily="34" charset="0"/>
                <a:ea typeface="Calibri" pitchFamily="34" charset="-122"/>
                <a:cs typeface="Calibri" pitchFamily="34" charset="-120"/>
              </a:rPr>
              <a:t>Ratings are average; faster shipping means slightly higher spend</a:t>
            </a:r>
            <a:endParaRPr lang="en-US" sz="3000" dirty="0"/>
          </a:p>
        </p:txBody>
      </p:sp>
      <p:sp>
        <p:nvSpPr>
          <p:cNvPr id="4" name="Shape 2"/>
          <p:cNvSpPr/>
          <p:nvPr/>
        </p:nvSpPr>
        <p:spPr>
          <a:xfrm>
            <a:off x="548640" y="1600200"/>
            <a:ext cx="5760720" cy="3886200"/>
          </a:xfrm>
          <a:prstGeom prst="roundRect">
            <a:avLst>
              <a:gd name="adj" fmla="val 1882"/>
            </a:avLst>
          </a:prstGeom>
          <a:solidFill>
            <a:srgbClr val="F8F0F9"/>
          </a:solidFill>
          <a:ln w="12700">
            <a:solidFill>
              <a:srgbClr val="F8F0F9"/>
            </a:solidFill>
            <a:prstDash val="solid"/>
          </a:ln>
        </p:spPr>
      </p:sp>
      <p:sp>
        <p:nvSpPr>
          <p:cNvPr id="5" name="Text 3"/>
          <p:cNvSpPr txBox="1"/>
          <p:nvPr/>
        </p:nvSpPr>
        <p:spPr>
          <a:xfrm>
            <a:off x="822960" y="1737360"/>
            <a:ext cx="5303520" cy="320040"/>
          </a:xfrm>
          <a:prstGeom prst="rect">
            <a:avLst/>
          </a:prstGeom>
          <a:noFill/>
          <a:ln/>
        </p:spPr>
        <p:txBody>
          <a:bodyPr wrap="square" lIns="0" tIns="0" rIns="0" bIns="0" rtlCol="0" anchor="ctr"/>
          <a:lstStyle/>
          <a:p>
            <a:pPr indent="0" marL="0">
              <a:buNone/>
            </a:pPr>
            <a:r>
              <a:rPr lang="en-US" sz="1600" b="1" dirty="0">
                <a:solidFill>
                  <a:srgbClr val="6B007B"/>
                </a:solidFill>
                <a:latin typeface="Calibri" pitchFamily="34" charset="0"/>
                <a:ea typeface="Calibri" pitchFamily="34" charset="-122"/>
                <a:cs typeface="Calibri" pitchFamily="34" charset="-120"/>
              </a:rPr>
              <a:t>Top 5 products by average rating (out of 5)</a:t>
            </a:r>
            <a:endParaRPr lang="en-US" sz="1600" dirty="0"/>
          </a:p>
        </p:txBody>
      </p:sp>
      <p:graphicFrame>
        <p:nvGraphicFramePr>
          <p:cNvPr id="6" name="Chart 0" descr=""/>
          <p:cNvGraphicFramePr/>
          <p:nvPr/>
        </p:nvGraphicFramePr>
        <p:xfrm>
          <a:off x="685800" y="2103120"/>
          <a:ext cx="5486400" cy="26060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822960" y="4754880"/>
            <a:ext cx="5303520" cy="594360"/>
          </a:xfrm>
          <a:prstGeom prst="rect">
            <a:avLst/>
          </a:prstGeom>
          <a:noFill/>
          <a:ln/>
        </p:spPr>
        <p:txBody>
          <a:bodyPr wrap="square" lIns="0" tIns="0" rIns="0" bIns="0" rtlCol="0" anchor="t"/>
          <a:lstStyle/>
          <a:p>
            <a:pPr indent="0" marL="0">
              <a:buNone/>
            </a:pPr>
            <a:r>
              <a:rPr lang="en-US" sz="1300" dirty="0">
                <a:solidFill>
                  <a:srgbClr val="6B6B6B"/>
                </a:solidFill>
                <a:latin typeface="Calibri" pitchFamily="34" charset="0"/>
                <a:ea typeface="Calibri" pitchFamily="34" charset="-122"/>
                <a:cs typeface="Calibri" pitchFamily="34" charset="-120"/>
              </a:rPr>
              <a:t>Every product averages between 3.62 (Shirt) and 3.86. Lowest rated: Shirt 3.62, Jeans 3.65, Blouse 3.68.</a:t>
            </a:r>
            <a:endParaRPr lang="en-US" sz="1300" dirty="0"/>
          </a:p>
        </p:txBody>
      </p:sp>
      <p:sp>
        <p:nvSpPr>
          <p:cNvPr id="8" name="Shape 5"/>
          <p:cNvSpPr/>
          <p:nvPr/>
        </p:nvSpPr>
        <p:spPr>
          <a:xfrm>
            <a:off x="6537960" y="1600200"/>
            <a:ext cx="5102352" cy="3886200"/>
          </a:xfrm>
          <a:prstGeom prst="roundRect">
            <a:avLst>
              <a:gd name="adj" fmla="val 1882"/>
            </a:avLst>
          </a:prstGeom>
          <a:solidFill>
            <a:srgbClr val="F8F0F9"/>
          </a:solidFill>
          <a:ln w="12700">
            <a:solidFill>
              <a:srgbClr val="F8F0F9"/>
            </a:solidFill>
            <a:prstDash val="solid"/>
          </a:ln>
        </p:spPr>
      </p:sp>
      <p:sp>
        <p:nvSpPr>
          <p:cNvPr id="9" name="Text 6"/>
          <p:cNvSpPr txBox="1"/>
          <p:nvPr/>
        </p:nvSpPr>
        <p:spPr>
          <a:xfrm>
            <a:off x="6812280" y="1737360"/>
            <a:ext cx="4572000" cy="320040"/>
          </a:xfrm>
          <a:prstGeom prst="rect">
            <a:avLst/>
          </a:prstGeom>
          <a:noFill/>
          <a:ln/>
        </p:spPr>
        <p:txBody>
          <a:bodyPr wrap="square" lIns="0" tIns="0" rIns="0" bIns="0" rtlCol="0" anchor="ctr"/>
          <a:lstStyle/>
          <a:p>
            <a:pPr indent="0" marL="0">
              <a:buNone/>
            </a:pPr>
            <a:r>
              <a:rPr lang="en-US" sz="1600" b="1" dirty="0">
                <a:solidFill>
                  <a:srgbClr val="6B007B"/>
                </a:solidFill>
                <a:latin typeface="Calibri" pitchFamily="34" charset="0"/>
                <a:ea typeface="Calibri" pitchFamily="34" charset="-122"/>
                <a:cs typeface="Calibri" pitchFamily="34" charset="-120"/>
              </a:rPr>
              <a:t>Average purchase by shipping type</a:t>
            </a:r>
            <a:endParaRPr lang="en-US" sz="1600" dirty="0"/>
          </a:p>
        </p:txBody>
      </p:sp>
      <p:sp>
        <p:nvSpPr>
          <p:cNvPr id="10" name="Shape 7"/>
          <p:cNvSpPr/>
          <p:nvPr/>
        </p:nvSpPr>
        <p:spPr>
          <a:xfrm>
            <a:off x="6812280" y="2331720"/>
            <a:ext cx="685800" cy="685800"/>
          </a:xfrm>
          <a:prstGeom prst="ellipse">
            <a:avLst/>
          </a:prstGeom>
          <a:solidFill>
            <a:srgbClr val="12239E"/>
          </a:solidFill>
          <a:ln w="12700">
            <a:solidFill>
              <a:srgbClr val="12239E"/>
            </a:solidFill>
            <a:prstDash val="solid"/>
          </a:ln>
        </p:spPr>
      </p:sp>
      <p:pic>
        <p:nvPicPr>
          <p:cNvPr id="11" name="Image 0" descr="preencoded.png">    </p:cNvPr>
          <p:cNvPicPr>
            <a:picLocks noChangeAspect="1"/>
          </p:cNvPicPr>
          <p:nvPr/>
        </p:nvPicPr>
        <p:blipFill>
          <a:blip r:embed="rId2"/>
          <a:stretch>
            <a:fillRect/>
          </a:stretch>
        </p:blipFill>
        <p:spPr>
          <a:xfrm>
            <a:off x="6990588" y="2510028"/>
            <a:ext cx="329184" cy="329184"/>
          </a:xfrm>
          <a:prstGeom prst="rect">
            <a:avLst/>
          </a:prstGeom>
        </p:spPr>
      </p:pic>
      <p:sp>
        <p:nvSpPr>
          <p:cNvPr id="12" name="Text 8"/>
          <p:cNvSpPr txBox="1"/>
          <p:nvPr/>
        </p:nvSpPr>
        <p:spPr>
          <a:xfrm>
            <a:off x="7680960" y="2240280"/>
            <a:ext cx="2011680" cy="594360"/>
          </a:xfrm>
          <a:prstGeom prst="rect">
            <a:avLst/>
          </a:prstGeom>
          <a:noFill/>
          <a:ln/>
        </p:spPr>
        <p:txBody>
          <a:bodyPr wrap="square" lIns="0" tIns="0" rIns="0" bIns="0" rtlCol="0" anchor="ctr"/>
          <a:lstStyle/>
          <a:p>
            <a:pPr indent="0" marL="0">
              <a:buNone/>
            </a:pPr>
            <a:r>
              <a:rPr lang="en-US" sz="3600" b="1" dirty="0">
                <a:solidFill>
                  <a:srgbClr val="12239E"/>
                </a:solidFill>
                <a:latin typeface="Calibri" pitchFamily="34" charset="0"/>
                <a:ea typeface="Calibri" pitchFamily="34" charset="-122"/>
                <a:cs typeface="Calibri" pitchFamily="34" charset="-120"/>
              </a:rPr>
              <a:t>$60.48</a:t>
            </a:r>
            <a:endParaRPr lang="en-US" sz="3600" dirty="0"/>
          </a:p>
        </p:txBody>
      </p:sp>
      <p:sp>
        <p:nvSpPr>
          <p:cNvPr id="13" name="Text 9"/>
          <p:cNvSpPr txBox="1"/>
          <p:nvPr/>
        </p:nvSpPr>
        <p:spPr>
          <a:xfrm>
            <a:off x="7680960" y="2834640"/>
            <a:ext cx="2011680" cy="274320"/>
          </a:xfrm>
          <a:prstGeom prst="rect">
            <a:avLst/>
          </a:prstGeom>
          <a:noFill/>
          <a:ln/>
        </p:spPr>
        <p:txBody>
          <a:bodyPr wrap="square" lIns="0" tIns="0" rIns="0" bIns="0" rtlCol="0" anchor="ctr"/>
          <a:lstStyle/>
          <a:p>
            <a:pPr indent="0" marL="0">
              <a:buNone/>
            </a:pPr>
            <a:r>
              <a:rPr lang="en-US" sz="1400" dirty="0">
                <a:solidFill>
                  <a:srgbClr val="6B6B6B"/>
                </a:solidFill>
                <a:latin typeface="Calibri" pitchFamily="34" charset="0"/>
                <a:ea typeface="Calibri" pitchFamily="34" charset="-122"/>
                <a:cs typeface="Calibri" pitchFamily="34" charset="-120"/>
              </a:rPr>
              <a:t>Express</a:t>
            </a:r>
            <a:endParaRPr lang="en-US" sz="1400" dirty="0"/>
          </a:p>
        </p:txBody>
      </p:sp>
      <p:sp>
        <p:nvSpPr>
          <p:cNvPr id="14" name="Shape 10"/>
          <p:cNvSpPr/>
          <p:nvPr/>
        </p:nvSpPr>
        <p:spPr>
          <a:xfrm>
            <a:off x="6812280" y="3429000"/>
            <a:ext cx="685800" cy="685800"/>
          </a:xfrm>
          <a:prstGeom prst="ellipse">
            <a:avLst/>
          </a:prstGeom>
          <a:solidFill>
            <a:srgbClr val="893395"/>
          </a:solidFill>
          <a:ln w="12700">
            <a:solidFill>
              <a:srgbClr val="893395"/>
            </a:solidFill>
            <a:prstDash val="solid"/>
          </a:ln>
        </p:spPr>
      </p:sp>
      <p:pic>
        <p:nvPicPr>
          <p:cNvPr id="15" name="Image 1" descr="preencoded.png">    </p:cNvPr>
          <p:cNvPicPr>
            <a:picLocks noChangeAspect="1"/>
          </p:cNvPicPr>
          <p:nvPr/>
        </p:nvPicPr>
        <p:blipFill>
          <a:blip r:embed="rId3"/>
          <a:stretch>
            <a:fillRect/>
          </a:stretch>
        </p:blipFill>
        <p:spPr>
          <a:xfrm>
            <a:off x="6990588" y="3607308"/>
            <a:ext cx="329184" cy="329184"/>
          </a:xfrm>
          <a:prstGeom prst="rect">
            <a:avLst/>
          </a:prstGeom>
        </p:spPr>
      </p:pic>
      <p:sp>
        <p:nvSpPr>
          <p:cNvPr id="16" name="Text 11"/>
          <p:cNvSpPr txBox="1"/>
          <p:nvPr/>
        </p:nvSpPr>
        <p:spPr>
          <a:xfrm>
            <a:off x="7680960" y="3337560"/>
            <a:ext cx="2011680" cy="594360"/>
          </a:xfrm>
          <a:prstGeom prst="rect">
            <a:avLst/>
          </a:prstGeom>
          <a:noFill/>
          <a:ln/>
        </p:spPr>
        <p:txBody>
          <a:bodyPr wrap="square" lIns="0" tIns="0" rIns="0" bIns="0" rtlCol="0" anchor="ctr"/>
          <a:lstStyle/>
          <a:p>
            <a:pPr indent="0" marL="0">
              <a:buNone/>
            </a:pPr>
            <a:r>
              <a:rPr lang="en-US" sz="3600" b="1" dirty="0">
                <a:solidFill>
                  <a:srgbClr val="893395"/>
                </a:solidFill>
                <a:latin typeface="Calibri" pitchFamily="34" charset="0"/>
                <a:ea typeface="Calibri" pitchFamily="34" charset="-122"/>
                <a:cs typeface="Calibri" pitchFamily="34" charset="-120"/>
              </a:rPr>
              <a:t>$58.46</a:t>
            </a:r>
            <a:endParaRPr lang="en-US" sz="3600" dirty="0"/>
          </a:p>
        </p:txBody>
      </p:sp>
      <p:sp>
        <p:nvSpPr>
          <p:cNvPr id="17" name="Text 12"/>
          <p:cNvSpPr txBox="1"/>
          <p:nvPr/>
        </p:nvSpPr>
        <p:spPr>
          <a:xfrm>
            <a:off x="7680960" y="3931920"/>
            <a:ext cx="2011680" cy="274320"/>
          </a:xfrm>
          <a:prstGeom prst="rect">
            <a:avLst/>
          </a:prstGeom>
          <a:noFill/>
          <a:ln/>
        </p:spPr>
        <p:txBody>
          <a:bodyPr wrap="square" lIns="0" tIns="0" rIns="0" bIns="0" rtlCol="0" anchor="ctr"/>
          <a:lstStyle/>
          <a:p>
            <a:pPr indent="0" marL="0">
              <a:buNone/>
            </a:pPr>
            <a:r>
              <a:rPr lang="en-US" sz="1400" dirty="0">
                <a:solidFill>
                  <a:srgbClr val="6B6B6B"/>
                </a:solidFill>
                <a:latin typeface="Calibri" pitchFamily="34" charset="0"/>
                <a:ea typeface="Calibri" pitchFamily="34" charset="-122"/>
                <a:cs typeface="Calibri" pitchFamily="34" charset="-120"/>
              </a:rPr>
              <a:t>Standard</a:t>
            </a:r>
            <a:endParaRPr lang="en-US" sz="1400" dirty="0"/>
          </a:p>
        </p:txBody>
      </p:sp>
      <p:sp>
        <p:nvSpPr>
          <p:cNvPr id="18" name="Shape 13"/>
          <p:cNvSpPr/>
          <p:nvPr/>
        </p:nvSpPr>
        <p:spPr>
          <a:xfrm>
            <a:off x="9692640" y="2331720"/>
            <a:ext cx="1691640" cy="1874520"/>
          </a:xfrm>
          <a:prstGeom prst="roundRect">
            <a:avLst>
              <a:gd name="adj" fmla="val 4324"/>
            </a:avLst>
          </a:prstGeom>
          <a:solidFill>
            <a:srgbClr val="3D0B4A"/>
          </a:solidFill>
          <a:ln w="12700">
            <a:solidFill>
              <a:srgbClr val="3D0B4A"/>
            </a:solidFill>
            <a:prstDash val="solid"/>
          </a:ln>
        </p:spPr>
      </p:sp>
      <p:sp>
        <p:nvSpPr>
          <p:cNvPr id="19" name="Text 14"/>
          <p:cNvSpPr txBox="1"/>
          <p:nvPr/>
        </p:nvSpPr>
        <p:spPr>
          <a:xfrm>
            <a:off x="9692640" y="2606040"/>
            <a:ext cx="169164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+3.5%</a:t>
            </a:r>
            <a:endParaRPr lang="en-US" sz="3000" dirty="0"/>
          </a:p>
        </p:txBody>
      </p:sp>
      <p:sp>
        <p:nvSpPr>
          <p:cNvPr id="20" name="Text 15"/>
          <p:cNvSpPr txBox="1"/>
          <p:nvPr/>
        </p:nvSpPr>
        <p:spPr>
          <a:xfrm>
            <a:off x="9829800" y="3291840"/>
            <a:ext cx="1417320" cy="731520"/>
          </a:xfrm>
          <a:prstGeom prst="rect">
            <a:avLst/>
          </a:prstGeom>
          <a:noFill/>
          <a:ln/>
        </p:spPr>
        <p:txBody>
          <a:bodyPr wrap="square" lIns="0" tIns="0" rIns="0" bIns="0" rtlCol="0" anchor="t"/>
          <a:lstStyle/>
          <a:p>
            <a:pPr algn="ctr" indent="0" marL="0">
              <a:buNone/>
            </a:pPr>
            <a:r>
              <a:rPr lang="en-US" sz="1200" dirty="0">
                <a:solidFill>
                  <a:srgbClr val="F6C9E6"/>
                </a:solidFill>
                <a:latin typeface="Calibri" pitchFamily="34" charset="0"/>
                <a:ea typeface="Calibri" pitchFamily="34" charset="-122"/>
                <a:cs typeface="Calibri" pitchFamily="34" charset="-120"/>
              </a:rPr>
              <a:t>more per order with Express</a:t>
            </a:r>
            <a:endParaRPr lang="en-US" sz="1200" dirty="0"/>
          </a:p>
        </p:txBody>
      </p:sp>
      <p:sp>
        <p:nvSpPr>
          <p:cNvPr id="21" name="Text 16"/>
          <p:cNvSpPr txBox="1"/>
          <p:nvPr/>
        </p:nvSpPr>
        <p:spPr>
          <a:xfrm>
            <a:off x="6812280" y="4617720"/>
            <a:ext cx="4572000" cy="731520"/>
          </a:xfrm>
          <a:prstGeom prst="rect">
            <a:avLst/>
          </a:prstGeom>
          <a:noFill/>
          <a:ln/>
        </p:spPr>
        <p:txBody>
          <a:bodyPr wrap="square" lIns="0" tIns="0" rIns="0" bIns="0" rtlCol="0" anchor="t"/>
          <a:lstStyle/>
          <a:p>
            <a:pPr indent="0" marL="0">
              <a:buNone/>
            </a:pPr>
            <a:r>
              <a:rPr lang="en-US" sz="1300" dirty="0">
                <a:solidFill>
                  <a:srgbClr val="6B6B6B"/>
                </a:solidFill>
                <a:latin typeface="Calibri" pitchFamily="34" charset="0"/>
                <a:ea typeface="Calibri" pitchFamily="34" charset="-122"/>
                <a:cs typeface="Calibri" pitchFamily="34" charset="-120"/>
              </a:rPr>
              <a:t>All six shipping types average between $58.46 and $60.73, so the difference is small.</a:t>
            </a:r>
            <a:endParaRPr lang="en-US" sz="1300" dirty="0"/>
          </a:p>
        </p:txBody>
      </p:sp>
      <p:sp>
        <p:nvSpPr>
          <p:cNvPr id="22" name="Shape 17"/>
          <p:cNvSpPr/>
          <p:nvPr/>
        </p:nvSpPr>
        <p:spPr>
          <a:xfrm>
            <a:off x="548640" y="5669280"/>
            <a:ext cx="11094415" cy="566928"/>
          </a:xfrm>
          <a:prstGeom prst="roundRect">
            <a:avLst>
              <a:gd name="adj" fmla="val 12903"/>
            </a:avLst>
          </a:prstGeom>
          <a:solidFill>
            <a:srgbClr val="FCEFF7"/>
          </a:solidFill>
          <a:ln w="12700">
            <a:solidFill>
              <a:srgbClr val="FCEFF7"/>
            </a:solidFill>
            <a:prstDash val="solid"/>
          </a:ln>
        </p:spPr>
      </p:sp>
      <p:sp>
        <p:nvSpPr>
          <p:cNvPr id="23" name="Shape 18"/>
          <p:cNvSpPr/>
          <p:nvPr/>
        </p:nvSpPr>
        <p:spPr>
          <a:xfrm>
            <a:off x="676656" y="5760720"/>
            <a:ext cx="384048" cy="384048"/>
          </a:xfrm>
          <a:prstGeom prst="ellipse">
            <a:avLst/>
          </a:prstGeom>
          <a:solidFill>
            <a:srgbClr val="E669B9"/>
          </a:solidFill>
          <a:ln w="12700">
            <a:solidFill>
              <a:srgbClr val="E669B9"/>
            </a:solidFill>
            <a:prstDash val="solid"/>
          </a:ln>
        </p:spPr>
      </p:sp>
      <p:pic>
        <p:nvPicPr>
          <p:cNvPr id="24" name="Image 2" descr="preencoded.png">    </p:cNvPr>
          <p:cNvPicPr>
            <a:picLocks noChangeAspect="1"/>
          </p:cNvPicPr>
          <p:nvPr/>
        </p:nvPicPr>
        <p:blipFill>
          <a:blip r:embed="rId4"/>
          <a:stretch>
            <a:fillRect/>
          </a:stretch>
        </p:blipFill>
        <p:spPr>
          <a:xfrm>
            <a:off x="768096" y="5852160"/>
            <a:ext cx="201168" cy="201168"/>
          </a:xfrm>
          <a:prstGeom prst="rect">
            <a:avLst/>
          </a:prstGeom>
        </p:spPr>
      </p:pic>
      <p:sp>
        <p:nvSpPr>
          <p:cNvPr id="25" name="Text 19"/>
          <p:cNvSpPr txBox="1"/>
          <p:nvPr/>
        </p:nvSpPr>
        <p:spPr>
          <a:xfrm>
            <a:off x="1234440" y="5669280"/>
            <a:ext cx="10225735" cy="566928"/>
          </a:xfrm>
          <a:prstGeom prst="rect">
            <a:avLst/>
          </a:prstGeom>
          <a:noFill/>
          <a:ln/>
        </p:spPr>
        <p:txBody>
          <a:bodyPr wrap="square" lIns="0" tIns="0" rIns="0" bIns="0" rtlCol="0" anchor="ctr"/>
          <a:lstStyle/>
          <a:p>
            <a:pPr indent="0" marL="0">
              <a:buNone/>
            </a:pPr>
            <a:r>
              <a:rPr lang="en-US" sz="1500" b="1" dirty="0">
                <a:solidFill>
                  <a:srgbClr val="6B007B"/>
                </a:solidFill>
                <a:latin typeface="Calibri" pitchFamily="34" charset="0"/>
                <a:ea typeface="Calibri" pitchFamily="34" charset="-122"/>
                <a:cs typeface="Calibri" pitchFamily="34" charset="-120"/>
              </a:rPr>
              <a:t>So what: </a:t>
            </a:r>
            <a:pPr indent="0" marL="0">
              <a:buNone/>
            </a:pPr>
            <a:r>
              <a:rPr lang="en-US" sz="1500" dirty="0">
                <a:solidFill>
                  <a:srgbClr val="2B2B2B"/>
                </a:solidFill>
                <a:latin typeface="Calibri" pitchFamily="34" charset="0"/>
                <a:ea typeface="Calibri" pitchFamily="34" charset="-122"/>
                <a:cs typeface="Calibri" pitchFamily="34" charset="-120"/>
              </a:rPr>
              <a:t>no product clearly delights customers. Use reviews to improve low-rated items, and test free express shipping as a perk.</a:t>
            </a:r>
            <a:endParaRPr lang="en-US" sz="1500" dirty="0"/>
          </a:p>
        </p:txBody>
      </p:sp>
      <p:sp>
        <p:nvSpPr>
          <p:cNvPr id="26" name="Text 20"/>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Customer Shopping Behaviour Analysis</a:t>
            </a:r>
            <a:endParaRPr lang="en-US" sz="1000" dirty="0"/>
          </a:p>
        </p:txBody>
      </p:sp>
      <p:sp>
        <p:nvSpPr>
          <p:cNvPr id="27" name="Text 21"/>
          <p:cNvSpPr txBox="1"/>
          <p:nvPr/>
        </p:nvSpPr>
        <p:spPr>
          <a:xfrm>
            <a:off x="10728655" y="6419088"/>
            <a:ext cx="9144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E669B9"/>
                </a:solidFill>
                <a:latin typeface="Calibri" pitchFamily="34" charset="0"/>
                <a:ea typeface="Calibri" pitchFamily="34" charset="-122"/>
                <a:cs typeface="Calibri" pitchFamily="34" charset="-120"/>
              </a:rPr>
              <a:t>STEP 3 · POWER BI</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3000" b="1" dirty="0">
                <a:solidFill>
                  <a:srgbClr val="6B007B"/>
                </a:solidFill>
                <a:latin typeface="Calibri" pitchFamily="34" charset="0"/>
                <a:ea typeface="Calibri" pitchFamily="34" charset="-122"/>
                <a:cs typeface="Calibri" pitchFamily="34" charset="-120"/>
              </a:rPr>
              <a:t>An interactive dashboard for day-to-day decisions</a:t>
            </a:r>
            <a:endParaRPr lang="en-US" sz="3000" dirty="0"/>
          </a:p>
        </p:txBody>
      </p:sp>
      <p:sp>
        <p:nvSpPr>
          <p:cNvPr id="4" name="Shape 2"/>
          <p:cNvSpPr/>
          <p:nvPr/>
        </p:nvSpPr>
        <p:spPr>
          <a:xfrm>
            <a:off x="475488" y="1572768"/>
            <a:ext cx="7370064" cy="4071322"/>
          </a:xfrm>
          <a:prstGeom prst="roundRect">
            <a:avLst>
              <a:gd name="adj" fmla="val 1348"/>
            </a:avLst>
          </a:prstGeom>
          <a:solidFill>
            <a:srgbClr val="FFFFFF"/>
          </a:solidFill>
          <a:ln w="12700">
            <a:solidFill>
              <a:srgbClr val="E6DDE8"/>
            </a:solidFill>
            <a:prstDash val="solid"/>
          </a:ln>
          <a:effectLst>
            <a:outerShdw sx="100000" sy="100000" kx="0" ky="0" algn="bl" rotWithShape="0" blurRad="101600" dist="38100" dir="5400000">
              <a:srgbClr val="000000">
                <a:alpha val="18000"/>
              </a:srgbClr>
            </a:outerShdw>
          </a:effectLst>
        </p:spPr>
      </p:sp>
      <p:pic>
        <p:nvPicPr>
          <p:cNvPr id="5" name="Image 0" descr="dashboard.png">    </p:cNvPr>
          <p:cNvPicPr>
            <a:picLocks noChangeAspect="1"/>
          </p:cNvPicPr>
          <p:nvPr/>
        </p:nvPicPr>
        <p:blipFill>
          <a:blip r:embed="rId1"/>
          <a:stretch>
            <a:fillRect/>
          </a:stretch>
        </p:blipFill>
        <p:spPr>
          <a:xfrm>
            <a:off x="548640" y="1645920"/>
            <a:ext cx="7223760" cy="3925018"/>
          </a:xfrm>
          <a:prstGeom prst="rect">
            <a:avLst/>
          </a:prstGeom>
        </p:spPr>
      </p:pic>
      <p:sp>
        <p:nvSpPr>
          <p:cNvPr id="6" name="Text 3"/>
          <p:cNvSpPr txBox="1"/>
          <p:nvPr/>
        </p:nvSpPr>
        <p:spPr>
          <a:xfrm>
            <a:off x="548640" y="5760720"/>
            <a:ext cx="7223760" cy="27432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Connected live to the PostgreSQL customer table</a:t>
            </a:r>
            <a:endParaRPr lang="en-US" sz="1200" dirty="0"/>
          </a:p>
        </p:txBody>
      </p:sp>
      <p:sp>
        <p:nvSpPr>
          <p:cNvPr id="7" name="Shape 4"/>
          <p:cNvSpPr/>
          <p:nvPr/>
        </p:nvSpPr>
        <p:spPr>
          <a:xfrm>
            <a:off x="8275320" y="1645920"/>
            <a:ext cx="594360" cy="594360"/>
          </a:xfrm>
          <a:prstGeom prst="ellipse">
            <a:avLst/>
          </a:prstGeom>
          <a:solidFill>
            <a:srgbClr val="893395"/>
          </a:solidFill>
          <a:ln w="12700">
            <a:solidFill>
              <a:srgbClr val="893395"/>
            </a:solidFill>
            <a:prstDash val="solid"/>
          </a:ln>
        </p:spPr>
      </p:sp>
      <p:pic>
        <p:nvPicPr>
          <p:cNvPr id="8" name="Image 1" descr="preencoded.png">    </p:cNvPr>
          <p:cNvPicPr>
            <a:picLocks noChangeAspect="1"/>
          </p:cNvPicPr>
          <p:nvPr/>
        </p:nvPicPr>
        <p:blipFill>
          <a:blip r:embed="rId2"/>
          <a:stretch>
            <a:fillRect/>
          </a:stretch>
        </p:blipFill>
        <p:spPr>
          <a:xfrm>
            <a:off x="8429854" y="1800454"/>
            <a:ext cx="285293" cy="285293"/>
          </a:xfrm>
          <a:prstGeom prst="rect">
            <a:avLst/>
          </a:prstGeom>
        </p:spPr>
      </p:pic>
      <p:sp>
        <p:nvSpPr>
          <p:cNvPr id="9" name="Text 5"/>
          <p:cNvSpPr txBox="1"/>
          <p:nvPr/>
        </p:nvSpPr>
        <p:spPr>
          <a:xfrm>
            <a:off x="9052560" y="1627632"/>
            <a:ext cx="2606040" cy="320040"/>
          </a:xfrm>
          <a:prstGeom prst="rect">
            <a:avLst/>
          </a:prstGeom>
          <a:noFill/>
          <a:ln/>
        </p:spPr>
        <p:txBody>
          <a:bodyPr wrap="square" lIns="0" tIns="0" rIns="0" bIns="0" rtlCol="0" anchor="ctr"/>
          <a:lstStyle/>
          <a:p>
            <a:pPr indent="0" marL="0">
              <a:buNone/>
            </a:pPr>
            <a:r>
              <a:rPr lang="en-US" sz="1700" b="1" dirty="0">
                <a:solidFill>
                  <a:srgbClr val="6B007B"/>
                </a:solidFill>
                <a:latin typeface="Calibri" pitchFamily="34" charset="0"/>
                <a:ea typeface="Calibri" pitchFamily="34" charset="-122"/>
                <a:cs typeface="Calibri" pitchFamily="34" charset="-120"/>
              </a:rPr>
              <a:t>3 KPI cards</a:t>
            </a:r>
            <a:endParaRPr lang="en-US" sz="1700" dirty="0"/>
          </a:p>
        </p:txBody>
      </p:sp>
      <p:sp>
        <p:nvSpPr>
          <p:cNvPr id="10" name="Text 6"/>
          <p:cNvSpPr txBox="1"/>
          <p:nvPr/>
        </p:nvSpPr>
        <p:spPr>
          <a:xfrm>
            <a:off x="9052560" y="1947672"/>
            <a:ext cx="2606040" cy="640080"/>
          </a:xfrm>
          <a:prstGeom prst="rect">
            <a:avLst/>
          </a:prstGeom>
          <a:noFill/>
          <a:ln/>
        </p:spPr>
        <p:txBody>
          <a:bodyPr wrap="square" lIns="0" tIns="0" rIns="0" bIns="0" rtlCol="0" anchor="t"/>
          <a:lstStyle/>
          <a:p>
            <a:pPr indent="0" marL="0">
              <a:buNone/>
            </a:pPr>
            <a:r>
              <a:rPr lang="en-US" sz="1200" dirty="0">
                <a:solidFill>
                  <a:srgbClr val="6B6B6B"/>
                </a:solidFill>
                <a:latin typeface="Calibri" pitchFamily="34" charset="0"/>
                <a:ea typeface="Calibri" pitchFamily="34" charset="-122"/>
                <a:cs typeface="Calibri" pitchFamily="34" charset="-120"/>
              </a:rPr>
              <a:t>Customers (3.9K), average purchase ($59.76) and average rating (3.75)</a:t>
            </a:r>
            <a:endParaRPr lang="en-US" sz="1200" dirty="0"/>
          </a:p>
        </p:txBody>
      </p:sp>
      <p:sp>
        <p:nvSpPr>
          <p:cNvPr id="11" name="Shape 7"/>
          <p:cNvSpPr/>
          <p:nvPr/>
        </p:nvSpPr>
        <p:spPr>
          <a:xfrm>
            <a:off x="8275320" y="2670048"/>
            <a:ext cx="594360" cy="594360"/>
          </a:xfrm>
          <a:prstGeom prst="ellipse">
            <a:avLst/>
          </a:prstGeom>
          <a:solidFill>
            <a:srgbClr val="E669B9"/>
          </a:solidFill>
          <a:ln w="12700">
            <a:solidFill>
              <a:srgbClr val="E669B9"/>
            </a:solidFill>
            <a:prstDash val="solid"/>
          </a:ln>
        </p:spPr>
      </p:sp>
      <p:pic>
        <p:nvPicPr>
          <p:cNvPr id="12" name="Image 2" descr="preencoded.png">    </p:cNvPr>
          <p:cNvPicPr>
            <a:picLocks noChangeAspect="1"/>
          </p:cNvPicPr>
          <p:nvPr/>
        </p:nvPicPr>
        <p:blipFill>
          <a:blip r:embed="rId3"/>
          <a:stretch>
            <a:fillRect/>
          </a:stretch>
        </p:blipFill>
        <p:spPr>
          <a:xfrm>
            <a:off x="8429854" y="2824582"/>
            <a:ext cx="285293" cy="285293"/>
          </a:xfrm>
          <a:prstGeom prst="rect">
            <a:avLst/>
          </a:prstGeom>
        </p:spPr>
      </p:pic>
      <p:sp>
        <p:nvSpPr>
          <p:cNvPr id="13" name="Text 8"/>
          <p:cNvSpPr txBox="1"/>
          <p:nvPr/>
        </p:nvSpPr>
        <p:spPr>
          <a:xfrm>
            <a:off x="9052560" y="2651760"/>
            <a:ext cx="2606040" cy="320040"/>
          </a:xfrm>
          <a:prstGeom prst="rect">
            <a:avLst/>
          </a:prstGeom>
          <a:noFill/>
          <a:ln/>
        </p:spPr>
        <p:txBody>
          <a:bodyPr wrap="square" lIns="0" tIns="0" rIns="0" bIns="0" rtlCol="0" anchor="ctr"/>
          <a:lstStyle/>
          <a:p>
            <a:pPr indent="0" marL="0">
              <a:buNone/>
            </a:pPr>
            <a:r>
              <a:rPr lang="en-US" sz="1700" b="1" dirty="0">
                <a:solidFill>
                  <a:srgbClr val="6B007B"/>
                </a:solidFill>
                <a:latin typeface="Calibri" pitchFamily="34" charset="0"/>
                <a:ea typeface="Calibri" pitchFamily="34" charset="-122"/>
                <a:cs typeface="Calibri" pitchFamily="34" charset="-120"/>
              </a:rPr>
              <a:t>5 charts</a:t>
            </a:r>
            <a:endParaRPr lang="en-US" sz="1700" dirty="0"/>
          </a:p>
        </p:txBody>
      </p:sp>
      <p:sp>
        <p:nvSpPr>
          <p:cNvPr id="14" name="Text 9"/>
          <p:cNvSpPr txBox="1"/>
          <p:nvPr/>
        </p:nvSpPr>
        <p:spPr>
          <a:xfrm>
            <a:off x="9052560" y="2971800"/>
            <a:ext cx="2606040" cy="640080"/>
          </a:xfrm>
          <a:prstGeom prst="rect">
            <a:avLst/>
          </a:prstGeom>
          <a:noFill/>
          <a:ln/>
        </p:spPr>
        <p:txBody>
          <a:bodyPr wrap="square" lIns="0" tIns="0" rIns="0" bIns="0" rtlCol="0" anchor="t"/>
          <a:lstStyle/>
          <a:p>
            <a:pPr indent="0" marL="0">
              <a:buNone/>
            </a:pPr>
            <a:r>
              <a:rPr lang="en-US" sz="1200" dirty="0">
                <a:solidFill>
                  <a:srgbClr val="6B6B6B"/>
                </a:solidFill>
                <a:latin typeface="Calibri" pitchFamily="34" charset="0"/>
                <a:ea typeface="Calibri" pitchFamily="34" charset="-122"/>
                <a:cs typeface="Calibri" pitchFamily="34" charset="-120"/>
              </a:rPr>
              <a:t>Subscription split, plus revenue and orders by category and by age group</a:t>
            </a:r>
            <a:endParaRPr lang="en-US" sz="1200" dirty="0"/>
          </a:p>
        </p:txBody>
      </p:sp>
      <p:sp>
        <p:nvSpPr>
          <p:cNvPr id="15" name="Shape 10"/>
          <p:cNvSpPr/>
          <p:nvPr/>
        </p:nvSpPr>
        <p:spPr>
          <a:xfrm>
            <a:off x="8275320" y="3694176"/>
            <a:ext cx="594360" cy="594360"/>
          </a:xfrm>
          <a:prstGeom prst="ellipse">
            <a:avLst/>
          </a:prstGeom>
          <a:solidFill>
            <a:srgbClr val="893395"/>
          </a:solidFill>
          <a:ln w="12700">
            <a:solidFill>
              <a:srgbClr val="893395"/>
            </a:solidFill>
            <a:prstDash val="solid"/>
          </a:ln>
        </p:spPr>
      </p:sp>
      <p:pic>
        <p:nvPicPr>
          <p:cNvPr id="16" name="Image 3" descr="preencoded.png">    </p:cNvPr>
          <p:cNvPicPr>
            <a:picLocks noChangeAspect="1"/>
          </p:cNvPicPr>
          <p:nvPr/>
        </p:nvPicPr>
        <p:blipFill>
          <a:blip r:embed="rId4"/>
          <a:stretch>
            <a:fillRect/>
          </a:stretch>
        </p:blipFill>
        <p:spPr>
          <a:xfrm>
            <a:off x="8429854" y="3848710"/>
            <a:ext cx="285293" cy="285293"/>
          </a:xfrm>
          <a:prstGeom prst="rect">
            <a:avLst/>
          </a:prstGeom>
        </p:spPr>
      </p:pic>
      <p:sp>
        <p:nvSpPr>
          <p:cNvPr id="17" name="Text 11"/>
          <p:cNvSpPr txBox="1"/>
          <p:nvPr/>
        </p:nvSpPr>
        <p:spPr>
          <a:xfrm>
            <a:off x="9052560" y="3675888"/>
            <a:ext cx="2606040" cy="320040"/>
          </a:xfrm>
          <a:prstGeom prst="rect">
            <a:avLst/>
          </a:prstGeom>
          <a:noFill/>
          <a:ln/>
        </p:spPr>
        <p:txBody>
          <a:bodyPr wrap="square" lIns="0" tIns="0" rIns="0" bIns="0" rtlCol="0" anchor="ctr"/>
          <a:lstStyle/>
          <a:p>
            <a:pPr indent="0" marL="0">
              <a:buNone/>
            </a:pPr>
            <a:r>
              <a:rPr lang="en-US" sz="1700" b="1" dirty="0">
                <a:solidFill>
                  <a:srgbClr val="6B007B"/>
                </a:solidFill>
                <a:latin typeface="Calibri" pitchFamily="34" charset="0"/>
                <a:ea typeface="Calibri" pitchFamily="34" charset="-122"/>
                <a:cs typeface="Calibri" pitchFamily="34" charset="-120"/>
              </a:rPr>
              <a:t>4 slicers</a:t>
            </a:r>
            <a:endParaRPr lang="en-US" sz="1700" dirty="0"/>
          </a:p>
        </p:txBody>
      </p:sp>
      <p:sp>
        <p:nvSpPr>
          <p:cNvPr id="18" name="Text 12"/>
          <p:cNvSpPr txBox="1"/>
          <p:nvPr/>
        </p:nvSpPr>
        <p:spPr>
          <a:xfrm>
            <a:off x="9052560" y="3995928"/>
            <a:ext cx="2606040" cy="640080"/>
          </a:xfrm>
          <a:prstGeom prst="rect">
            <a:avLst/>
          </a:prstGeom>
          <a:noFill/>
          <a:ln/>
        </p:spPr>
        <p:txBody>
          <a:bodyPr wrap="square" lIns="0" tIns="0" rIns="0" bIns="0" rtlCol="0" anchor="t"/>
          <a:lstStyle/>
          <a:p>
            <a:pPr indent="0" marL="0">
              <a:buNone/>
            </a:pPr>
            <a:r>
              <a:rPr lang="en-US" sz="1200" dirty="0">
                <a:solidFill>
                  <a:srgbClr val="6B6B6B"/>
                </a:solidFill>
                <a:latin typeface="Calibri" pitchFamily="34" charset="0"/>
                <a:ea typeface="Calibri" pitchFamily="34" charset="-122"/>
                <a:cs typeface="Calibri" pitchFamily="34" charset="-120"/>
              </a:rPr>
              <a:t>Filter by subscription status, gender, category and shipping type</a:t>
            </a:r>
            <a:endParaRPr lang="en-US" sz="1200" dirty="0"/>
          </a:p>
        </p:txBody>
      </p:sp>
      <p:sp>
        <p:nvSpPr>
          <p:cNvPr id="19" name="Shape 13"/>
          <p:cNvSpPr/>
          <p:nvPr/>
        </p:nvSpPr>
        <p:spPr>
          <a:xfrm>
            <a:off x="8275320" y="4718304"/>
            <a:ext cx="594360" cy="594360"/>
          </a:xfrm>
          <a:prstGeom prst="ellipse">
            <a:avLst/>
          </a:prstGeom>
          <a:solidFill>
            <a:srgbClr val="E669B9"/>
          </a:solidFill>
          <a:ln w="12700">
            <a:solidFill>
              <a:srgbClr val="E669B9"/>
            </a:solidFill>
            <a:prstDash val="solid"/>
          </a:ln>
        </p:spPr>
      </p:sp>
      <p:pic>
        <p:nvPicPr>
          <p:cNvPr id="20" name="Image 4" descr="preencoded.png">    </p:cNvPr>
          <p:cNvPicPr>
            <a:picLocks noChangeAspect="1"/>
          </p:cNvPicPr>
          <p:nvPr/>
        </p:nvPicPr>
        <p:blipFill>
          <a:blip r:embed="rId5"/>
          <a:stretch>
            <a:fillRect/>
          </a:stretch>
        </p:blipFill>
        <p:spPr>
          <a:xfrm>
            <a:off x="8429854" y="4872838"/>
            <a:ext cx="285293" cy="285293"/>
          </a:xfrm>
          <a:prstGeom prst="rect">
            <a:avLst/>
          </a:prstGeom>
        </p:spPr>
      </p:pic>
      <p:sp>
        <p:nvSpPr>
          <p:cNvPr id="21" name="Text 14"/>
          <p:cNvSpPr txBox="1"/>
          <p:nvPr/>
        </p:nvSpPr>
        <p:spPr>
          <a:xfrm>
            <a:off x="9052560" y="4700016"/>
            <a:ext cx="2606040" cy="320040"/>
          </a:xfrm>
          <a:prstGeom prst="rect">
            <a:avLst/>
          </a:prstGeom>
          <a:noFill/>
          <a:ln/>
        </p:spPr>
        <p:txBody>
          <a:bodyPr wrap="square" lIns="0" tIns="0" rIns="0" bIns="0" rtlCol="0" anchor="ctr"/>
          <a:lstStyle/>
          <a:p>
            <a:pPr indent="0" marL="0">
              <a:buNone/>
            </a:pPr>
            <a:r>
              <a:rPr lang="en-US" sz="1700" b="1" dirty="0">
                <a:solidFill>
                  <a:srgbClr val="6B007B"/>
                </a:solidFill>
                <a:latin typeface="Calibri" pitchFamily="34" charset="0"/>
                <a:ea typeface="Calibri" pitchFamily="34" charset="-122"/>
                <a:cs typeface="Calibri" pitchFamily="34" charset="-120"/>
              </a:rPr>
              <a:t>3 DAX measures</a:t>
            </a:r>
            <a:endParaRPr lang="en-US" sz="1700" dirty="0"/>
          </a:p>
        </p:txBody>
      </p:sp>
      <p:sp>
        <p:nvSpPr>
          <p:cNvPr id="22" name="Text 15"/>
          <p:cNvSpPr txBox="1"/>
          <p:nvPr/>
        </p:nvSpPr>
        <p:spPr>
          <a:xfrm>
            <a:off x="9052560" y="5020056"/>
            <a:ext cx="2606040" cy="640080"/>
          </a:xfrm>
          <a:prstGeom prst="rect">
            <a:avLst/>
          </a:prstGeom>
          <a:noFill/>
          <a:ln/>
        </p:spPr>
        <p:txBody>
          <a:bodyPr wrap="square" lIns="0" tIns="0" rIns="0" bIns="0" rtlCol="0" anchor="t"/>
          <a:lstStyle/>
          <a:p>
            <a:pPr indent="0" marL="0">
              <a:buNone/>
            </a:pPr>
            <a:r>
              <a:rPr lang="en-US" sz="1200" dirty="0">
                <a:solidFill>
                  <a:srgbClr val="6B6B6B"/>
                </a:solidFill>
                <a:latin typeface="Calibri" pitchFamily="34" charset="0"/>
                <a:ea typeface="Calibri" pitchFamily="34" charset="-122"/>
                <a:cs typeface="Calibri" pitchFamily="34" charset="-120"/>
              </a:rPr>
              <a:t>COUNT and AVERAGE measures behind the KPI cards</a:t>
            </a:r>
            <a:endParaRPr lang="en-US" sz="1200" dirty="0"/>
          </a:p>
        </p:txBody>
      </p:sp>
      <p:sp>
        <p:nvSpPr>
          <p:cNvPr id="23" name="Text 16"/>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Customer Shopping Behaviour Analysis</a:t>
            </a:r>
            <a:endParaRPr lang="en-US" sz="1000" dirty="0"/>
          </a:p>
        </p:txBody>
      </p:sp>
      <p:sp>
        <p:nvSpPr>
          <p:cNvPr id="24" name="Text 17"/>
          <p:cNvSpPr txBox="1"/>
          <p:nvPr/>
        </p:nvSpPr>
        <p:spPr>
          <a:xfrm>
            <a:off x="10728655" y="6419088"/>
            <a:ext cx="9144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E669B9"/>
                </a:solidFill>
                <a:latin typeface="Calibri" pitchFamily="34" charset="0"/>
                <a:ea typeface="Calibri" pitchFamily="34" charset="-122"/>
                <a:cs typeface="Calibri" pitchFamily="34" charset="-120"/>
              </a:rPr>
              <a:t>WHAT TO DO NEXT</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3000" b="1" dirty="0">
                <a:solidFill>
                  <a:srgbClr val="6B007B"/>
                </a:solidFill>
                <a:latin typeface="Calibri" pitchFamily="34" charset="0"/>
                <a:ea typeface="Calibri" pitchFamily="34" charset="-122"/>
                <a:cs typeface="Calibri" pitchFamily="34" charset="-120"/>
              </a:rPr>
              <a:t>Seven recommendations</a:t>
            </a:r>
            <a:endParaRPr lang="en-US" sz="3000" dirty="0"/>
          </a:p>
        </p:txBody>
      </p:sp>
      <p:sp>
        <p:nvSpPr>
          <p:cNvPr id="4" name="Shape 2"/>
          <p:cNvSpPr/>
          <p:nvPr/>
        </p:nvSpPr>
        <p:spPr>
          <a:xfrm>
            <a:off x="548640" y="1600200"/>
            <a:ext cx="5440680" cy="960120"/>
          </a:xfrm>
          <a:prstGeom prst="roundRect">
            <a:avLst>
              <a:gd name="adj" fmla="val 7619"/>
            </a:avLst>
          </a:prstGeom>
          <a:solidFill>
            <a:srgbClr val="F8F0F9"/>
          </a:solidFill>
          <a:ln w="12700">
            <a:solidFill>
              <a:srgbClr val="F8F0F9"/>
            </a:solidFill>
            <a:prstDash val="solid"/>
          </a:ln>
        </p:spPr>
      </p:sp>
      <p:sp>
        <p:nvSpPr>
          <p:cNvPr id="5" name="Shape 3"/>
          <p:cNvSpPr/>
          <p:nvPr/>
        </p:nvSpPr>
        <p:spPr>
          <a:xfrm>
            <a:off x="731520" y="1783080"/>
            <a:ext cx="594360" cy="594360"/>
          </a:xfrm>
          <a:prstGeom prst="ellipse">
            <a:avLst/>
          </a:prstGeom>
          <a:solidFill>
            <a:srgbClr val="893395"/>
          </a:solidFill>
          <a:ln w="12700">
            <a:solidFill>
              <a:srgbClr val="893395"/>
            </a:solidFill>
            <a:prstDash val="solid"/>
          </a:ln>
        </p:spPr>
      </p:sp>
      <p:pic>
        <p:nvPicPr>
          <p:cNvPr id="6" name="Image 0" descr="preencoded.png">    </p:cNvPr>
          <p:cNvPicPr>
            <a:picLocks noChangeAspect="1"/>
          </p:cNvPicPr>
          <p:nvPr/>
        </p:nvPicPr>
        <p:blipFill>
          <a:blip r:embed="rId1"/>
          <a:stretch>
            <a:fillRect/>
          </a:stretch>
        </p:blipFill>
        <p:spPr>
          <a:xfrm>
            <a:off x="886054" y="1937614"/>
            <a:ext cx="285293" cy="285293"/>
          </a:xfrm>
          <a:prstGeom prst="rect">
            <a:avLst/>
          </a:prstGeom>
        </p:spPr>
      </p:pic>
      <p:sp>
        <p:nvSpPr>
          <p:cNvPr id="7" name="Text 4"/>
          <p:cNvSpPr txBox="1"/>
          <p:nvPr/>
        </p:nvSpPr>
        <p:spPr>
          <a:xfrm>
            <a:off x="1508760" y="1691640"/>
            <a:ext cx="4297680" cy="320040"/>
          </a:xfrm>
          <a:prstGeom prst="rect">
            <a:avLst/>
          </a:prstGeom>
          <a:noFill/>
          <a:ln/>
        </p:spPr>
        <p:txBody>
          <a:bodyPr wrap="square" lIns="0" tIns="0" rIns="0" bIns="0" rtlCol="0" anchor="ctr"/>
          <a:lstStyle/>
          <a:p>
            <a:pPr indent="0" marL="0">
              <a:buNone/>
            </a:pPr>
            <a:r>
              <a:rPr lang="en-US" sz="1600" b="1" dirty="0">
                <a:solidFill>
                  <a:srgbClr val="6B007B"/>
                </a:solidFill>
                <a:latin typeface="Calibri" pitchFamily="34" charset="0"/>
                <a:ea typeface="Calibri" pitchFamily="34" charset="-122"/>
                <a:cs typeface="Calibri" pitchFamily="34" charset="-120"/>
              </a:rPr>
              <a:t>Rework subscription benefits</a:t>
            </a:r>
            <a:endParaRPr lang="en-US" sz="1600" dirty="0"/>
          </a:p>
        </p:txBody>
      </p:sp>
      <p:sp>
        <p:nvSpPr>
          <p:cNvPr id="8" name="Text 5"/>
          <p:cNvSpPr txBox="1"/>
          <p:nvPr/>
        </p:nvSpPr>
        <p:spPr>
          <a:xfrm>
            <a:off x="1508760" y="2011680"/>
            <a:ext cx="4343400" cy="50292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Add perks that drive bigger or more frequent orders; target the 2,518 unsubscribed repeat buyers</a:t>
            </a:r>
            <a:endParaRPr lang="en-US" sz="1250" dirty="0"/>
          </a:p>
        </p:txBody>
      </p:sp>
      <p:sp>
        <p:nvSpPr>
          <p:cNvPr id="9" name="Shape 6"/>
          <p:cNvSpPr/>
          <p:nvPr/>
        </p:nvSpPr>
        <p:spPr>
          <a:xfrm>
            <a:off x="548640" y="2697480"/>
            <a:ext cx="5440680" cy="960120"/>
          </a:xfrm>
          <a:prstGeom prst="roundRect">
            <a:avLst>
              <a:gd name="adj" fmla="val 7619"/>
            </a:avLst>
          </a:prstGeom>
          <a:solidFill>
            <a:srgbClr val="F8F0F9"/>
          </a:solidFill>
          <a:ln w="12700">
            <a:solidFill>
              <a:srgbClr val="F8F0F9"/>
            </a:solidFill>
            <a:prstDash val="solid"/>
          </a:ln>
        </p:spPr>
      </p:sp>
      <p:sp>
        <p:nvSpPr>
          <p:cNvPr id="10" name="Shape 7"/>
          <p:cNvSpPr/>
          <p:nvPr/>
        </p:nvSpPr>
        <p:spPr>
          <a:xfrm>
            <a:off x="731520" y="2880360"/>
            <a:ext cx="594360" cy="594360"/>
          </a:xfrm>
          <a:prstGeom prst="ellipse">
            <a:avLst/>
          </a:prstGeom>
          <a:solidFill>
            <a:srgbClr val="893395"/>
          </a:solidFill>
          <a:ln w="12700">
            <a:solidFill>
              <a:srgbClr val="893395"/>
            </a:solidFill>
            <a:prstDash val="solid"/>
          </a:ln>
        </p:spPr>
      </p:sp>
      <p:pic>
        <p:nvPicPr>
          <p:cNvPr id="11" name="Image 1" descr="preencoded.png">    </p:cNvPr>
          <p:cNvPicPr>
            <a:picLocks noChangeAspect="1"/>
          </p:cNvPicPr>
          <p:nvPr/>
        </p:nvPicPr>
        <p:blipFill>
          <a:blip r:embed="rId2"/>
          <a:stretch>
            <a:fillRect/>
          </a:stretch>
        </p:blipFill>
        <p:spPr>
          <a:xfrm>
            <a:off x="886054" y="3034894"/>
            <a:ext cx="285293" cy="285293"/>
          </a:xfrm>
          <a:prstGeom prst="rect">
            <a:avLst/>
          </a:prstGeom>
        </p:spPr>
      </p:pic>
      <p:sp>
        <p:nvSpPr>
          <p:cNvPr id="12" name="Text 8"/>
          <p:cNvSpPr txBox="1"/>
          <p:nvPr/>
        </p:nvSpPr>
        <p:spPr>
          <a:xfrm>
            <a:off x="1508760" y="2788920"/>
            <a:ext cx="4297680" cy="320040"/>
          </a:xfrm>
          <a:prstGeom prst="rect">
            <a:avLst/>
          </a:prstGeom>
          <a:noFill/>
          <a:ln/>
        </p:spPr>
        <p:txBody>
          <a:bodyPr wrap="square" lIns="0" tIns="0" rIns="0" bIns="0" rtlCol="0" anchor="ctr"/>
          <a:lstStyle/>
          <a:p>
            <a:pPr indent="0" marL="0">
              <a:buNone/>
            </a:pPr>
            <a:r>
              <a:rPr lang="en-US" sz="1600" b="1" dirty="0">
                <a:solidFill>
                  <a:srgbClr val="6B007B"/>
                </a:solidFill>
                <a:latin typeface="Calibri" pitchFamily="34" charset="0"/>
                <a:ea typeface="Calibri" pitchFamily="34" charset="-122"/>
                <a:cs typeface="Calibri" pitchFamily="34" charset="-120"/>
              </a:rPr>
              <a:t>Reward loyal customers</a:t>
            </a:r>
            <a:endParaRPr lang="en-US" sz="1600" dirty="0"/>
          </a:p>
        </p:txBody>
      </p:sp>
      <p:sp>
        <p:nvSpPr>
          <p:cNvPr id="13" name="Text 9"/>
          <p:cNvSpPr txBox="1"/>
          <p:nvPr/>
        </p:nvSpPr>
        <p:spPr>
          <a:xfrm>
            <a:off x="1508760" y="3108960"/>
            <a:ext cx="4343400" cy="50292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Tiered loyalty programme for the 3,116 Loyal customers</a:t>
            </a:r>
            <a:endParaRPr lang="en-US" sz="1250" dirty="0"/>
          </a:p>
        </p:txBody>
      </p:sp>
      <p:sp>
        <p:nvSpPr>
          <p:cNvPr id="14" name="Shape 10"/>
          <p:cNvSpPr/>
          <p:nvPr/>
        </p:nvSpPr>
        <p:spPr>
          <a:xfrm>
            <a:off x="548640" y="3794760"/>
            <a:ext cx="5440680" cy="960120"/>
          </a:xfrm>
          <a:prstGeom prst="roundRect">
            <a:avLst>
              <a:gd name="adj" fmla="val 7619"/>
            </a:avLst>
          </a:prstGeom>
          <a:solidFill>
            <a:srgbClr val="F8F0F9"/>
          </a:solidFill>
          <a:ln w="12700">
            <a:solidFill>
              <a:srgbClr val="F8F0F9"/>
            </a:solidFill>
            <a:prstDash val="solid"/>
          </a:ln>
        </p:spPr>
      </p:sp>
      <p:sp>
        <p:nvSpPr>
          <p:cNvPr id="15" name="Shape 11"/>
          <p:cNvSpPr/>
          <p:nvPr/>
        </p:nvSpPr>
        <p:spPr>
          <a:xfrm>
            <a:off x="731520" y="3977640"/>
            <a:ext cx="594360" cy="594360"/>
          </a:xfrm>
          <a:prstGeom prst="ellipse">
            <a:avLst/>
          </a:prstGeom>
          <a:solidFill>
            <a:srgbClr val="893395"/>
          </a:solidFill>
          <a:ln w="12700">
            <a:solidFill>
              <a:srgbClr val="893395"/>
            </a:solidFill>
            <a:prstDash val="solid"/>
          </a:ln>
        </p:spPr>
      </p:sp>
      <p:pic>
        <p:nvPicPr>
          <p:cNvPr id="16" name="Image 2" descr="preencoded.png">    </p:cNvPr>
          <p:cNvPicPr>
            <a:picLocks noChangeAspect="1"/>
          </p:cNvPicPr>
          <p:nvPr/>
        </p:nvPicPr>
        <p:blipFill>
          <a:blip r:embed="rId3"/>
          <a:stretch>
            <a:fillRect/>
          </a:stretch>
        </p:blipFill>
        <p:spPr>
          <a:xfrm>
            <a:off x="886054" y="4132174"/>
            <a:ext cx="285293" cy="285293"/>
          </a:xfrm>
          <a:prstGeom prst="rect">
            <a:avLst/>
          </a:prstGeom>
        </p:spPr>
      </p:pic>
      <p:sp>
        <p:nvSpPr>
          <p:cNvPr id="17" name="Text 12"/>
          <p:cNvSpPr txBox="1"/>
          <p:nvPr/>
        </p:nvSpPr>
        <p:spPr>
          <a:xfrm>
            <a:off x="1508760" y="3886200"/>
            <a:ext cx="4297680" cy="320040"/>
          </a:xfrm>
          <a:prstGeom prst="rect">
            <a:avLst/>
          </a:prstGeom>
          <a:noFill/>
          <a:ln/>
        </p:spPr>
        <p:txBody>
          <a:bodyPr wrap="square" lIns="0" tIns="0" rIns="0" bIns="0" rtlCol="0" anchor="ctr"/>
          <a:lstStyle/>
          <a:p>
            <a:pPr indent="0" marL="0">
              <a:buNone/>
            </a:pPr>
            <a:r>
              <a:rPr lang="en-US" sz="1600" b="1" dirty="0">
                <a:solidFill>
                  <a:srgbClr val="6B007B"/>
                </a:solidFill>
                <a:latin typeface="Calibri" pitchFamily="34" charset="0"/>
                <a:ea typeface="Calibri" pitchFamily="34" charset="-122"/>
                <a:cs typeface="Calibri" pitchFamily="34" charset="-120"/>
              </a:rPr>
              <a:t>Review the discount strategy</a:t>
            </a:r>
            <a:endParaRPr lang="en-US" sz="1600" dirty="0"/>
          </a:p>
        </p:txBody>
      </p:sp>
      <p:sp>
        <p:nvSpPr>
          <p:cNvPr id="18" name="Text 13"/>
          <p:cNvSpPr txBox="1"/>
          <p:nvPr/>
        </p:nvSpPr>
        <p:spPr>
          <a:xfrm>
            <a:off x="1508760" y="4206240"/>
            <a:ext cx="4343400" cy="50292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Check margins on Hat, Sneakers, Coat, Sweater, Pants; premium offers for 839 high spenders</a:t>
            </a:r>
            <a:endParaRPr lang="en-US" sz="1250" dirty="0"/>
          </a:p>
        </p:txBody>
      </p:sp>
      <p:sp>
        <p:nvSpPr>
          <p:cNvPr id="19" name="Shape 14"/>
          <p:cNvSpPr/>
          <p:nvPr/>
        </p:nvSpPr>
        <p:spPr>
          <a:xfrm>
            <a:off x="548640" y="4892040"/>
            <a:ext cx="5440680" cy="960120"/>
          </a:xfrm>
          <a:prstGeom prst="roundRect">
            <a:avLst>
              <a:gd name="adj" fmla="val 7619"/>
            </a:avLst>
          </a:prstGeom>
          <a:solidFill>
            <a:srgbClr val="F8F0F9"/>
          </a:solidFill>
          <a:ln w="12700">
            <a:solidFill>
              <a:srgbClr val="F8F0F9"/>
            </a:solidFill>
            <a:prstDash val="solid"/>
          </a:ln>
        </p:spPr>
      </p:sp>
      <p:sp>
        <p:nvSpPr>
          <p:cNvPr id="20" name="Shape 15"/>
          <p:cNvSpPr/>
          <p:nvPr/>
        </p:nvSpPr>
        <p:spPr>
          <a:xfrm>
            <a:off x="731520" y="5074920"/>
            <a:ext cx="594360" cy="594360"/>
          </a:xfrm>
          <a:prstGeom prst="ellipse">
            <a:avLst/>
          </a:prstGeom>
          <a:solidFill>
            <a:srgbClr val="E669B9"/>
          </a:solidFill>
          <a:ln w="12700">
            <a:solidFill>
              <a:srgbClr val="E669B9"/>
            </a:solidFill>
            <a:prstDash val="solid"/>
          </a:ln>
        </p:spPr>
      </p:sp>
      <p:pic>
        <p:nvPicPr>
          <p:cNvPr id="21" name="Image 3" descr="preencoded.png">    </p:cNvPr>
          <p:cNvPicPr>
            <a:picLocks noChangeAspect="1"/>
          </p:cNvPicPr>
          <p:nvPr/>
        </p:nvPicPr>
        <p:blipFill>
          <a:blip r:embed="rId4"/>
          <a:stretch>
            <a:fillRect/>
          </a:stretch>
        </p:blipFill>
        <p:spPr>
          <a:xfrm>
            <a:off x="886054" y="5229454"/>
            <a:ext cx="285293" cy="285293"/>
          </a:xfrm>
          <a:prstGeom prst="rect">
            <a:avLst/>
          </a:prstGeom>
        </p:spPr>
      </p:pic>
      <p:sp>
        <p:nvSpPr>
          <p:cNvPr id="22" name="Text 16"/>
          <p:cNvSpPr txBox="1"/>
          <p:nvPr/>
        </p:nvSpPr>
        <p:spPr>
          <a:xfrm>
            <a:off x="1508760" y="4983480"/>
            <a:ext cx="4297680" cy="320040"/>
          </a:xfrm>
          <a:prstGeom prst="rect">
            <a:avLst/>
          </a:prstGeom>
          <a:noFill/>
          <a:ln/>
        </p:spPr>
        <p:txBody>
          <a:bodyPr wrap="square" lIns="0" tIns="0" rIns="0" bIns="0" rtlCol="0" anchor="ctr"/>
          <a:lstStyle/>
          <a:p>
            <a:pPr indent="0" marL="0">
              <a:buNone/>
            </a:pPr>
            <a:r>
              <a:rPr lang="en-US" sz="1600" b="1" dirty="0">
                <a:solidFill>
                  <a:srgbClr val="6B007B"/>
                </a:solidFill>
                <a:latin typeface="Calibri" pitchFamily="34" charset="0"/>
                <a:ea typeface="Calibri" pitchFamily="34" charset="-122"/>
                <a:cs typeface="Calibri" pitchFamily="34" charset="-120"/>
              </a:rPr>
              <a:t>Grow average order value</a:t>
            </a:r>
            <a:endParaRPr lang="en-US" sz="1600" dirty="0"/>
          </a:p>
        </p:txBody>
      </p:sp>
      <p:sp>
        <p:nvSpPr>
          <p:cNvPr id="23" name="Text 17"/>
          <p:cNvSpPr txBox="1"/>
          <p:nvPr/>
        </p:nvSpPr>
        <p:spPr>
          <a:xfrm>
            <a:off x="1508760" y="5303520"/>
            <a:ext cx="4343400" cy="50292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Bundles, cross-selling and free-shipping thresholds to increase basket size</a:t>
            </a:r>
            <a:endParaRPr lang="en-US" sz="1250" dirty="0"/>
          </a:p>
        </p:txBody>
      </p:sp>
      <p:sp>
        <p:nvSpPr>
          <p:cNvPr id="24" name="Shape 18"/>
          <p:cNvSpPr/>
          <p:nvPr/>
        </p:nvSpPr>
        <p:spPr>
          <a:xfrm>
            <a:off x="6153912" y="1600200"/>
            <a:ext cx="5440680" cy="960120"/>
          </a:xfrm>
          <a:prstGeom prst="roundRect">
            <a:avLst>
              <a:gd name="adj" fmla="val 7619"/>
            </a:avLst>
          </a:prstGeom>
          <a:solidFill>
            <a:srgbClr val="F8F0F9"/>
          </a:solidFill>
          <a:ln w="12700">
            <a:solidFill>
              <a:srgbClr val="F8F0F9"/>
            </a:solidFill>
            <a:prstDash val="solid"/>
          </a:ln>
        </p:spPr>
      </p:sp>
      <p:sp>
        <p:nvSpPr>
          <p:cNvPr id="25" name="Shape 19"/>
          <p:cNvSpPr/>
          <p:nvPr/>
        </p:nvSpPr>
        <p:spPr>
          <a:xfrm>
            <a:off x="6336792" y="1783080"/>
            <a:ext cx="594360" cy="594360"/>
          </a:xfrm>
          <a:prstGeom prst="ellipse">
            <a:avLst/>
          </a:prstGeom>
          <a:solidFill>
            <a:srgbClr val="E669B9"/>
          </a:solidFill>
          <a:ln w="12700">
            <a:solidFill>
              <a:srgbClr val="E669B9"/>
            </a:solidFill>
            <a:prstDash val="solid"/>
          </a:ln>
        </p:spPr>
      </p:sp>
      <p:pic>
        <p:nvPicPr>
          <p:cNvPr id="26" name="Image 4" descr="preencoded.png">    </p:cNvPr>
          <p:cNvPicPr>
            <a:picLocks noChangeAspect="1"/>
          </p:cNvPicPr>
          <p:nvPr/>
        </p:nvPicPr>
        <p:blipFill>
          <a:blip r:embed="rId5"/>
          <a:stretch>
            <a:fillRect/>
          </a:stretch>
        </p:blipFill>
        <p:spPr>
          <a:xfrm>
            <a:off x="6491326" y="1937614"/>
            <a:ext cx="285293" cy="285293"/>
          </a:xfrm>
          <a:prstGeom prst="rect">
            <a:avLst/>
          </a:prstGeom>
        </p:spPr>
      </p:pic>
      <p:sp>
        <p:nvSpPr>
          <p:cNvPr id="27" name="Text 20"/>
          <p:cNvSpPr txBox="1"/>
          <p:nvPr/>
        </p:nvSpPr>
        <p:spPr>
          <a:xfrm>
            <a:off x="7114032" y="1691640"/>
            <a:ext cx="4297680" cy="320040"/>
          </a:xfrm>
          <a:prstGeom prst="rect">
            <a:avLst/>
          </a:prstGeom>
          <a:noFill/>
          <a:ln/>
        </p:spPr>
        <p:txBody>
          <a:bodyPr wrap="square" lIns="0" tIns="0" rIns="0" bIns="0" rtlCol="0" anchor="ctr"/>
          <a:lstStyle/>
          <a:p>
            <a:pPr indent="0" marL="0">
              <a:buNone/>
            </a:pPr>
            <a:r>
              <a:rPr lang="en-US" sz="1600" b="1" dirty="0">
                <a:solidFill>
                  <a:srgbClr val="6B007B"/>
                </a:solidFill>
                <a:latin typeface="Calibri" pitchFamily="34" charset="0"/>
                <a:ea typeface="Calibri" pitchFamily="34" charset="-122"/>
                <a:cs typeface="Calibri" pitchFamily="34" charset="-120"/>
              </a:rPr>
              <a:t>Strengthen core categories</a:t>
            </a:r>
            <a:endParaRPr lang="en-US" sz="1600" dirty="0"/>
          </a:p>
        </p:txBody>
      </p:sp>
      <p:sp>
        <p:nvSpPr>
          <p:cNvPr id="28" name="Text 21"/>
          <p:cNvSpPr txBox="1"/>
          <p:nvPr/>
        </p:nvSpPr>
        <p:spPr>
          <a:xfrm>
            <a:off x="7114032" y="2011680"/>
            <a:ext cx="4343400" cy="50292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Keep Clothing and Accessories prominent; bundle Footwear and Outerwear with them</a:t>
            </a:r>
            <a:endParaRPr lang="en-US" sz="1250" dirty="0"/>
          </a:p>
        </p:txBody>
      </p:sp>
      <p:sp>
        <p:nvSpPr>
          <p:cNvPr id="29" name="Shape 22"/>
          <p:cNvSpPr/>
          <p:nvPr/>
        </p:nvSpPr>
        <p:spPr>
          <a:xfrm>
            <a:off x="6153912" y="2697480"/>
            <a:ext cx="5440680" cy="960120"/>
          </a:xfrm>
          <a:prstGeom prst="roundRect">
            <a:avLst>
              <a:gd name="adj" fmla="val 7619"/>
            </a:avLst>
          </a:prstGeom>
          <a:solidFill>
            <a:srgbClr val="F8F0F9"/>
          </a:solidFill>
          <a:ln w="12700">
            <a:solidFill>
              <a:srgbClr val="F8F0F9"/>
            </a:solidFill>
            <a:prstDash val="solid"/>
          </a:ln>
        </p:spPr>
      </p:sp>
      <p:sp>
        <p:nvSpPr>
          <p:cNvPr id="30" name="Shape 23"/>
          <p:cNvSpPr/>
          <p:nvPr/>
        </p:nvSpPr>
        <p:spPr>
          <a:xfrm>
            <a:off x="6336792" y="2880360"/>
            <a:ext cx="594360" cy="594360"/>
          </a:xfrm>
          <a:prstGeom prst="ellipse">
            <a:avLst/>
          </a:prstGeom>
          <a:solidFill>
            <a:srgbClr val="E669B9"/>
          </a:solidFill>
          <a:ln w="12700">
            <a:solidFill>
              <a:srgbClr val="E669B9"/>
            </a:solidFill>
            <a:prstDash val="solid"/>
          </a:ln>
        </p:spPr>
      </p:sp>
      <p:pic>
        <p:nvPicPr>
          <p:cNvPr id="31" name="Image 5" descr="preencoded.png">    </p:cNvPr>
          <p:cNvPicPr>
            <a:picLocks noChangeAspect="1"/>
          </p:cNvPicPr>
          <p:nvPr/>
        </p:nvPicPr>
        <p:blipFill>
          <a:blip r:embed="rId6"/>
          <a:stretch>
            <a:fillRect/>
          </a:stretch>
        </p:blipFill>
        <p:spPr>
          <a:xfrm>
            <a:off x="6491326" y="3034894"/>
            <a:ext cx="285293" cy="285293"/>
          </a:xfrm>
          <a:prstGeom prst="rect">
            <a:avLst/>
          </a:prstGeom>
        </p:spPr>
      </p:pic>
      <p:sp>
        <p:nvSpPr>
          <p:cNvPr id="32" name="Text 24"/>
          <p:cNvSpPr txBox="1"/>
          <p:nvPr/>
        </p:nvSpPr>
        <p:spPr>
          <a:xfrm>
            <a:off x="7114032" y="2788920"/>
            <a:ext cx="4297680" cy="320040"/>
          </a:xfrm>
          <a:prstGeom prst="rect">
            <a:avLst/>
          </a:prstGeom>
          <a:noFill/>
          <a:ln/>
        </p:spPr>
        <p:txBody>
          <a:bodyPr wrap="square" lIns="0" tIns="0" rIns="0" bIns="0" rtlCol="0" anchor="ctr"/>
          <a:lstStyle/>
          <a:p>
            <a:pPr indent="0" marL="0">
              <a:buNone/>
            </a:pPr>
            <a:r>
              <a:rPr lang="en-US" sz="1600" b="1" dirty="0">
                <a:solidFill>
                  <a:srgbClr val="6B007B"/>
                </a:solidFill>
                <a:latin typeface="Calibri" pitchFamily="34" charset="0"/>
                <a:ea typeface="Calibri" pitchFamily="34" charset="-122"/>
                <a:cs typeface="Calibri" pitchFamily="34" charset="-120"/>
              </a:rPr>
              <a:t>Improve product satisfaction</a:t>
            </a:r>
            <a:endParaRPr lang="en-US" sz="1600" dirty="0"/>
          </a:p>
        </p:txBody>
      </p:sp>
      <p:sp>
        <p:nvSpPr>
          <p:cNvPr id="33" name="Text 25"/>
          <p:cNvSpPr txBox="1"/>
          <p:nvPr/>
        </p:nvSpPr>
        <p:spPr>
          <a:xfrm>
            <a:off x="7114032" y="3108960"/>
            <a:ext cx="4343400" cy="50292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Act on feedback for Shirt, Jeans, Blouse; feature Gloves, Sandals, Boots</a:t>
            </a:r>
            <a:endParaRPr lang="en-US" sz="1250" dirty="0"/>
          </a:p>
        </p:txBody>
      </p:sp>
      <p:sp>
        <p:nvSpPr>
          <p:cNvPr id="34" name="Shape 26"/>
          <p:cNvSpPr/>
          <p:nvPr/>
        </p:nvSpPr>
        <p:spPr>
          <a:xfrm>
            <a:off x="6153912" y="3794760"/>
            <a:ext cx="5440680" cy="960120"/>
          </a:xfrm>
          <a:prstGeom prst="roundRect">
            <a:avLst>
              <a:gd name="adj" fmla="val 7619"/>
            </a:avLst>
          </a:prstGeom>
          <a:solidFill>
            <a:srgbClr val="F8F0F9"/>
          </a:solidFill>
          <a:ln w="12700">
            <a:solidFill>
              <a:srgbClr val="F8F0F9"/>
            </a:solidFill>
            <a:prstDash val="solid"/>
          </a:ln>
        </p:spPr>
      </p:sp>
      <p:sp>
        <p:nvSpPr>
          <p:cNvPr id="35" name="Shape 27"/>
          <p:cNvSpPr/>
          <p:nvPr/>
        </p:nvSpPr>
        <p:spPr>
          <a:xfrm>
            <a:off x="6336792" y="3977640"/>
            <a:ext cx="594360" cy="594360"/>
          </a:xfrm>
          <a:prstGeom prst="ellipse">
            <a:avLst/>
          </a:prstGeom>
          <a:solidFill>
            <a:srgbClr val="E669B9"/>
          </a:solidFill>
          <a:ln w="12700">
            <a:solidFill>
              <a:srgbClr val="E669B9"/>
            </a:solidFill>
            <a:prstDash val="solid"/>
          </a:ln>
        </p:spPr>
      </p:sp>
      <p:pic>
        <p:nvPicPr>
          <p:cNvPr id="36" name="Image 6" descr="preencoded.png">    </p:cNvPr>
          <p:cNvPicPr>
            <a:picLocks noChangeAspect="1"/>
          </p:cNvPicPr>
          <p:nvPr/>
        </p:nvPicPr>
        <p:blipFill>
          <a:blip r:embed="rId7"/>
          <a:stretch>
            <a:fillRect/>
          </a:stretch>
        </p:blipFill>
        <p:spPr>
          <a:xfrm>
            <a:off x="6491326" y="4132174"/>
            <a:ext cx="285293" cy="285293"/>
          </a:xfrm>
          <a:prstGeom prst="rect">
            <a:avLst/>
          </a:prstGeom>
        </p:spPr>
      </p:pic>
      <p:sp>
        <p:nvSpPr>
          <p:cNvPr id="37" name="Text 28"/>
          <p:cNvSpPr txBox="1"/>
          <p:nvPr/>
        </p:nvSpPr>
        <p:spPr>
          <a:xfrm>
            <a:off x="7114032" y="3886200"/>
            <a:ext cx="4297680" cy="320040"/>
          </a:xfrm>
          <a:prstGeom prst="rect">
            <a:avLst/>
          </a:prstGeom>
          <a:noFill/>
          <a:ln/>
        </p:spPr>
        <p:txBody>
          <a:bodyPr wrap="square" lIns="0" tIns="0" rIns="0" bIns="0" rtlCol="0" anchor="ctr"/>
          <a:lstStyle/>
          <a:p>
            <a:pPr indent="0" marL="0">
              <a:buNone/>
            </a:pPr>
            <a:r>
              <a:rPr lang="en-US" sz="1600" b="1" dirty="0">
                <a:solidFill>
                  <a:srgbClr val="6B007B"/>
                </a:solidFill>
                <a:latin typeface="Calibri" pitchFamily="34" charset="0"/>
                <a:ea typeface="Calibri" pitchFamily="34" charset="-122"/>
                <a:cs typeface="Calibri" pitchFamily="34" charset="-120"/>
              </a:rPr>
              <a:t>Target campaigns by age</a:t>
            </a:r>
            <a:endParaRPr lang="en-US" sz="1600" dirty="0"/>
          </a:p>
        </p:txBody>
      </p:sp>
      <p:sp>
        <p:nvSpPr>
          <p:cNvPr id="38" name="Text 29"/>
          <p:cNvSpPr txBox="1"/>
          <p:nvPr/>
        </p:nvSpPr>
        <p:spPr>
          <a:xfrm>
            <a:off x="7114032" y="4206240"/>
            <a:ext cx="4343400" cy="502920"/>
          </a:xfrm>
          <a:prstGeom prst="rect">
            <a:avLst/>
          </a:prstGeom>
          <a:noFill/>
          <a:ln/>
        </p:spPr>
        <p:txBody>
          <a:bodyPr wrap="square" lIns="0" tIns="0" rIns="0" bIns="0" rtlCol="0" anchor="t"/>
          <a:lstStyle/>
          <a:p>
            <a:pPr indent="0" marL="0">
              <a:buNone/>
            </a:pPr>
            <a:r>
              <a:rPr lang="en-US" sz="1250" dirty="0">
                <a:solidFill>
                  <a:srgbClr val="2B2B2B"/>
                </a:solidFill>
                <a:latin typeface="Calibri" pitchFamily="34" charset="0"/>
                <a:ea typeface="Calibri" pitchFamily="34" charset="-122"/>
                <a:cs typeface="Calibri" pitchFamily="34" charset="-120"/>
              </a:rPr>
              <a:t>Tailor campaigns for Young Adults while keeping messaging broad</a:t>
            </a:r>
            <a:endParaRPr lang="en-US" sz="1250" dirty="0"/>
          </a:p>
        </p:txBody>
      </p:sp>
      <p:sp>
        <p:nvSpPr>
          <p:cNvPr id="39" name="Shape 30"/>
          <p:cNvSpPr/>
          <p:nvPr/>
        </p:nvSpPr>
        <p:spPr>
          <a:xfrm>
            <a:off x="6153912" y="4892040"/>
            <a:ext cx="5440680" cy="960120"/>
          </a:xfrm>
          <a:prstGeom prst="roundRect">
            <a:avLst>
              <a:gd name="adj" fmla="val 7619"/>
            </a:avLst>
          </a:prstGeom>
          <a:solidFill>
            <a:srgbClr val="3D0B4A"/>
          </a:solidFill>
          <a:ln w="12700">
            <a:solidFill>
              <a:srgbClr val="3D0B4A"/>
            </a:solidFill>
            <a:prstDash val="solid"/>
          </a:ln>
        </p:spPr>
      </p:sp>
      <p:sp>
        <p:nvSpPr>
          <p:cNvPr id="40" name="Text 31"/>
          <p:cNvSpPr txBox="1"/>
          <p:nvPr/>
        </p:nvSpPr>
        <p:spPr>
          <a:xfrm>
            <a:off x="6428232" y="4892040"/>
            <a:ext cx="4937760" cy="960120"/>
          </a:xfrm>
          <a:prstGeom prst="rect">
            <a:avLst/>
          </a:prstGeom>
          <a:noFill/>
          <a:ln/>
        </p:spPr>
        <p:txBody>
          <a:bodyPr wrap="square" lIns="0" tIns="0" rIns="0" bIns="0" rtlCol="0" anchor="ctr"/>
          <a:lstStyle/>
          <a:p>
            <a:pPr indent="0" marL="0">
              <a:buNone/>
            </a:pPr>
            <a:r>
              <a:rPr lang="en-US" sz="1500" b="1" dirty="0">
                <a:solidFill>
                  <a:srgbClr val="E669B9"/>
                </a:solidFill>
                <a:latin typeface="Calibri" pitchFamily="34" charset="0"/>
                <a:ea typeface="Calibri" pitchFamily="34" charset="-122"/>
                <a:cs typeface="Calibri" pitchFamily="34" charset="-120"/>
              </a:rPr>
              <a:t>Start with the first three: </a:t>
            </a:r>
            <a:pPr indent="0" marL="0">
              <a:buNone/>
            </a:pPr>
            <a:r>
              <a:rPr lang="en-US" sz="1500" dirty="0">
                <a:solidFill>
                  <a:srgbClr val="FFFFFF"/>
                </a:solidFill>
                <a:latin typeface="Calibri" pitchFamily="34" charset="0"/>
                <a:ea typeface="Calibri" pitchFamily="34" charset="-122"/>
                <a:cs typeface="Calibri" pitchFamily="34" charset="-120"/>
              </a:rPr>
              <a:t>they target the largest groups of customers and revenue.</a:t>
            </a:r>
            <a:endParaRPr lang="en-US" sz="1500" dirty="0"/>
          </a:p>
        </p:txBody>
      </p:sp>
      <p:sp>
        <p:nvSpPr>
          <p:cNvPr id="41" name="Text 32"/>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Customer Shopping Behaviour Analysis</a:t>
            </a:r>
            <a:endParaRPr lang="en-US" sz="1000" dirty="0"/>
          </a:p>
        </p:txBody>
      </p:sp>
      <p:sp>
        <p:nvSpPr>
          <p:cNvPr id="42" name="Text 33"/>
          <p:cNvSpPr txBox="1"/>
          <p:nvPr/>
        </p:nvSpPr>
        <p:spPr>
          <a:xfrm>
            <a:off x="10728655" y="6419088"/>
            <a:ext cx="9144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E669B9"/>
                </a:solidFill>
                <a:latin typeface="Calibri" pitchFamily="34" charset="0"/>
                <a:ea typeface="Calibri" pitchFamily="34" charset="-122"/>
                <a:cs typeface="Calibri" pitchFamily="34" charset="-120"/>
              </a:rPr>
              <a:t>KEEP IN MIND</a:t>
            </a:r>
            <a:endParaRPr lang="en-US" sz="12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3000" b="1" dirty="0">
                <a:solidFill>
                  <a:srgbClr val="6B007B"/>
                </a:solidFill>
                <a:latin typeface="Calibri" pitchFamily="34" charset="0"/>
                <a:ea typeface="Calibri" pitchFamily="34" charset="-122"/>
                <a:cs typeface="Calibri" pitchFamily="34" charset="-120"/>
              </a:rPr>
              <a:t>Limitations and next steps</a:t>
            </a:r>
            <a:endParaRPr lang="en-US" sz="3000" dirty="0"/>
          </a:p>
        </p:txBody>
      </p:sp>
      <p:sp>
        <p:nvSpPr>
          <p:cNvPr id="4" name="Shape 2"/>
          <p:cNvSpPr/>
          <p:nvPr/>
        </p:nvSpPr>
        <p:spPr>
          <a:xfrm>
            <a:off x="548640" y="1600200"/>
            <a:ext cx="548640" cy="548640"/>
          </a:xfrm>
          <a:prstGeom prst="ellipse">
            <a:avLst/>
          </a:prstGeom>
          <a:solidFill>
            <a:srgbClr val="893395"/>
          </a:solidFill>
          <a:ln w="12700">
            <a:solidFill>
              <a:srgbClr val="893395"/>
            </a:solidFill>
            <a:prstDash val="solid"/>
          </a:ln>
        </p:spPr>
      </p:sp>
      <p:pic>
        <p:nvPicPr>
          <p:cNvPr id="5" name="Image 0" descr="preencoded.png">    </p:cNvPr>
          <p:cNvPicPr>
            <a:picLocks noChangeAspect="1"/>
          </p:cNvPicPr>
          <p:nvPr/>
        </p:nvPicPr>
        <p:blipFill>
          <a:blip r:embed="rId1"/>
          <a:stretch>
            <a:fillRect/>
          </a:stretch>
        </p:blipFill>
        <p:spPr>
          <a:xfrm>
            <a:off x="691286" y="1742846"/>
            <a:ext cx="263347" cy="263347"/>
          </a:xfrm>
          <a:prstGeom prst="rect">
            <a:avLst/>
          </a:prstGeom>
        </p:spPr>
      </p:pic>
      <p:sp>
        <p:nvSpPr>
          <p:cNvPr id="6" name="Text 3"/>
          <p:cNvSpPr txBox="1"/>
          <p:nvPr/>
        </p:nvSpPr>
        <p:spPr>
          <a:xfrm>
            <a:off x="1280160" y="1645920"/>
            <a:ext cx="3657600" cy="457200"/>
          </a:xfrm>
          <a:prstGeom prst="rect">
            <a:avLst/>
          </a:prstGeom>
          <a:noFill/>
          <a:ln/>
        </p:spPr>
        <p:txBody>
          <a:bodyPr wrap="square" lIns="0" tIns="0" rIns="0" bIns="0" rtlCol="0" anchor="ctr"/>
          <a:lstStyle/>
          <a:p>
            <a:pPr indent="0" marL="0">
              <a:buNone/>
            </a:pPr>
            <a:r>
              <a:rPr lang="en-US" sz="2200" b="1" dirty="0">
                <a:solidFill>
                  <a:srgbClr val="6B007B"/>
                </a:solidFill>
                <a:latin typeface="Calibri" pitchFamily="34" charset="0"/>
                <a:ea typeface="Calibri" pitchFamily="34" charset="-122"/>
                <a:cs typeface="Calibri" pitchFamily="34" charset="-120"/>
              </a:rPr>
              <a:t>Limitations</a:t>
            </a:r>
            <a:endParaRPr lang="en-US" sz="2200" dirty="0"/>
          </a:p>
        </p:txBody>
      </p:sp>
      <p:sp>
        <p:nvSpPr>
          <p:cNvPr id="7" name="Shape 4"/>
          <p:cNvSpPr/>
          <p:nvPr/>
        </p:nvSpPr>
        <p:spPr>
          <a:xfrm>
            <a:off x="548640" y="2377440"/>
            <a:ext cx="5440680" cy="804672"/>
          </a:xfrm>
          <a:prstGeom prst="roundRect">
            <a:avLst>
              <a:gd name="adj" fmla="val 9091"/>
            </a:avLst>
          </a:prstGeom>
          <a:solidFill>
            <a:srgbClr val="F8F0F9"/>
          </a:solidFill>
          <a:ln w="12700">
            <a:solidFill>
              <a:srgbClr val="F8F0F9"/>
            </a:solidFill>
            <a:prstDash val="solid"/>
          </a:ln>
        </p:spPr>
      </p:sp>
      <p:sp>
        <p:nvSpPr>
          <p:cNvPr id="8" name="Text 5"/>
          <p:cNvSpPr txBox="1"/>
          <p:nvPr/>
        </p:nvSpPr>
        <p:spPr>
          <a:xfrm>
            <a:off x="777240" y="2450592"/>
            <a:ext cx="5029200" cy="301752"/>
          </a:xfrm>
          <a:prstGeom prst="rect">
            <a:avLst/>
          </a:prstGeom>
          <a:noFill/>
          <a:ln/>
        </p:spPr>
        <p:txBody>
          <a:bodyPr wrap="square" lIns="0" tIns="0" rIns="0" bIns="0" rtlCol="0" anchor="ctr"/>
          <a:lstStyle/>
          <a:p>
            <a:pPr indent="0" marL="0">
              <a:buNone/>
            </a:pPr>
            <a:r>
              <a:rPr lang="en-US" sz="1500" b="1" dirty="0">
                <a:solidFill>
                  <a:srgbClr val="893395"/>
                </a:solidFill>
                <a:latin typeface="Calibri" pitchFamily="34" charset="0"/>
                <a:ea typeface="Calibri" pitchFamily="34" charset="-122"/>
                <a:cs typeface="Calibri" pitchFamily="34" charset="-120"/>
              </a:rPr>
              <a:t>Snapshot data</a:t>
            </a:r>
            <a:endParaRPr lang="en-US" sz="1500" dirty="0"/>
          </a:p>
        </p:txBody>
      </p:sp>
      <p:sp>
        <p:nvSpPr>
          <p:cNvPr id="9" name="Text 6"/>
          <p:cNvSpPr txBox="1"/>
          <p:nvPr/>
        </p:nvSpPr>
        <p:spPr>
          <a:xfrm>
            <a:off x="777240" y="2779776"/>
            <a:ext cx="5029200" cy="3200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One latest purchase per customer and no dates, so no trends over time</a:t>
            </a:r>
            <a:endParaRPr lang="en-US" sz="1300" dirty="0"/>
          </a:p>
        </p:txBody>
      </p:sp>
      <p:sp>
        <p:nvSpPr>
          <p:cNvPr id="10" name="Shape 7"/>
          <p:cNvSpPr/>
          <p:nvPr/>
        </p:nvSpPr>
        <p:spPr>
          <a:xfrm>
            <a:off x="548640" y="3310128"/>
            <a:ext cx="5440680" cy="804672"/>
          </a:xfrm>
          <a:prstGeom prst="roundRect">
            <a:avLst>
              <a:gd name="adj" fmla="val 9091"/>
            </a:avLst>
          </a:prstGeom>
          <a:solidFill>
            <a:srgbClr val="F8F0F9"/>
          </a:solidFill>
          <a:ln w="12700">
            <a:solidFill>
              <a:srgbClr val="F8F0F9"/>
            </a:solidFill>
            <a:prstDash val="solid"/>
          </a:ln>
        </p:spPr>
      </p:sp>
      <p:sp>
        <p:nvSpPr>
          <p:cNvPr id="11" name="Text 8"/>
          <p:cNvSpPr txBox="1"/>
          <p:nvPr/>
        </p:nvSpPr>
        <p:spPr>
          <a:xfrm>
            <a:off x="777240" y="3383280"/>
            <a:ext cx="5029200" cy="301752"/>
          </a:xfrm>
          <a:prstGeom prst="rect">
            <a:avLst/>
          </a:prstGeom>
          <a:noFill/>
          <a:ln/>
        </p:spPr>
        <p:txBody>
          <a:bodyPr wrap="square" lIns="0" tIns="0" rIns="0" bIns="0" rtlCol="0" anchor="ctr"/>
          <a:lstStyle/>
          <a:p>
            <a:pPr indent="0" marL="0">
              <a:buNone/>
            </a:pPr>
            <a:r>
              <a:rPr lang="en-US" sz="1500" b="1" dirty="0">
                <a:solidFill>
                  <a:srgbClr val="893395"/>
                </a:solidFill>
                <a:latin typeface="Calibri" pitchFamily="34" charset="0"/>
                <a:ea typeface="Calibri" pitchFamily="34" charset="-122"/>
                <a:cs typeface="Calibri" pitchFamily="34" charset="-120"/>
              </a:rPr>
              <a:t>Dataset quirk</a:t>
            </a:r>
            <a:endParaRPr lang="en-US" sz="1500" dirty="0"/>
          </a:p>
        </p:txBody>
      </p:sp>
      <p:sp>
        <p:nvSpPr>
          <p:cNvPr id="12" name="Text 9"/>
          <p:cNvSpPr txBox="1"/>
          <p:nvPr/>
        </p:nvSpPr>
        <p:spPr>
          <a:xfrm>
            <a:off x="777240" y="3712464"/>
            <a:ext cx="5029200" cy="3200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No female customer subscribed or used a discount, likely a sample artefact</a:t>
            </a:r>
            <a:endParaRPr lang="en-US" sz="1300" dirty="0"/>
          </a:p>
        </p:txBody>
      </p:sp>
      <p:sp>
        <p:nvSpPr>
          <p:cNvPr id="13" name="Shape 10"/>
          <p:cNvSpPr/>
          <p:nvPr/>
        </p:nvSpPr>
        <p:spPr>
          <a:xfrm>
            <a:off x="548640" y="4242816"/>
            <a:ext cx="5440680" cy="804672"/>
          </a:xfrm>
          <a:prstGeom prst="roundRect">
            <a:avLst>
              <a:gd name="adj" fmla="val 9091"/>
            </a:avLst>
          </a:prstGeom>
          <a:solidFill>
            <a:srgbClr val="F8F0F9"/>
          </a:solidFill>
          <a:ln w="12700">
            <a:solidFill>
              <a:srgbClr val="F8F0F9"/>
            </a:solidFill>
            <a:prstDash val="solid"/>
          </a:ln>
        </p:spPr>
      </p:sp>
      <p:sp>
        <p:nvSpPr>
          <p:cNvPr id="14" name="Text 11"/>
          <p:cNvSpPr txBox="1"/>
          <p:nvPr/>
        </p:nvSpPr>
        <p:spPr>
          <a:xfrm>
            <a:off x="777240" y="4315968"/>
            <a:ext cx="5029200" cy="301752"/>
          </a:xfrm>
          <a:prstGeom prst="rect">
            <a:avLst/>
          </a:prstGeom>
          <a:noFill/>
          <a:ln/>
        </p:spPr>
        <p:txBody>
          <a:bodyPr wrap="square" lIns="0" tIns="0" rIns="0" bIns="0" rtlCol="0" anchor="ctr"/>
          <a:lstStyle/>
          <a:p>
            <a:pPr indent="0" marL="0">
              <a:buNone/>
            </a:pPr>
            <a:r>
              <a:rPr lang="en-US" sz="1500" b="1" dirty="0">
                <a:solidFill>
                  <a:srgbClr val="893395"/>
                </a:solidFill>
                <a:latin typeface="Calibri" pitchFamily="34" charset="0"/>
                <a:ea typeface="Calibri" pitchFamily="34" charset="-122"/>
                <a:cs typeface="Calibri" pitchFamily="34" charset="-120"/>
              </a:rPr>
              <a:t>Even distributions</a:t>
            </a:r>
            <a:endParaRPr lang="en-US" sz="1500" dirty="0"/>
          </a:p>
        </p:txBody>
      </p:sp>
      <p:sp>
        <p:nvSpPr>
          <p:cNvPr id="15" name="Text 12"/>
          <p:cNvSpPr txBox="1"/>
          <p:nvPr/>
        </p:nvSpPr>
        <p:spPr>
          <a:xfrm>
            <a:off x="777240" y="4645152"/>
            <a:ext cx="5029200" cy="3200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Season, payment method and size are spread almost evenly</a:t>
            </a:r>
            <a:endParaRPr lang="en-US" sz="1300" dirty="0"/>
          </a:p>
        </p:txBody>
      </p:sp>
      <p:sp>
        <p:nvSpPr>
          <p:cNvPr id="16" name="Shape 13"/>
          <p:cNvSpPr/>
          <p:nvPr/>
        </p:nvSpPr>
        <p:spPr>
          <a:xfrm>
            <a:off x="548640" y="5175504"/>
            <a:ext cx="5440680" cy="804672"/>
          </a:xfrm>
          <a:prstGeom prst="roundRect">
            <a:avLst>
              <a:gd name="adj" fmla="val 9091"/>
            </a:avLst>
          </a:prstGeom>
          <a:solidFill>
            <a:srgbClr val="F8F0F9"/>
          </a:solidFill>
          <a:ln w="12700">
            <a:solidFill>
              <a:srgbClr val="F8F0F9"/>
            </a:solidFill>
            <a:prstDash val="solid"/>
          </a:ln>
        </p:spPr>
      </p:sp>
      <p:sp>
        <p:nvSpPr>
          <p:cNvPr id="17" name="Text 14"/>
          <p:cNvSpPr txBox="1"/>
          <p:nvPr/>
        </p:nvSpPr>
        <p:spPr>
          <a:xfrm>
            <a:off x="777240" y="5248656"/>
            <a:ext cx="5029200" cy="301752"/>
          </a:xfrm>
          <a:prstGeom prst="rect">
            <a:avLst/>
          </a:prstGeom>
          <a:noFill/>
          <a:ln/>
        </p:spPr>
        <p:txBody>
          <a:bodyPr wrap="square" lIns="0" tIns="0" rIns="0" bIns="0" rtlCol="0" anchor="ctr"/>
          <a:lstStyle/>
          <a:p>
            <a:pPr indent="0" marL="0">
              <a:buNone/>
            </a:pPr>
            <a:r>
              <a:rPr lang="en-US" sz="1500" b="1" dirty="0">
                <a:solidFill>
                  <a:srgbClr val="893395"/>
                </a:solidFill>
                <a:latin typeface="Calibri" pitchFamily="34" charset="0"/>
                <a:ea typeface="Calibri" pitchFamily="34" charset="-122"/>
                <a:cs typeface="Calibri" pitchFamily="34" charset="-120"/>
              </a:rPr>
              <a:t>Correlation only</a:t>
            </a:r>
            <a:endParaRPr lang="en-US" sz="1500" dirty="0"/>
          </a:p>
        </p:txBody>
      </p:sp>
      <p:sp>
        <p:nvSpPr>
          <p:cNvPr id="18" name="Text 15"/>
          <p:cNvSpPr txBox="1"/>
          <p:nvPr/>
        </p:nvSpPr>
        <p:spPr>
          <a:xfrm>
            <a:off x="777240" y="5577840"/>
            <a:ext cx="5029200" cy="3200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Differences such as higher spend with Express do not prove cause</a:t>
            </a:r>
            <a:endParaRPr lang="en-US" sz="1300" dirty="0"/>
          </a:p>
        </p:txBody>
      </p:sp>
      <p:sp>
        <p:nvSpPr>
          <p:cNvPr id="19" name="Shape 16"/>
          <p:cNvSpPr/>
          <p:nvPr/>
        </p:nvSpPr>
        <p:spPr>
          <a:xfrm>
            <a:off x="6153912" y="1600200"/>
            <a:ext cx="548640" cy="548640"/>
          </a:xfrm>
          <a:prstGeom prst="ellipse">
            <a:avLst/>
          </a:prstGeom>
          <a:solidFill>
            <a:srgbClr val="E669B9"/>
          </a:solidFill>
          <a:ln w="12700">
            <a:solidFill>
              <a:srgbClr val="E669B9"/>
            </a:solidFill>
            <a:prstDash val="solid"/>
          </a:ln>
        </p:spPr>
      </p:sp>
      <p:pic>
        <p:nvPicPr>
          <p:cNvPr id="20" name="Image 1" descr="preencoded.png">    </p:cNvPr>
          <p:cNvPicPr>
            <a:picLocks noChangeAspect="1"/>
          </p:cNvPicPr>
          <p:nvPr/>
        </p:nvPicPr>
        <p:blipFill>
          <a:blip r:embed="rId2"/>
          <a:stretch>
            <a:fillRect/>
          </a:stretch>
        </p:blipFill>
        <p:spPr>
          <a:xfrm>
            <a:off x="6296558" y="1742846"/>
            <a:ext cx="263347" cy="263347"/>
          </a:xfrm>
          <a:prstGeom prst="rect">
            <a:avLst/>
          </a:prstGeom>
        </p:spPr>
      </p:pic>
      <p:sp>
        <p:nvSpPr>
          <p:cNvPr id="21" name="Text 17"/>
          <p:cNvSpPr txBox="1"/>
          <p:nvPr/>
        </p:nvSpPr>
        <p:spPr>
          <a:xfrm>
            <a:off x="6885432" y="1645920"/>
            <a:ext cx="3657600" cy="457200"/>
          </a:xfrm>
          <a:prstGeom prst="rect">
            <a:avLst/>
          </a:prstGeom>
          <a:noFill/>
          <a:ln/>
        </p:spPr>
        <p:txBody>
          <a:bodyPr wrap="square" lIns="0" tIns="0" rIns="0" bIns="0" rtlCol="0" anchor="ctr"/>
          <a:lstStyle/>
          <a:p>
            <a:pPr indent="0" marL="0">
              <a:buNone/>
            </a:pPr>
            <a:r>
              <a:rPr lang="en-US" sz="2200" b="1" dirty="0">
                <a:solidFill>
                  <a:srgbClr val="6B007B"/>
                </a:solidFill>
                <a:latin typeface="Calibri" pitchFamily="34" charset="0"/>
                <a:ea typeface="Calibri" pitchFamily="34" charset="-122"/>
                <a:cs typeface="Calibri" pitchFamily="34" charset="-120"/>
              </a:rPr>
              <a:t>Next steps</a:t>
            </a:r>
            <a:endParaRPr lang="en-US" sz="2200" dirty="0"/>
          </a:p>
        </p:txBody>
      </p:sp>
      <p:sp>
        <p:nvSpPr>
          <p:cNvPr id="22" name="Shape 18"/>
          <p:cNvSpPr/>
          <p:nvPr/>
        </p:nvSpPr>
        <p:spPr>
          <a:xfrm>
            <a:off x="6153912" y="2377440"/>
            <a:ext cx="5440680" cy="804672"/>
          </a:xfrm>
          <a:prstGeom prst="roundRect">
            <a:avLst>
              <a:gd name="adj" fmla="val 9091"/>
            </a:avLst>
          </a:prstGeom>
          <a:solidFill>
            <a:srgbClr val="F8F0F9"/>
          </a:solidFill>
          <a:ln w="12700">
            <a:solidFill>
              <a:srgbClr val="F8F0F9"/>
            </a:solidFill>
            <a:prstDash val="solid"/>
          </a:ln>
        </p:spPr>
      </p:sp>
      <p:sp>
        <p:nvSpPr>
          <p:cNvPr id="23" name="Text 19"/>
          <p:cNvSpPr txBox="1"/>
          <p:nvPr/>
        </p:nvSpPr>
        <p:spPr>
          <a:xfrm>
            <a:off x="6382512" y="2450592"/>
            <a:ext cx="5029200" cy="301752"/>
          </a:xfrm>
          <a:prstGeom prst="rect">
            <a:avLst/>
          </a:prstGeom>
          <a:noFill/>
          <a:ln/>
        </p:spPr>
        <p:txBody>
          <a:bodyPr wrap="square" lIns="0" tIns="0" rIns="0" bIns="0" rtlCol="0" anchor="ctr"/>
          <a:lstStyle/>
          <a:p>
            <a:pPr indent="0" marL="0">
              <a:buNone/>
            </a:pPr>
            <a:r>
              <a:rPr lang="en-US" sz="1500" b="1" dirty="0">
                <a:solidFill>
                  <a:srgbClr val="B3368A"/>
                </a:solidFill>
                <a:latin typeface="Calibri" pitchFamily="34" charset="0"/>
                <a:ea typeface="Calibri" pitchFamily="34" charset="-122"/>
                <a:cs typeface="Calibri" pitchFamily="34" charset="-120"/>
              </a:rPr>
              <a:t>Add purchase dates</a:t>
            </a:r>
            <a:endParaRPr lang="en-US" sz="1500" dirty="0"/>
          </a:p>
        </p:txBody>
      </p:sp>
      <p:sp>
        <p:nvSpPr>
          <p:cNvPr id="24" name="Text 20"/>
          <p:cNvSpPr txBox="1"/>
          <p:nvPr/>
        </p:nvSpPr>
        <p:spPr>
          <a:xfrm>
            <a:off x="6382512" y="2779776"/>
            <a:ext cx="5029200" cy="3200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Track trends and measure real repeat-purchase timing</a:t>
            </a:r>
            <a:endParaRPr lang="en-US" sz="1300" dirty="0"/>
          </a:p>
        </p:txBody>
      </p:sp>
      <p:sp>
        <p:nvSpPr>
          <p:cNvPr id="25" name="Shape 21"/>
          <p:cNvSpPr/>
          <p:nvPr/>
        </p:nvSpPr>
        <p:spPr>
          <a:xfrm>
            <a:off x="6153912" y="3310128"/>
            <a:ext cx="5440680" cy="804672"/>
          </a:xfrm>
          <a:prstGeom prst="roundRect">
            <a:avLst>
              <a:gd name="adj" fmla="val 9091"/>
            </a:avLst>
          </a:prstGeom>
          <a:solidFill>
            <a:srgbClr val="F8F0F9"/>
          </a:solidFill>
          <a:ln w="12700">
            <a:solidFill>
              <a:srgbClr val="F8F0F9"/>
            </a:solidFill>
            <a:prstDash val="solid"/>
          </a:ln>
        </p:spPr>
      </p:sp>
      <p:sp>
        <p:nvSpPr>
          <p:cNvPr id="26" name="Text 22"/>
          <p:cNvSpPr txBox="1"/>
          <p:nvPr/>
        </p:nvSpPr>
        <p:spPr>
          <a:xfrm>
            <a:off x="6382512" y="3383280"/>
            <a:ext cx="5029200" cy="301752"/>
          </a:xfrm>
          <a:prstGeom prst="rect">
            <a:avLst/>
          </a:prstGeom>
          <a:noFill/>
          <a:ln/>
        </p:spPr>
        <p:txBody>
          <a:bodyPr wrap="square" lIns="0" tIns="0" rIns="0" bIns="0" rtlCol="0" anchor="ctr"/>
          <a:lstStyle/>
          <a:p>
            <a:pPr indent="0" marL="0">
              <a:buNone/>
            </a:pPr>
            <a:r>
              <a:rPr lang="en-US" sz="1500" b="1" dirty="0">
                <a:solidFill>
                  <a:srgbClr val="B3368A"/>
                </a:solidFill>
                <a:latin typeface="Calibri" pitchFamily="34" charset="0"/>
                <a:ea typeface="Calibri" pitchFamily="34" charset="-122"/>
                <a:cs typeface="Calibri" pitchFamily="34" charset="-120"/>
              </a:rPr>
              <a:t>A/B test discounts</a:t>
            </a:r>
            <a:endParaRPr lang="en-US" sz="1500" dirty="0"/>
          </a:p>
        </p:txBody>
      </p:sp>
      <p:sp>
        <p:nvSpPr>
          <p:cNvPr id="27" name="Text 23"/>
          <p:cNvSpPr txBox="1"/>
          <p:nvPr/>
        </p:nvSpPr>
        <p:spPr>
          <a:xfrm>
            <a:off x="6382512" y="3712464"/>
            <a:ext cx="5029200" cy="3200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Find the best balance between sales and margin</a:t>
            </a:r>
            <a:endParaRPr lang="en-US" sz="1300" dirty="0"/>
          </a:p>
        </p:txBody>
      </p:sp>
      <p:sp>
        <p:nvSpPr>
          <p:cNvPr id="28" name="Shape 24"/>
          <p:cNvSpPr/>
          <p:nvPr/>
        </p:nvSpPr>
        <p:spPr>
          <a:xfrm>
            <a:off x="6153912" y="4242816"/>
            <a:ext cx="5440680" cy="804672"/>
          </a:xfrm>
          <a:prstGeom prst="roundRect">
            <a:avLst>
              <a:gd name="adj" fmla="val 9091"/>
            </a:avLst>
          </a:prstGeom>
          <a:solidFill>
            <a:srgbClr val="F8F0F9"/>
          </a:solidFill>
          <a:ln w="12700">
            <a:solidFill>
              <a:srgbClr val="F8F0F9"/>
            </a:solidFill>
            <a:prstDash val="solid"/>
          </a:ln>
        </p:spPr>
      </p:sp>
      <p:sp>
        <p:nvSpPr>
          <p:cNvPr id="29" name="Text 25"/>
          <p:cNvSpPr txBox="1"/>
          <p:nvPr/>
        </p:nvSpPr>
        <p:spPr>
          <a:xfrm>
            <a:off x="6382512" y="4315968"/>
            <a:ext cx="5029200" cy="301752"/>
          </a:xfrm>
          <a:prstGeom prst="rect">
            <a:avLst/>
          </a:prstGeom>
          <a:noFill/>
          <a:ln/>
        </p:spPr>
        <p:txBody>
          <a:bodyPr wrap="square" lIns="0" tIns="0" rIns="0" bIns="0" rtlCol="0" anchor="ctr"/>
          <a:lstStyle/>
          <a:p>
            <a:pPr indent="0" marL="0">
              <a:buNone/>
            </a:pPr>
            <a:r>
              <a:rPr lang="en-US" sz="1500" b="1" dirty="0">
                <a:solidFill>
                  <a:srgbClr val="B3368A"/>
                </a:solidFill>
                <a:latin typeface="Calibri" pitchFamily="34" charset="0"/>
                <a:ea typeface="Calibri" pitchFamily="34" charset="-122"/>
                <a:cs typeface="Calibri" pitchFamily="34" charset="-120"/>
              </a:rPr>
              <a:t>Predict subscriptions</a:t>
            </a:r>
            <a:endParaRPr lang="en-US" sz="1500" dirty="0"/>
          </a:p>
        </p:txBody>
      </p:sp>
      <p:sp>
        <p:nvSpPr>
          <p:cNvPr id="30" name="Text 26"/>
          <p:cNvSpPr txBox="1"/>
          <p:nvPr/>
        </p:nvSpPr>
        <p:spPr>
          <a:xfrm>
            <a:off x="6382512" y="4645152"/>
            <a:ext cx="5029200" cy="3200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Model which repeat buyers are most likely to subscribe</a:t>
            </a:r>
            <a:endParaRPr lang="en-US" sz="1300" dirty="0"/>
          </a:p>
        </p:txBody>
      </p:sp>
      <p:sp>
        <p:nvSpPr>
          <p:cNvPr id="31" name="Shape 27"/>
          <p:cNvSpPr/>
          <p:nvPr/>
        </p:nvSpPr>
        <p:spPr>
          <a:xfrm>
            <a:off x="6153912" y="5175504"/>
            <a:ext cx="5440680" cy="804672"/>
          </a:xfrm>
          <a:prstGeom prst="roundRect">
            <a:avLst>
              <a:gd name="adj" fmla="val 9091"/>
            </a:avLst>
          </a:prstGeom>
          <a:solidFill>
            <a:srgbClr val="F8F0F9"/>
          </a:solidFill>
          <a:ln w="12700">
            <a:solidFill>
              <a:srgbClr val="F8F0F9"/>
            </a:solidFill>
            <a:prstDash val="solid"/>
          </a:ln>
        </p:spPr>
      </p:sp>
      <p:sp>
        <p:nvSpPr>
          <p:cNvPr id="32" name="Text 28"/>
          <p:cNvSpPr txBox="1"/>
          <p:nvPr/>
        </p:nvSpPr>
        <p:spPr>
          <a:xfrm>
            <a:off x="6382512" y="5248656"/>
            <a:ext cx="5029200" cy="301752"/>
          </a:xfrm>
          <a:prstGeom prst="rect">
            <a:avLst/>
          </a:prstGeom>
          <a:noFill/>
          <a:ln/>
        </p:spPr>
        <p:txBody>
          <a:bodyPr wrap="square" lIns="0" tIns="0" rIns="0" bIns="0" rtlCol="0" anchor="ctr"/>
          <a:lstStyle/>
          <a:p>
            <a:pPr indent="0" marL="0">
              <a:buNone/>
            </a:pPr>
            <a:r>
              <a:rPr lang="en-US" sz="1500" b="1" dirty="0">
                <a:solidFill>
                  <a:srgbClr val="B3368A"/>
                </a:solidFill>
                <a:latin typeface="Calibri" pitchFamily="34" charset="0"/>
                <a:ea typeface="Calibri" pitchFamily="34" charset="-122"/>
                <a:cs typeface="Calibri" pitchFamily="34" charset="-120"/>
              </a:rPr>
              <a:t>RFM segmentation</a:t>
            </a:r>
            <a:endParaRPr lang="en-US" sz="1500" dirty="0"/>
          </a:p>
        </p:txBody>
      </p:sp>
      <p:sp>
        <p:nvSpPr>
          <p:cNvPr id="33" name="Text 29"/>
          <p:cNvSpPr txBox="1"/>
          <p:nvPr/>
        </p:nvSpPr>
        <p:spPr>
          <a:xfrm>
            <a:off x="6382512" y="5577840"/>
            <a:ext cx="5029200" cy="32004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Use recency, frequency and monetary value once history exists</a:t>
            </a:r>
            <a:endParaRPr lang="en-US" sz="1300" dirty="0"/>
          </a:p>
        </p:txBody>
      </p:sp>
      <p:sp>
        <p:nvSpPr>
          <p:cNvPr id="34" name="Text 30"/>
          <p:cNvSpPr txBox="1"/>
          <p:nvPr/>
        </p:nvSpPr>
        <p:spPr>
          <a:xfrm>
            <a:off x="548640" y="6419088"/>
            <a:ext cx="5486400" cy="22860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Customer Shopping Behaviour Analysis</a:t>
            </a:r>
            <a:endParaRPr lang="en-US" sz="1000" dirty="0"/>
          </a:p>
        </p:txBody>
      </p:sp>
      <p:sp>
        <p:nvSpPr>
          <p:cNvPr id="35" name="Text 31"/>
          <p:cNvSpPr txBox="1"/>
          <p:nvPr/>
        </p:nvSpPr>
        <p:spPr>
          <a:xfrm>
            <a:off x="10728655" y="6419088"/>
            <a:ext cx="914400" cy="22860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D0B4A"/>
        </a:solidFill>
      </p:bgPr>
    </p:bg>
    <p:spTree>
      <p:nvGrpSpPr>
        <p:cNvPr id="1" name=""/>
        <p:cNvGrpSpPr/>
        <p:nvPr/>
      </p:nvGrpSpPr>
      <p:grpSpPr>
        <a:xfrm>
          <a:off x="0" y="0"/>
          <a:ext cx="0" cy="0"/>
          <a:chOff x="0" y="0"/>
          <a:chExt cx="0" cy="0"/>
        </a:xfrm>
      </p:grpSpPr>
      <p:sp>
        <p:nvSpPr>
          <p:cNvPr id="2" name="Text 0"/>
          <p:cNvSpPr txBox="1"/>
          <p:nvPr/>
        </p:nvSpPr>
        <p:spPr>
          <a:xfrm>
            <a:off x="822960" y="1463040"/>
            <a:ext cx="7315200" cy="320040"/>
          </a:xfrm>
          <a:prstGeom prst="rect">
            <a:avLst/>
          </a:prstGeom>
          <a:noFill/>
          <a:ln/>
        </p:spPr>
        <p:txBody>
          <a:bodyPr wrap="square" lIns="0" tIns="0" rIns="0" bIns="0" rtlCol="0" anchor="ctr"/>
          <a:lstStyle/>
          <a:p>
            <a:pPr indent="0" marL="0">
              <a:buNone/>
            </a:pPr>
            <a:r>
              <a:rPr lang="en-US" sz="1400" b="1" spc="300" kern="0" dirty="0">
                <a:solidFill>
                  <a:srgbClr val="E669B9"/>
                </a:solidFill>
                <a:latin typeface="Calibri" pitchFamily="34" charset="0"/>
                <a:ea typeface="Calibri" pitchFamily="34" charset="-122"/>
                <a:cs typeface="Calibri" pitchFamily="34" charset="-120"/>
              </a:rPr>
              <a:t>THE BOTTOM LINE</a:t>
            </a:r>
            <a:endParaRPr lang="en-US" sz="1400" dirty="0"/>
          </a:p>
        </p:txBody>
      </p:sp>
      <p:sp>
        <p:nvSpPr>
          <p:cNvPr id="3" name="Text 1"/>
          <p:cNvSpPr txBox="1"/>
          <p:nvPr/>
        </p:nvSpPr>
        <p:spPr>
          <a:xfrm>
            <a:off x="822960" y="1874520"/>
            <a:ext cx="9601200" cy="18288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Grow revenue with more loyal customers and bigger baskets, not deeper discounts.</a:t>
            </a:r>
            <a:endParaRPr lang="en-US" sz="4000" dirty="0"/>
          </a:p>
        </p:txBody>
      </p:sp>
      <p:sp>
        <p:nvSpPr>
          <p:cNvPr id="4" name="Text 2"/>
          <p:cNvSpPr txBox="1"/>
          <p:nvPr/>
        </p:nvSpPr>
        <p:spPr>
          <a:xfrm>
            <a:off x="822960" y="4069080"/>
            <a:ext cx="2834640" cy="685800"/>
          </a:xfrm>
          <a:prstGeom prst="rect">
            <a:avLst/>
          </a:prstGeom>
          <a:noFill/>
          <a:ln/>
        </p:spPr>
        <p:txBody>
          <a:bodyPr wrap="square" lIns="0" tIns="0" rIns="0" bIns="0" rtlCol="0" anchor="ctr"/>
          <a:lstStyle/>
          <a:p>
            <a:pPr indent="0" marL="0">
              <a:buNone/>
            </a:pPr>
            <a:r>
              <a:rPr lang="en-US" sz="3600" b="1" dirty="0">
                <a:solidFill>
                  <a:srgbClr val="E669B9"/>
                </a:solidFill>
                <a:latin typeface="Calibri" pitchFamily="34" charset="0"/>
                <a:ea typeface="Calibri" pitchFamily="34" charset="-122"/>
                <a:cs typeface="Calibri" pitchFamily="34" charset="-120"/>
              </a:rPr>
              <a:t>80%</a:t>
            </a:r>
            <a:endParaRPr lang="en-US" sz="3600" dirty="0"/>
          </a:p>
        </p:txBody>
      </p:sp>
      <p:sp>
        <p:nvSpPr>
          <p:cNvPr id="5" name="Text 3"/>
          <p:cNvSpPr txBox="1"/>
          <p:nvPr/>
        </p:nvSpPr>
        <p:spPr>
          <a:xfrm>
            <a:off x="822960" y="4754880"/>
            <a:ext cx="2834640" cy="320040"/>
          </a:xfrm>
          <a:prstGeom prst="rect">
            <a:avLst/>
          </a:prstGeom>
          <a:noFill/>
          <a:ln/>
        </p:spPr>
        <p:txBody>
          <a:bodyPr wrap="square" lIns="0" tIns="0" rIns="0" bIns="0" rtlCol="0" anchor="ctr"/>
          <a:lstStyle/>
          <a:p>
            <a:pPr indent="0" marL="0">
              <a:buNone/>
            </a:pPr>
            <a:r>
              <a:rPr lang="en-US" sz="1400" dirty="0">
                <a:solidFill>
                  <a:srgbClr val="F6C9E6"/>
                </a:solidFill>
                <a:latin typeface="Calibri" pitchFamily="34" charset="0"/>
                <a:ea typeface="Calibri" pitchFamily="34" charset="-122"/>
                <a:cs typeface="Calibri" pitchFamily="34" charset="-120"/>
              </a:rPr>
              <a:t>customers already loyal</a:t>
            </a:r>
            <a:endParaRPr lang="en-US" sz="1400" dirty="0"/>
          </a:p>
        </p:txBody>
      </p:sp>
      <p:sp>
        <p:nvSpPr>
          <p:cNvPr id="6" name="Text 4"/>
          <p:cNvSpPr txBox="1"/>
          <p:nvPr/>
        </p:nvSpPr>
        <p:spPr>
          <a:xfrm>
            <a:off x="3931920" y="4069080"/>
            <a:ext cx="2834640" cy="685800"/>
          </a:xfrm>
          <a:prstGeom prst="rect">
            <a:avLst/>
          </a:prstGeom>
          <a:noFill/>
          <a:ln/>
        </p:spPr>
        <p:txBody>
          <a:bodyPr wrap="square" lIns="0" tIns="0" rIns="0" bIns="0" rtlCol="0" anchor="ctr"/>
          <a:lstStyle/>
          <a:p>
            <a:pPr indent="0" marL="0">
              <a:buNone/>
            </a:pPr>
            <a:r>
              <a:rPr lang="en-US" sz="3600" b="1" dirty="0">
                <a:solidFill>
                  <a:srgbClr val="E669B9"/>
                </a:solidFill>
                <a:latin typeface="Calibri" pitchFamily="34" charset="0"/>
                <a:ea typeface="Calibri" pitchFamily="34" charset="-122"/>
                <a:cs typeface="Calibri" pitchFamily="34" charset="-120"/>
              </a:rPr>
              <a:t>≈ $60</a:t>
            </a:r>
            <a:endParaRPr lang="en-US" sz="3600" dirty="0"/>
          </a:p>
        </p:txBody>
      </p:sp>
      <p:sp>
        <p:nvSpPr>
          <p:cNvPr id="7" name="Text 5"/>
          <p:cNvSpPr txBox="1"/>
          <p:nvPr/>
        </p:nvSpPr>
        <p:spPr>
          <a:xfrm>
            <a:off x="3931920" y="4754880"/>
            <a:ext cx="2834640" cy="320040"/>
          </a:xfrm>
          <a:prstGeom prst="rect">
            <a:avLst/>
          </a:prstGeom>
          <a:noFill/>
          <a:ln/>
        </p:spPr>
        <p:txBody>
          <a:bodyPr wrap="square" lIns="0" tIns="0" rIns="0" bIns="0" rtlCol="0" anchor="ctr"/>
          <a:lstStyle/>
          <a:p>
            <a:pPr indent="0" marL="0">
              <a:buNone/>
            </a:pPr>
            <a:r>
              <a:rPr lang="en-US" sz="1400" dirty="0">
                <a:solidFill>
                  <a:srgbClr val="F6C9E6"/>
                </a:solidFill>
                <a:latin typeface="Calibri" pitchFamily="34" charset="0"/>
                <a:ea typeface="Calibri" pitchFamily="34" charset="-122"/>
                <a:cs typeface="Calibri" pitchFamily="34" charset="-120"/>
              </a:rPr>
              <a:t>spend per order everywhere</a:t>
            </a:r>
            <a:endParaRPr lang="en-US" sz="1400" dirty="0"/>
          </a:p>
        </p:txBody>
      </p:sp>
      <p:sp>
        <p:nvSpPr>
          <p:cNvPr id="8" name="Text 6"/>
          <p:cNvSpPr txBox="1"/>
          <p:nvPr/>
        </p:nvSpPr>
        <p:spPr>
          <a:xfrm>
            <a:off x="7040880" y="4069080"/>
            <a:ext cx="2834640" cy="685800"/>
          </a:xfrm>
          <a:prstGeom prst="rect">
            <a:avLst/>
          </a:prstGeom>
          <a:noFill/>
          <a:ln/>
        </p:spPr>
        <p:txBody>
          <a:bodyPr wrap="square" lIns="0" tIns="0" rIns="0" bIns="0" rtlCol="0" anchor="ctr"/>
          <a:lstStyle/>
          <a:p>
            <a:pPr indent="0" marL="0">
              <a:buNone/>
            </a:pPr>
            <a:r>
              <a:rPr lang="en-US" sz="3600" b="1" dirty="0">
                <a:solidFill>
                  <a:srgbClr val="E669B9"/>
                </a:solidFill>
                <a:latin typeface="Calibri" pitchFamily="34" charset="0"/>
                <a:ea typeface="Calibri" pitchFamily="34" charset="-122"/>
                <a:cs typeface="Calibri" pitchFamily="34" charset="-120"/>
              </a:rPr>
              <a:t>76.5%</a:t>
            </a:r>
            <a:endParaRPr lang="en-US" sz="3600" dirty="0"/>
          </a:p>
        </p:txBody>
      </p:sp>
      <p:sp>
        <p:nvSpPr>
          <p:cNvPr id="9" name="Text 7"/>
          <p:cNvSpPr txBox="1"/>
          <p:nvPr/>
        </p:nvSpPr>
        <p:spPr>
          <a:xfrm>
            <a:off x="7040880" y="4754880"/>
            <a:ext cx="2834640" cy="320040"/>
          </a:xfrm>
          <a:prstGeom prst="rect">
            <a:avLst/>
          </a:prstGeom>
          <a:noFill/>
          <a:ln/>
        </p:spPr>
        <p:txBody>
          <a:bodyPr wrap="square" lIns="0" tIns="0" rIns="0" bIns="0" rtlCol="0" anchor="ctr"/>
          <a:lstStyle/>
          <a:p>
            <a:pPr indent="0" marL="0">
              <a:buNone/>
            </a:pPr>
            <a:r>
              <a:rPr lang="en-US" sz="1400" dirty="0">
                <a:solidFill>
                  <a:srgbClr val="F6C9E6"/>
                </a:solidFill>
                <a:latin typeface="Calibri" pitchFamily="34" charset="0"/>
                <a:ea typeface="Calibri" pitchFamily="34" charset="-122"/>
                <a:cs typeface="Calibri" pitchFamily="34" charset="-120"/>
              </a:rPr>
              <a:t>revenue from 2 categories</a:t>
            </a:r>
            <a:endParaRPr lang="en-US" sz="1400" dirty="0"/>
          </a:p>
        </p:txBody>
      </p:sp>
      <p:sp>
        <p:nvSpPr>
          <p:cNvPr id="10" name="Text 8"/>
          <p:cNvSpPr txBox="1"/>
          <p:nvPr/>
        </p:nvSpPr>
        <p:spPr>
          <a:xfrm>
            <a:off x="822960" y="5669280"/>
            <a:ext cx="36576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Thank you</a:t>
            </a:r>
            <a:endParaRPr lang="en-US" sz="2200" dirty="0"/>
          </a:p>
        </p:txBody>
      </p:sp>
      <p:pic>
        <p:nvPicPr>
          <p:cNvPr id="11" name="Image 0" descr="preencoded.png">    </p:cNvPr>
          <p:cNvPicPr>
            <a:picLocks noChangeAspect="1"/>
          </p:cNvPicPr>
          <p:nvPr/>
        </p:nvPicPr>
        <p:blipFill>
          <a:blip r:embed="rId1"/>
          <a:stretch>
            <a:fillRect/>
          </a:stretch>
        </p:blipFill>
        <p:spPr>
          <a:xfrm>
            <a:off x="8092440" y="5733288"/>
            <a:ext cx="292608" cy="292608"/>
          </a:xfrm>
          <a:prstGeom prst="rect">
            <a:avLst/>
          </a:prstGeom>
        </p:spPr>
      </p:pic>
      <p:sp>
        <p:nvSpPr>
          <p:cNvPr id="12" name="Text 9"/>
          <p:cNvSpPr txBox="1"/>
          <p:nvPr/>
        </p:nvSpPr>
        <p:spPr>
          <a:xfrm>
            <a:off x="8503920" y="5669280"/>
            <a:ext cx="3017520" cy="411480"/>
          </a:xfrm>
          <a:prstGeom prst="rect">
            <a:avLst/>
          </a:prstGeom>
          <a:noFill/>
          <a:ln/>
        </p:spPr>
        <p:txBody>
          <a:bodyPr wrap="square" lIns="0" tIns="0" rIns="0" bIns="0" rtlCol="0" anchor="ctr"/>
          <a:lstStyle/>
          <a:p>
            <a:pPr indent="0" marL="0">
              <a:buNone/>
            </a:pPr>
            <a:r>
              <a:rPr lang="en-US" sz="1600" dirty="0">
                <a:solidFill>
                  <a:srgbClr val="F6C9E6"/>
                </a:solidFill>
                <a:latin typeface="Calibri" pitchFamily="34" charset="0"/>
                <a:ea typeface="Calibri" pitchFamily="34" charset="-122"/>
                <a:cs typeface="Calibri" pitchFamily="34" charset="-120"/>
              </a:rPr>
              <a:t>github.com/AyushUmmadi</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Shopping Behaviour Analysis</dc:title>
  <dc:subject>PptxGenJS Presentation</dc:subject>
  <dc:creator>Ayush Ummadi</dc:creator>
  <cp:lastModifiedBy>Ayush Ummadi</cp:lastModifiedBy>
  <cp:revision>1</cp:revision>
  <dcterms:created xsi:type="dcterms:W3CDTF">2026-09-17T01:21:49Z</dcterms:created>
  <dcterms:modified xsi:type="dcterms:W3CDTF">2026-09-17T01:21:49Z</dcterms:modified>
</cp:coreProperties>
</file>